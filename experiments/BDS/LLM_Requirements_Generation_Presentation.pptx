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2.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3.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charts/chart4.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charts/chart5.xml" ContentType="application/vnd.openxmlformats-officedocument.drawingml.chart+xml"/>
  <Override PartName="/ppt/charts/chart6.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Mean score</c:v>
                </c:pt>
              </c:strCache>
            </c:strRef>
          </c:tx>
          <c:spPr>
            <a:solidFill>
              <a:srgbClr val="C9A227">
                <a:alpha val="100000"/>
              </a:srgbClr>
            </a:solidFill>
            <a:effectLst/>
          </c:spPr>
          <c:invertIfNegative val="0"/>
          <c:dLbls>
            <c:numFmt formatCode="0.00" sourceLinked="0"/>
            <c:txPr>
              <a:bodyPr/>
              <a:lstStyle/>
              <a:p>
                <a:pPr>
                  <a:defRPr b="1" i="0" strike="noStrike" sz="1300" u="none">
                    <a:solidFill>
                      <a:srgbClr val="F4F6FA"/>
                    </a:solidFill>
                    <a:latin typeface="Arial"/>
                  </a:defRPr>
                </a:pPr>
              </a:p>
            </c:txPr>
            <c:showLegendKey val="0"/>
            <c:showVal val="1"/>
            <c:showCatName val="0"/>
            <c:showSerName val="0"/>
            <c:showPercent val="0"/>
            <c:showBubbleSize val="0"/>
            <c:showLeaderLines val="0"/>
          </c:dLbls>
          <c:dPt>
            <c:idx val="0"/>
            <c:invertIfNegative val="0"/>
            <c:bubble3D val="0"/>
            <c:spPr>
              <a:solidFill>
                <a:srgbClr val="C9A227"/>
              </a:solidFill>
              <a:effectLst/>
            </c:spPr>
          </c:dPt>
          <c:dPt>
            <c:idx val="1"/>
            <c:invertIfNegative val="0"/>
            <c:bubble3D val="0"/>
            <c:spPr>
              <a:solidFill>
                <a:srgbClr val="4FA8A0"/>
              </a:solidFill>
              <a:effectLst/>
            </c:spPr>
          </c:dPt>
          <c:dPt>
            <c:idx val="2"/>
            <c:invertIfNegative val="0"/>
            <c:bubble3D val="0"/>
            <c:spPr>
              <a:solidFill>
                <a:srgbClr val="6E85A8"/>
              </a:solidFill>
              <a:effectLst/>
            </c:spPr>
          </c:dPt>
          <c:cat>
            <c:multiLvlStrRef>
              <c:f>Sheet1!$A$2:$A$4</c:f>
              <c:multiLvlStrCache>
                <c:ptCount val="3"/>
                <c:lvl>
                  <c:pt idx="0">
                    <c:v>Unambiguity</c:v>
                  </c:pt>
                  <c:pt idx="1">
                    <c:v>Verifiability</c:v>
                  </c:pt>
                  <c:pt idx="2">
                    <c:v>Singularity</c:v>
                  </c:pt>
                </c:lvl>
              </c:multiLvlStrCache>
            </c:multiLvlStrRef>
          </c:cat>
          <c:val>
            <c:numRef>
              <c:f>Sheet1!$B$2:$B$4</c:f>
              <c:numCache>
                <c:formatCode>General</c:formatCode>
                <c:ptCount val="3"/>
                <c:pt idx="0">
                  <c:v>4.34</c:v>
                </c:pt>
                <c:pt idx="1">
                  <c:v>4.25</c:v>
                </c:pt>
                <c:pt idx="2">
                  <c:v>4.38</c:v>
                </c:pt>
              </c:numCache>
            </c:numRef>
          </c:val>
        </c:ser>
        <c:dLbls>
          <c:numFmt formatCode="0.00" sourceLinked="0"/>
          <c:txPr>
            <a:bodyPr/>
            <a:lstStyle/>
            <a:p>
              <a:pPr>
                <a:defRPr b="1" i="0" strike="noStrike" sz="1300" u="none">
                  <a:solidFill>
                    <a:srgbClr val="F4F6F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2B3B58"/>
            </a:solidFill>
            <a:prstDash val="solid"/>
            <a:round/>
          </a:ln>
        </c:spPr>
        <c:txPr>
          <a:bodyPr/>
          <a:lstStyle/>
          <a:p>
            <a:pPr>
              <a:defRPr sz="1250" b="0" i="0" u="none" strike="noStrike">
                <a:solidFill>
                  <a:srgbClr val="9FB0C7"/>
                </a:solidFill>
                <a:latin typeface="Calibri"/>
              </a:defRPr>
            </a:pPr>
            <a:endParaRPr lang="en-US"/>
          </a:p>
        </c:txPr>
        <c:crossAx val="2094734552"/>
        <c:crosses val="autoZero"/>
        <c:auto val="1"/>
        <c:lblAlgn val="ctr"/>
        <c:noMultiLvlLbl val="1"/>
      </c:catAx>
      <c:valAx>
        <c:axId val="2094734552"/>
        <c:scaling>
          <c:orientation val="minMax"/>
          <c:max val="5"/>
          <c:min val="0"/>
        </c:scaling>
        <c:delete val="0"/>
        <c:axPos val="l"/>
        <c:majorGridlines>
          <c:spPr>
            <a:ln w="9525" cap="flat">
              <a:solidFill>
                <a:srgbClr val="2B3B58"/>
              </a:solidFill>
              <a:prstDash val="solid"/>
              <a:round/>
            </a:ln>
          </c:spPr>
        </c:majorGridlines>
        <c:numFmt formatCode="General" sourceLinked="0"/>
        <c:majorTickMark val="out"/>
        <c:minorTickMark val="none"/>
        <c:tickLblPos val="nextTo"/>
        <c:spPr>
          <a:ln w="12700" cap="flat">
            <a:solidFill>
              <a:srgbClr val="2B3B58"/>
            </a:solidFill>
            <a:prstDash val="solid"/>
            <a:round/>
          </a:ln>
        </c:spPr>
        <c:txPr>
          <a:bodyPr/>
          <a:lstStyle/>
          <a:p>
            <a:pPr>
              <a:defRPr sz="1100" b="0" i="0" u="none" strike="noStrike">
                <a:solidFill>
                  <a:srgbClr val="9FB0C7"/>
                </a:solidFill>
                <a:latin typeface="Calibri"/>
              </a:defRPr>
            </a:pPr>
            <a:endParaRPr lang="en-US"/>
          </a:p>
        </c:txPr>
        <c:crossAx val="2094734554"/>
        <c:crosses val="autoZero"/>
        <c:crossBetween val="between"/>
        <c:majorUnit val="1"/>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o3-mini</c:v>
                </c:pt>
              </c:strCache>
            </c:strRef>
          </c:tx>
          <c:spPr>
            <a:solidFill>
              <a:srgbClr val="C9A227"/>
            </a:solidFill>
            <a:effectLst/>
          </c:spPr>
          <c:invertIfNegative val="0"/>
          <c:dLbls>
            <c:numFmt formatCode="0.00" sourceLinked="0"/>
            <c:txPr>
              <a:bodyPr/>
              <a:lstStyle/>
              <a:p>
                <a:pPr>
                  <a:defRPr b="0" i="0" strike="noStrike" sz="1150" u="none">
                    <a:solidFill>
                      <a:srgbClr val="F4F6FA"/>
                    </a:solidFill>
                    <a:latin typeface="Arial"/>
                  </a:defRPr>
                </a:pPr>
              </a:p>
            </c:txPr>
            <c:showLegendKey val="0"/>
            <c:showVal val="1"/>
            <c:showCatName val="0"/>
            <c:showSerName val="0"/>
            <c:showPercent val="0"/>
            <c:showBubbleSize val="0"/>
            <c:showLeaderLines val="0"/>
          </c:dLbls>
          <c:cat>
            <c:multiLvlStrRef>
              <c:f>Sheet1!$A$2:$A$4</c:f>
              <c:multiLvlStrCache>
                <c:ptCount val="3"/>
                <c:lvl>
                  <c:pt idx="0">
                    <c:v>Unambiguity</c:v>
                  </c:pt>
                  <c:pt idx="1">
                    <c:v>Verifiability</c:v>
                  </c:pt>
                  <c:pt idx="2">
                    <c:v>Singularity</c:v>
                  </c:pt>
                </c:lvl>
              </c:multiLvlStrCache>
            </c:multiLvlStrRef>
          </c:cat>
          <c:val>
            <c:numRef>
              <c:f>Sheet1!$B$2:$B$4</c:f>
              <c:numCache>
                <c:formatCode>General</c:formatCode>
                <c:ptCount val="3"/>
                <c:pt idx="0">
                  <c:v>4.34</c:v>
                </c:pt>
                <c:pt idx="1">
                  <c:v>4.29</c:v>
                </c:pt>
                <c:pt idx="2">
                  <c:v>4.48</c:v>
                </c:pt>
              </c:numCache>
            </c:numRef>
          </c:val>
        </c:ser>
        <c:ser>
          <c:idx val="1"/>
          <c:order val="1"/>
          <c:tx>
            <c:strRef>
              <c:f>Sheet1!$C$1</c:f>
              <c:strCache>
                <c:ptCount val="1"/>
                <c:pt idx="0">
                  <c:v>DeepSeek R1</c:v>
                </c:pt>
              </c:strCache>
            </c:strRef>
          </c:tx>
          <c:spPr>
            <a:solidFill>
              <a:srgbClr val="4FA8A0"/>
            </a:solidFill>
            <a:effectLst/>
          </c:spPr>
          <c:invertIfNegative val="0"/>
          <c:dLbls>
            <c:numFmt formatCode="0.00" sourceLinked="0"/>
            <c:txPr>
              <a:bodyPr/>
              <a:lstStyle/>
              <a:p>
                <a:pPr>
                  <a:defRPr b="0" i="0" strike="noStrike" sz="1150" u="none">
                    <a:solidFill>
                      <a:srgbClr val="F4F6FA"/>
                    </a:solidFill>
                    <a:latin typeface="Arial"/>
                  </a:defRPr>
                </a:pPr>
              </a:p>
            </c:txPr>
            <c:showLegendKey val="0"/>
            <c:showVal val="1"/>
            <c:showCatName val="0"/>
            <c:showSerName val="0"/>
            <c:showPercent val="0"/>
            <c:showBubbleSize val="0"/>
            <c:showLeaderLines val="0"/>
          </c:dLbls>
          <c:cat>
            <c:multiLvlStrRef>
              <c:f>Sheet1!$A$2:$A$4</c:f>
              <c:multiLvlStrCache>
                <c:ptCount val="3"/>
                <c:lvl>
                  <c:pt idx="0">
                    <c:v>Unambiguity</c:v>
                  </c:pt>
                  <c:pt idx="1">
                    <c:v>Verifiability</c:v>
                  </c:pt>
                  <c:pt idx="2">
                    <c:v>Singularity</c:v>
                  </c:pt>
                </c:lvl>
              </c:multiLvlStrCache>
            </c:multiLvlStrRef>
          </c:cat>
          <c:val>
            <c:numRef>
              <c:f>Sheet1!$C$2:$C$4</c:f>
              <c:numCache>
                <c:formatCode>General</c:formatCode>
                <c:ptCount val="3"/>
                <c:pt idx="0">
                  <c:v>4.35</c:v>
                </c:pt>
                <c:pt idx="1">
                  <c:v>4.21</c:v>
                </c:pt>
                <c:pt idx="2">
                  <c:v>4.28</c:v>
                </c:pt>
              </c:numCache>
            </c:numRef>
          </c:val>
        </c:ser>
        <c:dLbls>
          <c:numFmt formatCode="0.00" sourceLinked="0"/>
          <c:txPr>
            <a:bodyPr/>
            <a:lstStyle/>
            <a:p>
              <a:pPr>
                <a:defRPr b="0" i="0" strike="noStrike" sz="1150" u="none">
                  <a:solidFill>
                    <a:srgbClr val="F4F6F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2B3B58"/>
            </a:solidFill>
            <a:prstDash val="solid"/>
            <a:round/>
          </a:ln>
        </c:spPr>
        <c:txPr>
          <a:bodyPr/>
          <a:lstStyle/>
          <a:p>
            <a:pPr>
              <a:defRPr sz="1250" b="0" i="0" u="none" strike="noStrike">
                <a:solidFill>
                  <a:srgbClr val="9FB0C7"/>
                </a:solidFill>
                <a:latin typeface="Calibri"/>
              </a:defRPr>
            </a:pPr>
            <a:endParaRPr lang="en-US"/>
          </a:p>
        </c:txPr>
        <c:crossAx val="2094734552"/>
        <c:crosses val="autoZero"/>
        <c:auto val="1"/>
        <c:lblAlgn val="ctr"/>
        <c:noMultiLvlLbl val="1"/>
      </c:catAx>
      <c:valAx>
        <c:axId val="2094734552"/>
        <c:scaling>
          <c:orientation val="minMax"/>
          <c:max val="5"/>
          <c:min val="0"/>
        </c:scaling>
        <c:delete val="0"/>
        <c:axPos val="l"/>
        <c:majorGridlines>
          <c:spPr>
            <a:ln w="9525" cap="flat">
              <a:solidFill>
                <a:srgbClr val="2B3B58"/>
              </a:solidFill>
              <a:prstDash val="solid"/>
              <a:round/>
            </a:ln>
          </c:spPr>
        </c:majorGridlines>
        <c:numFmt formatCode="General" sourceLinked="0"/>
        <c:majorTickMark val="out"/>
        <c:minorTickMark val="none"/>
        <c:tickLblPos val="nextTo"/>
        <c:spPr>
          <a:ln w="12700" cap="flat">
            <a:solidFill>
              <a:srgbClr val="2B3B58"/>
            </a:solidFill>
            <a:prstDash val="solid"/>
            <a:round/>
          </a:ln>
        </c:spPr>
        <c:txPr>
          <a:bodyPr/>
          <a:lstStyle/>
          <a:p>
            <a:pPr>
              <a:defRPr sz="1100" b="0" i="0" u="none" strike="noStrike">
                <a:solidFill>
                  <a:srgbClr val="9FB0C7"/>
                </a:solidFill>
                <a:latin typeface="Calibri"/>
              </a:defRPr>
            </a:pPr>
            <a:endParaRPr lang="en-US"/>
          </a:p>
        </c:txPr>
        <c:crossAx val="2094734554"/>
        <c:crosses val="autoZero"/>
        <c:crossBetween val="between"/>
        <c:majorUnit val="1"/>
      </c:valAx>
      <c:spPr>
        <a:noFill/>
        <a:ln>
          <a:noFill/>
        </a:ln>
        <a:effectLst/>
      </c:spPr>
    </c:plotArea>
    <c:legend>
      <c:legendPos val="b"/>
      <c:overlay val="0"/>
      <c:txPr>
        <a:bodyPr/>
        <a:lstStyle/>
        <a:p>
          <a:pPr>
            <a:defRPr sz="1200">
              <a:solidFill>
                <a:srgbClr val="9FB0C7"/>
              </a:solidFil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Naive</c:v>
                </c:pt>
              </c:strCache>
            </c:strRef>
          </c:tx>
          <c:spPr>
            <a:solidFill>
              <a:srgbClr val="6E85A8"/>
            </a:solidFill>
            <a:effectLst/>
          </c:spPr>
          <c:invertIfNegative val="0"/>
          <c:dLbls>
            <c:numFmt formatCode="0.00" sourceLinked="0"/>
            <c:txPr>
              <a:bodyPr/>
              <a:lstStyle/>
              <a:p>
                <a:pPr>
                  <a:defRPr b="0" i="0" strike="noStrike" sz="1050" u="none">
                    <a:solidFill>
                      <a:srgbClr val="F4F6FA"/>
                    </a:solidFill>
                    <a:latin typeface="Arial"/>
                  </a:defRPr>
                </a:pPr>
              </a:p>
            </c:txPr>
            <c:showLegendKey val="0"/>
            <c:showVal val="1"/>
            <c:showCatName val="0"/>
            <c:showSerName val="0"/>
            <c:showPercent val="0"/>
            <c:showBubbleSize val="0"/>
            <c:showLeaderLines val="0"/>
          </c:dLbls>
          <c:cat>
            <c:multiLvlStrRef>
              <c:f>Sheet1!$A$2:$A$4</c:f>
              <c:multiLvlStrCache>
                <c:ptCount val="3"/>
                <c:lvl>
                  <c:pt idx="0">
                    <c:v>Unambiguity</c:v>
                  </c:pt>
                  <c:pt idx="1">
                    <c:v>Verifiability</c:v>
                  </c:pt>
                  <c:pt idx="2">
                    <c:v>Singularity</c:v>
                  </c:pt>
                </c:lvl>
              </c:multiLvlStrCache>
            </c:multiLvlStrRef>
          </c:cat>
          <c:val>
            <c:numRef>
              <c:f>Sheet1!$B$2:$B$4</c:f>
              <c:numCache>
                <c:formatCode>General</c:formatCode>
                <c:ptCount val="3"/>
                <c:pt idx="0">
                  <c:v>4.37</c:v>
                </c:pt>
                <c:pt idx="1">
                  <c:v>4.21</c:v>
                </c:pt>
                <c:pt idx="2">
                  <c:v>4.56</c:v>
                </c:pt>
              </c:numCache>
            </c:numRef>
          </c:val>
        </c:ser>
        <c:ser>
          <c:idx val="1"/>
          <c:order val="1"/>
          <c:tx>
            <c:strRef>
              <c:f>Sheet1!$C$1</c:f>
              <c:strCache>
                <c:ptCount val="1"/>
                <c:pt idx="0">
                  <c:v>Few-shot</c:v>
                </c:pt>
              </c:strCache>
            </c:strRef>
          </c:tx>
          <c:spPr>
            <a:solidFill>
              <a:srgbClr val="C9A227"/>
            </a:solidFill>
            <a:effectLst/>
          </c:spPr>
          <c:invertIfNegative val="0"/>
          <c:dLbls>
            <c:numFmt formatCode="0.00" sourceLinked="0"/>
            <c:txPr>
              <a:bodyPr/>
              <a:lstStyle/>
              <a:p>
                <a:pPr>
                  <a:defRPr b="0" i="0" strike="noStrike" sz="1050" u="none">
                    <a:solidFill>
                      <a:srgbClr val="F4F6FA"/>
                    </a:solidFill>
                    <a:latin typeface="Arial"/>
                  </a:defRPr>
                </a:pPr>
              </a:p>
            </c:txPr>
            <c:showLegendKey val="0"/>
            <c:showVal val="1"/>
            <c:showCatName val="0"/>
            <c:showSerName val="0"/>
            <c:showPercent val="0"/>
            <c:showBubbleSize val="0"/>
            <c:showLeaderLines val="0"/>
          </c:dLbls>
          <c:cat>
            <c:multiLvlStrRef>
              <c:f>Sheet1!$A$2:$A$4</c:f>
              <c:multiLvlStrCache>
                <c:ptCount val="3"/>
                <c:lvl>
                  <c:pt idx="0">
                    <c:v>Unambiguity</c:v>
                  </c:pt>
                  <c:pt idx="1">
                    <c:v>Verifiability</c:v>
                  </c:pt>
                  <c:pt idx="2">
                    <c:v>Singularity</c:v>
                  </c:pt>
                </c:lvl>
              </c:multiLvlStrCache>
            </c:multiLvlStrRef>
          </c:cat>
          <c:val>
            <c:numRef>
              <c:f>Sheet1!$C$2:$C$4</c:f>
              <c:numCache>
                <c:formatCode>General</c:formatCode>
                <c:ptCount val="3"/>
                <c:pt idx="0">
                  <c:v>4.43</c:v>
                </c:pt>
                <c:pt idx="1">
                  <c:v>4.29</c:v>
                </c:pt>
                <c:pt idx="2">
                  <c:v>4.77</c:v>
                </c:pt>
              </c:numCache>
            </c:numRef>
          </c:val>
        </c:ser>
        <c:ser>
          <c:idx val="2"/>
          <c:order val="2"/>
          <c:tx>
            <c:strRef>
              <c:f>Sheet1!$D$1</c:f>
              <c:strCache>
                <c:ptCount val="1"/>
                <c:pt idx="0">
                  <c:v>Expert Identity</c:v>
                </c:pt>
              </c:strCache>
            </c:strRef>
          </c:tx>
          <c:spPr>
            <a:solidFill>
              <a:srgbClr val="B0564B"/>
            </a:solidFill>
            <a:effectLst/>
          </c:spPr>
          <c:invertIfNegative val="0"/>
          <c:dLbls>
            <c:numFmt formatCode="0.00" sourceLinked="0"/>
            <c:txPr>
              <a:bodyPr/>
              <a:lstStyle/>
              <a:p>
                <a:pPr>
                  <a:defRPr b="0" i="0" strike="noStrike" sz="1050" u="none">
                    <a:solidFill>
                      <a:srgbClr val="F4F6FA"/>
                    </a:solidFill>
                    <a:latin typeface="Arial"/>
                  </a:defRPr>
                </a:pPr>
              </a:p>
            </c:txPr>
            <c:showLegendKey val="0"/>
            <c:showVal val="1"/>
            <c:showCatName val="0"/>
            <c:showSerName val="0"/>
            <c:showPercent val="0"/>
            <c:showBubbleSize val="0"/>
            <c:showLeaderLines val="0"/>
          </c:dLbls>
          <c:cat>
            <c:multiLvlStrRef>
              <c:f>Sheet1!$A$2:$A$4</c:f>
              <c:multiLvlStrCache>
                <c:ptCount val="3"/>
                <c:lvl>
                  <c:pt idx="0">
                    <c:v>Unambiguity</c:v>
                  </c:pt>
                  <c:pt idx="1">
                    <c:v>Verifiability</c:v>
                  </c:pt>
                  <c:pt idx="2">
                    <c:v>Singularity</c:v>
                  </c:pt>
                </c:lvl>
              </c:multiLvlStrCache>
            </c:multiLvlStrRef>
          </c:cat>
          <c:val>
            <c:numRef>
              <c:f>Sheet1!$D$2:$D$4</c:f>
              <c:numCache>
                <c:formatCode>General</c:formatCode>
                <c:ptCount val="3"/>
                <c:pt idx="0">
                  <c:v>4.21</c:v>
                </c:pt>
                <c:pt idx="1">
                  <c:v>4.36</c:v>
                </c:pt>
                <c:pt idx="2">
                  <c:v>4.11</c:v>
                </c:pt>
              </c:numCache>
            </c:numRef>
          </c:val>
        </c:ser>
        <c:dLbls>
          <c:numFmt formatCode="0.00" sourceLinked="0"/>
          <c:txPr>
            <a:bodyPr/>
            <a:lstStyle/>
            <a:p>
              <a:pPr>
                <a:defRPr b="0" i="0" strike="noStrike" sz="1050" u="none">
                  <a:solidFill>
                    <a:srgbClr val="F4F6F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2B3B58"/>
            </a:solidFill>
            <a:prstDash val="solid"/>
            <a:round/>
          </a:ln>
        </c:spPr>
        <c:txPr>
          <a:bodyPr/>
          <a:lstStyle/>
          <a:p>
            <a:pPr>
              <a:defRPr sz="1250" b="0" i="0" u="none" strike="noStrike">
                <a:solidFill>
                  <a:srgbClr val="9FB0C7"/>
                </a:solidFill>
                <a:latin typeface="Calibri"/>
              </a:defRPr>
            </a:pPr>
            <a:endParaRPr lang="en-US"/>
          </a:p>
        </c:txPr>
        <c:crossAx val="2094734552"/>
        <c:crosses val="autoZero"/>
        <c:auto val="1"/>
        <c:lblAlgn val="ctr"/>
        <c:noMultiLvlLbl val="1"/>
      </c:catAx>
      <c:valAx>
        <c:axId val="2094734552"/>
        <c:scaling>
          <c:orientation val="minMax"/>
          <c:max val="5"/>
          <c:min val="0"/>
        </c:scaling>
        <c:delete val="0"/>
        <c:axPos val="l"/>
        <c:majorGridlines>
          <c:spPr>
            <a:ln w="9525" cap="flat">
              <a:solidFill>
                <a:srgbClr val="2B3B58"/>
              </a:solidFill>
              <a:prstDash val="solid"/>
              <a:round/>
            </a:ln>
          </c:spPr>
        </c:majorGridlines>
        <c:numFmt formatCode="General" sourceLinked="0"/>
        <c:majorTickMark val="out"/>
        <c:minorTickMark val="none"/>
        <c:tickLblPos val="nextTo"/>
        <c:spPr>
          <a:ln w="12700" cap="flat">
            <a:solidFill>
              <a:srgbClr val="2B3B58"/>
            </a:solidFill>
            <a:prstDash val="solid"/>
            <a:round/>
          </a:ln>
        </c:spPr>
        <c:txPr>
          <a:bodyPr/>
          <a:lstStyle/>
          <a:p>
            <a:pPr>
              <a:defRPr sz="1100" b="0" i="0" u="none" strike="noStrike">
                <a:solidFill>
                  <a:srgbClr val="9FB0C7"/>
                </a:solidFill>
                <a:latin typeface="Calibri"/>
              </a:defRPr>
            </a:pPr>
            <a:endParaRPr lang="en-US"/>
          </a:p>
        </c:txPr>
        <c:crossAx val="2094734554"/>
        <c:crosses val="autoZero"/>
        <c:crossBetween val="between"/>
        <c:majorUnit val="1"/>
      </c:valAx>
      <c:spPr>
        <a:noFill/>
        <a:ln>
          <a:noFill/>
        </a:ln>
        <a:effectLst/>
      </c:spPr>
    </c:plotArea>
    <c:legend>
      <c:legendPos val="b"/>
      <c:overlay val="0"/>
      <c:txPr>
        <a:bodyPr/>
        <a:lstStyle/>
        <a:p>
          <a:pPr>
            <a:defRPr sz="1150">
              <a:solidFill>
                <a:srgbClr val="9FB0C7"/>
              </a:solidFill>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Naive</c:v>
                </c:pt>
              </c:strCache>
            </c:strRef>
          </c:tx>
          <c:spPr>
            <a:solidFill>
              <a:srgbClr val="6E85A8"/>
            </a:solidFill>
            <a:effectLst/>
          </c:spPr>
          <c:invertIfNegative val="0"/>
          <c:dLbls>
            <c:numFmt formatCode="0.00" sourceLinked="0"/>
            <c:txPr>
              <a:bodyPr/>
              <a:lstStyle/>
              <a:p>
                <a:pPr>
                  <a:defRPr b="0" i="0" strike="noStrike" sz="1050" u="none">
                    <a:solidFill>
                      <a:srgbClr val="F4F6FA"/>
                    </a:solidFill>
                    <a:latin typeface="Arial"/>
                  </a:defRPr>
                </a:pPr>
              </a:p>
            </c:txPr>
            <c:showLegendKey val="0"/>
            <c:showVal val="1"/>
            <c:showCatName val="0"/>
            <c:showSerName val="0"/>
            <c:showPercent val="0"/>
            <c:showBubbleSize val="0"/>
            <c:showLeaderLines val="0"/>
          </c:dLbls>
          <c:cat>
            <c:multiLvlStrRef>
              <c:f>Sheet1!$A$2:$A$4</c:f>
              <c:multiLvlStrCache>
                <c:ptCount val="3"/>
                <c:lvl>
                  <c:pt idx="0">
                    <c:v>Unambiguity</c:v>
                  </c:pt>
                  <c:pt idx="1">
                    <c:v>Verifiability</c:v>
                  </c:pt>
                  <c:pt idx="2">
                    <c:v>Singularity</c:v>
                  </c:pt>
                </c:lvl>
              </c:multiLvlStrCache>
            </c:multiLvlStrRef>
          </c:cat>
          <c:val>
            <c:numRef>
              <c:f>Sheet1!$B$2:$B$4</c:f>
              <c:numCache>
                <c:formatCode>General</c:formatCode>
                <c:ptCount val="3"/>
                <c:pt idx="0">
                  <c:v>4.31</c:v>
                </c:pt>
                <c:pt idx="1">
                  <c:v>4.18</c:v>
                </c:pt>
                <c:pt idx="2">
                  <c:v>4.2</c:v>
                </c:pt>
              </c:numCache>
            </c:numRef>
          </c:val>
        </c:ser>
        <c:ser>
          <c:idx val="1"/>
          <c:order val="1"/>
          <c:tx>
            <c:strRef>
              <c:f>Sheet1!$C$1</c:f>
              <c:strCache>
                <c:ptCount val="1"/>
                <c:pt idx="0">
                  <c:v>Few-shot</c:v>
                </c:pt>
              </c:strCache>
            </c:strRef>
          </c:tx>
          <c:spPr>
            <a:solidFill>
              <a:srgbClr val="C9A227"/>
            </a:solidFill>
            <a:effectLst/>
          </c:spPr>
          <c:invertIfNegative val="0"/>
          <c:dLbls>
            <c:numFmt formatCode="0.00" sourceLinked="0"/>
            <c:txPr>
              <a:bodyPr/>
              <a:lstStyle/>
              <a:p>
                <a:pPr>
                  <a:defRPr b="0" i="0" strike="noStrike" sz="1050" u="none">
                    <a:solidFill>
                      <a:srgbClr val="F4F6FA"/>
                    </a:solidFill>
                    <a:latin typeface="Arial"/>
                  </a:defRPr>
                </a:pPr>
              </a:p>
            </c:txPr>
            <c:showLegendKey val="0"/>
            <c:showVal val="1"/>
            <c:showCatName val="0"/>
            <c:showSerName val="0"/>
            <c:showPercent val="0"/>
            <c:showBubbleSize val="0"/>
            <c:showLeaderLines val="0"/>
          </c:dLbls>
          <c:cat>
            <c:multiLvlStrRef>
              <c:f>Sheet1!$A$2:$A$4</c:f>
              <c:multiLvlStrCache>
                <c:ptCount val="3"/>
                <c:lvl>
                  <c:pt idx="0">
                    <c:v>Unambiguity</c:v>
                  </c:pt>
                  <c:pt idx="1">
                    <c:v>Verifiability</c:v>
                  </c:pt>
                  <c:pt idx="2">
                    <c:v>Singularity</c:v>
                  </c:pt>
                </c:lvl>
              </c:multiLvlStrCache>
            </c:multiLvlStrRef>
          </c:cat>
          <c:val>
            <c:numRef>
              <c:f>Sheet1!$C$2:$C$4</c:f>
              <c:numCache>
                <c:formatCode>General</c:formatCode>
                <c:ptCount val="3"/>
                <c:pt idx="0">
                  <c:v>4.33</c:v>
                </c:pt>
                <c:pt idx="1">
                  <c:v>4.07</c:v>
                </c:pt>
                <c:pt idx="2">
                  <c:v>4.69</c:v>
                </c:pt>
              </c:numCache>
            </c:numRef>
          </c:val>
        </c:ser>
        <c:ser>
          <c:idx val="2"/>
          <c:order val="2"/>
          <c:tx>
            <c:strRef>
              <c:f>Sheet1!$D$1</c:f>
              <c:strCache>
                <c:ptCount val="1"/>
                <c:pt idx="0">
                  <c:v>Expert Identity</c:v>
                </c:pt>
              </c:strCache>
            </c:strRef>
          </c:tx>
          <c:spPr>
            <a:solidFill>
              <a:srgbClr val="B0564B"/>
            </a:solidFill>
            <a:effectLst/>
          </c:spPr>
          <c:invertIfNegative val="0"/>
          <c:dLbls>
            <c:numFmt formatCode="0.00" sourceLinked="0"/>
            <c:txPr>
              <a:bodyPr/>
              <a:lstStyle/>
              <a:p>
                <a:pPr>
                  <a:defRPr b="0" i="0" strike="noStrike" sz="1050" u="none">
                    <a:solidFill>
                      <a:srgbClr val="F4F6FA"/>
                    </a:solidFill>
                    <a:latin typeface="Arial"/>
                  </a:defRPr>
                </a:pPr>
              </a:p>
            </c:txPr>
            <c:showLegendKey val="0"/>
            <c:showVal val="1"/>
            <c:showCatName val="0"/>
            <c:showSerName val="0"/>
            <c:showPercent val="0"/>
            <c:showBubbleSize val="0"/>
            <c:showLeaderLines val="0"/>
          </c:dLbls>
          <c:cat>
            <c:multiLvlStrRef>
              <c:f>Sheet1!$A$2:$A$4</c:f>
              <c:multiLvlStrCache>
                <c:ptCount val="3"/>
                <c:lvl>
                  <c:pt idx="0">
                    <c:v>Unambiguity</c:v>
                  </c:pt>
                  <c:pt idx="1">
                    <c:v>Verifiability</c:v>
                  </c:pt>
                  <c:pt idx="2">
                    <c:v>Singularity</c:v>
                  </c:pt>
                </c:lvl>
              </c:multiLvlStrCache>
            </c:multiLvlStrRef>
          </c:cat>
          <c:val>
            <c:numRef>
              <c:f>Sheet1!$D$2:$D$4</c:f>
              <c:numCache>
                <c:formatCode>General</c:formatCode>
                <c:ptCount val="3"/>
                <c:pt idx="0">
                  <c:v>4.42</c:v>
                </c:pt>
                <c:pt idx="1">
                  <c:v>4.37</c:v>
                </c:pt>
                <c:pt idx="2">
                  <c:v>3.95</c:v>
                </c:pt>
              </c:numCache>
            </c:numRef>
          </c:val>
        </c:ser>
        <c:dLbls>
          <c:numFmt formatCode="0.00" sourceLinked="0"/>
          <c:txPr>
            <a:bodyPr/>
            <a:lstStyle/>
            <a:p>
              <a:pPr>
                <a:defRPr b="0" i="0" strike="noStrike" sz="1050" u="none">
                  <a:solidFill>
                    <a:srgbClr val="F4F6F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2B3B58"/>
            </a:solidFill>
            <a:prstDash val="solid"/>
            <a:round/>
          </a:ln>
        </c:spPr>
        <c:txPr>
          <a:bodyPr/>
          <a:lstStyle/>
          <a:p>
            <a:pPr>
              <a:defRPr sz="1250" b="0" i="0" u="none" strike="noStrike">
                <a:solidFill>
                  <a:srgbClr val="9FB0C7"/>
                </a:solidFill>
                <a:latin typeface="Calibri"/>
              </a:defRPr>
            </a:pPr>
            <a:endParaRPr lang="en-US"/>
          </a:p>
        </c:txPr>
        <c:crossAx val="2094734552"/>
        <c:crosses val="autoZero"/>
        <c:auto val="1"/>
        <c:lblAlgn val="ctr"/>
        <c:noMultiLvlLbl val="1"/>
      </c:catAx>
      <c:valAx>
        <c:axId val="2094734552"/>
        <c:scaling>
          <c:orientation val="minMax"/>
          <c:max val="5"/>
          <c:min val="0"/>
        </c:scaling>
        <c:delete val="0"/>
        <c:axPos val="l"/>
        <c:majorGridlines>
          <c:spPr>
            <a:ln w="9525" cap="flat">
              <a:solidFill>
                <a:srgbClr val="2B3B58"/>
              </a:solidFill>
              <a:prstDash val="solid"/>
              <a:round/>
            </a:ln>
          </c:spPr>
        </c:majorGridlines>
        <c:numFmt formatCode="General" sourceLinked="0"/>
        <c:majorTickMark val="out"/>
        <c:minorTickMark val="none"/>
        <c:tickLblPos val="nextTo"/>
        <c:spPr>
          <a:ln w="12700" cap="flat">
            <a:solidFill>
              <a:srgbClr val="2B3B58"/>
            </a:solidFill>
            <a:prstDash val="solid"/>
            <a:round/>
          </a:ln>
        </c:spPr>
        <c:txPr>
          <a:bodyPr/>
          <a:lstStyle/>
          <a:p>
            <a:pPr>
              <a:defRPr sz="1100" b="0" i="0" u="none" strike="noStrike">
                <a:solidFill>
                  <a:srgbClr val="9FB0C7"/>
                </a:solidFill>
                <a:latin typeface="Calibri"/>
              </a:defRPr>
            </a:pPr>
            <a:endParaRPr lang="en-US"/>
          </a:p>
        </c:txPr>
        <c:crossAx val="2094734554"/>
        <c:crosses val="autoZero"/>
        <c:crossBetween val="between"/>
        <c:majorUnit val="1"/>
      </c:valAx>
      <c:spPr>
        <a:noFill/>
        <a:ln>
          <a:noFill/>
        </a:ln>
        <a:effectLst/>
      </c:spPr>
    </c:plotArea>
    <c:legend>
      <c:legendPos val="b"/>
      <c:overlay val="0"/>
      <c:txPr>
        <a:bodyPr/>
        <a:lstStyle/>
        <a:p>
          <a:pPr>
            <a:defRPr sz="1150">
              <a:solidFill>
                <a:srgbClr val="9FB0C7"/>
              </a:solidFill>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9FB0C7"/>
                </a:solidFill>
                <a:latin typeface="Arial"/>
              </a:defRPr>
            </a:pPr>
            <a:r>
              <a:rPr sz="1200" b="0" i="0" u="none" strike="noStrike">
                <a:solidFill>
                  <a:srgbClr val="9FB0C7"/>
                </a:solidFill>
                <a:latin typeface="Arial"/>
              </a:rPr>
              <a:t>Human–LLM Correlation (ρ, all p &lt; 0.05)</a:t>
            </a:r>
          </a:p>
        </c:rich>
      </c:tx>
      <c:layout/>
      <c:overlay val="0"/>
    </c:title>
    <c:autoTitleDeleted val="0"/>
    <c:plotArea>
      <c:layout/>
      <c:barChart>
        <c:barDir val="col"/>
        <c:grouping val="clustered"/>
        <c:varyColors val="0"/>
        <c:ser>
          <c:idx val="0"/>
          <c:order val="0"/>
          <c:tx>
            <c:strRef>
              <c:f>Sheet1!$B$1</c:f>
              <c:strCache>
                <c:ptCount val="1"/>
                <c:pt idx="0">
                  <c:v>Spearman ρ</c:v>
                </c:pt>
              </c:strCache>
            </c:strRef>
          </c:tx>
          <c:spPr>
            <a:solidFill>
              <a:srgbClr val="4FA8A0"/>
            </a:solidFill>
            <a:effectLst/>
          </c:spPr>
          <c:invertIfNegative val="0"/>
          <c:dLbls>
            <c:numFmt formatCode="0.000" sourceLinked="0"/>
            <c:txPr>
              <a:bodyPr/>
              <a:lstStyle/>
              <a:p>
                <a:pPr>
                  <a:defRPr b="0" i="0" strike="noStrike" sz="1100" u="none">
                    <a:solidFill>
                      <a:srgbClr val="F4F6FA"/>
                    </a:solidFill>
                    <a:latin typeface="Arial"/>
                  </a:defRPr>
                </a:pPr>
              </a:p>
            </c:txPr>
            <c:showLegendKey val="0"/>
            <c:showVal val="1"/>
            <c:showCatName val="0"/>
            <c:showSerName val="0"/>
            <c:showPercent val="0"/>
            <c:showBubbleSize val="0"/>
            <c:showLeaderLines val="0"/>
          </c:dLbls>
          <c:cat>
            <c:multiLvlStrRef>
              <c:f>Sheet1!$A$2:$A$4</c:f>
              <c:multiLvlStrCache>
                <c:ptCount val="3"/>
                <c:lvl>
                  <c:pt idx="0">
                    <c:v>Unambiguity</c:v>
                  </c:pt>
                  <c:pt idx="1">
                    <c:v>Verifiability</c:v>
                  </c:pt>
                  <c:pt idx="2">
                    <c:v>Singularity</c:v>
                  </c:pt>
                </c:lvl>
              </c:multiLvlStrCache>
            </c:multiLvlStrRef>
          </c:cat>
          <c:val>
            <c:numRef>
              <c:f>Sheet1!$B$2:$B$4</c:f>
              <c:numCache>
                <c:formatCode>General</c:formatCode>
                <c:ptCount val="3"/>
                <c:pt idx="0">
                  <c:v>0.326</c:v>
                </c:pt>
                <c:pt idx="1">
                  <c:v>0.424</c:v>
                </c:pt>
                <c:pt idx="2">
                  <c:v>0.488</c:v>
                </c:pt>
              </c:numCache>
            </c:numRef>
          </c:val>
        </c:ser>
        <c:dLbls>
          <c:numFmt formatCode="0.000" sourceLinked="0"/>
          <c:txPr>
            <a:bodyPr/>
            <a:lstStyle/>
            <a:p>
              <a:pPr>
                <a:defRPr b="0" i="0" strike="noStrike" sz="1100" u="none">
                  <a:solidFill>
                    <a:srgbClr val="F4F6F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2B3B58"/>
            </a:solidFill>
            <a:prstDash val="solid"/>
            <a:round/>
          </a:ln>
        </c:spPr>
        <c:txPr>
          <a:bodyPr/>
          <a:lstStyle/>
          <a:p>
            <a:pPr>
              <a:defRPr sz="1100" b="0" i="0" u="none" strike="noStrike">
                <a:solidFill>
                  <a:srgbClr val="9FB0C7"/>
                </a:solidFill>
                <a:latin typeface="Calibri"/>
              </a:defRPr>
            </a:pPr>
            <a:endParaRPr lang="en-US"/>
          </a:p>
        </c:txPr>
        <c:crossAx val="2094734552"/>
        <c:crosses val="autoZero"/>
        <c:auto val="1"/>
        <c:lblAlgn val="ctr"/>
        <c:noMultiLvlLbl val="1"/>
      </c:catAx>
      <c:valAx>
        <c:axId val="2094734552"/>
        <c:scaling>
          <c:orientation val="minMax"/>
          <c:max val="0.6"/>
          <c:min val="0"/>
        </c:scaling>
        <c:delete val="0"/>
        <c:axPos val="l"/>
        <c:majorGridlines>
          <c:spPr>
            <a:ln w="9525" cap="flat">
              <a:solidFill>
                <a:srgbClr val="2B3B58"/>
              </a:solidFill>
              <a:prstDash val="solid"/>
              <a:round/>
            </a:ln>
          </c:spPr>
        </c:majorGridlines>
        <c:numFmt formatCode="General" sourceLinked="0"/>
        <c:majorTickMark val="out"/>
        <c:minorTickMark val="none"/>
        <c:tickLblPos val="nextTo"/>
        <c:spPr>
          <a:ln w="12700" cap="flat">
            <a:solidFill>
              <a:srgbClr val="2B3B58"/>
            </a:solidFill>
            <a:prstDash val="solid"/>
            <a:round/>
          </a:ln>
        </c:spPr>
        <c:txPr>
          <a:bodyPr/>
          <a:lstStyle/>
          <a:p>
            <a:pPr>
              <a:defRPr sz="1000" b="0" i="0" u="none" strike="noStrike">
                <a:solidFill>
                  <a:srgbClr val="9FB0C7"/>
                </a:solidFill>
                <a:latin typeface="Calibri"/>
              </a:defRPr>
            </a:pPr>
            <a:endParaRPr lang="en-US"/>
          </a:p>
        </c:txPr>
        <c:crossAx val="2094734554"/>
        <c:crosses val="autoZero"/>
        <c:crossBetween val="between"/>
        <c:majorUnit val="0.2"/>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9FB0C7"/>
                </a:solidFill>
                <a:latin typeface="Arial"/>
              </a:defRPr>
            </a:pPr>
            <a:r>
              <a:rPr sz="1200" b="0" i="0" u="none" strike="noStrike">
                <a:solidFill>
                  <a:srgbClr val="9FB0C7"/>
                </a:solidFill>
                <a:latin typeface="Arial"/>
              </a:rPr>
              <a:t>Within-±1-point Agreement (%)</a:t>
            </a:r>
          </a:p>
        </c:rich>
      </c:tx>
      <c:layout/>
      <c:overlay val="0"/>
    </c:title>
    <c:autoTitleDeleted val="0"/>
    <c:plotArea>
      <c:layout/>
      <c:barChart>
        <c:barDir val="col"/>
        <c:grouping val="clustered"/>
        <c:varyColors val="0"/>
        <c:ser>
          <c:idx val="0"/>
          <c:order val="0"/>
          <c:tx>
            <c:strRef>
              <c:f>Sheet1!$B$1</c:f>
              <c:strCache>
                <c:ptCount val="1"/>
                <c:pt idx="0">
                  <c:v>Within ±1 agreement</c:v>
                </c:pt>
              </c:strCache>
            </c:strRef>
          </c:tx>
          <c:spPr>
            <a:solidFill>
              <a:srgbClr val="C9A227"/>
            </a:solidFill>
            <a:effectLst/>
          </c:spPr>
          <c:invertIfNegative val="0"/>
          <c:dLbls>
            <c:numFmt formatCode="0&quot;%&quot;" sourceLinked="0"/>
            <c:txPr>
              <a:bodyPr/>
              <a:lstStyle/>
              <a:p>
                <a:pPr>
                  <a:defRPr b="0" i="0" strike="noStrike" sz="1100" u="none">
                    <a:solidFill>
                      <a:srgbClr val="F4F6FA"/>
                    </a:solidFill>
                    <a:latin typeface="Arial"/>
                  </a:defRPr>
                </a:pPr>
              </a:p>
            </c:txPr>
            <c:showLegendKey val="0"/>
            <c:showVal val="1"/>
            <c:showCatName val="0"/>
            <c:showSerName val="0"/>
            <c:showPercent val="0"/>
            <c:showBubbleSize val="0"/>
            <c:showLeaderLines val="0"/>
          </c:dLbls>
          <c:cat>
            <c:multiLvlStrRef>
              <c:f>Sheet1!$A$2:$A$4</c:f>
              <c:multiLvlStrCache>
                <c:ptCount val="3"/>
                <c:lvl>
                  <c:pt idx="0">
                    <c:v>Unambiguity</c:v>
                  </c:pt>
                  <c:pt idx="1">
                    <c:v>Verifiability</c:v>
                  </c:pt>
                  <c:pt idx="2">
                    <c:v>Singularity</c:v>
                  </c:pt>
                </c:lvl>
              </c:multiLvlStrCache>
            </c:multiLvlStrRef>
          </c:cat>
          <c:val>
            <c:numRef>
              <c:f>Sheet1!$B$2:$B$4</c:f>
              <c:numCache>
                <c:formatCode>General</c:formatCode>
                <c:ptCount val="3"/>
                <c:pt idx="0">
                  <c:v>84</c:v>
                </c:pt>
                <c:pt idx="1">
                  <c:v>96</c:v>
                </c:pt>
                <c:pt idx="2">
                  <c:v>72</c:v>
                </c:pt>
              </c:numCache>
            </c:numRef>
          </c:val>
        </c:ser>
        <c:dLbls>
          <c:numFmt formatCode="0&quot;%&quot;" sourceLinked="0"/>
          <c:txPr>
            <a:bodyPr/>
            <a:lstStyle/>
            <a:p>
              <a:pPr>
                <a:defRPr b="0" i="0" strike="noStrike" sz="1100" u="none">
                  <a:solidFill>
                    <a:srgbClr val="F4F6F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2B3B58"/>
            </a:solidFill>
            <a:prstDash val="solid"/>
            <a:round/>
          </a:ln>
        </c:spPr>
        <c:txPr>
          <a:bodyPr/>
          <a:lstStyle/>
          <a:p>
            <a:pPr>
              <a:defRPr sz="1100" b="0" i="0" u="none" strike="noStrike">
                <a:solidFill>
                  <a:srgbClr val="9FB0C7"/>
                </a:solidFill>
                <a:latin typeface="Calibri"/>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9525" cap="flat">
              <a:solidFill>
                <a:srgbClr val="2B3B58"/>
              </a:solidFill>
              <a:prstDash val="solid"/>
              <a:round/>
            </a:ln>
          </c:spPr>
        </c:majorGridlines>
        <c:numFmt formatCode="General" sourceLinked="0"/>
        <c:majorTickMark val="out"/>
        <c:minorTickMark val="none"/>
        <c:tickLblPos val="nextTo"/>
        <c:spPr>
          <a:ln w="12700" cap="flat">
            <a:solidFill>
              <a:srgbClr val="2B3B58"/>
            </a:solidFill>
            <a:prstDash val="solid"/>
            <a:round/>
          </a:ln>
        </c:spPr>
        <c:txPr>
          <a:bodyPr/>
          <a:lstStyle/>
          <a:p>
            <a:pPr>
              <a:defRPr sz="1000" b="0" i="0" u="none" strike="noStrike">
                <a:solidFill>
                  <a:srgbClr val="9FB0C7"/>
                </a:solidFill>
                <a:latin typeface="Calibri"/>
              </a:defRPr>
            </a:pPr>
            <a:endParaRPr lang="en-US"/>
          </a:p>
        </c:txPr>
        <c:crossAx val="2094734554"/>
        <c:crosses val="autoZero"/>
        <c:crossBetween val="between"/>
        <c:majorUnit val="25"/>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audience and introduce the paper: an empirical study evaluating how well two LLMs (o3-mini and DeepSeek R1) transform terse GitHub issue titles into well-formed software requirements, and how prompt engineering shapes the quality of that output. Mention the venue - Requirements Engineering, 2026 - and the three authors' institutions.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stage: RE is central to software success but is manual and error-prone, especially in OSS settings where requirements surface informally in issue trackers. LLMs are a natural fit but their role in this minimal-context, OSS setting is underexplored. The right-hand card previews the core input format the whole study revolves around: a single terse issue title.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gap precisely: earlier work needs richer inputs than a bare issue title, and nobody has systematically crossed LLM choice with prompting strategy for this task. Walk through the five contributions on the right as the paper's concrete response to that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the three research questions verbatim from the paper. RQ1 is about raw effectiveness of the two LLMs, RQ2 isolates the effect of prompting strategy, and RQ3 is the qualitative complement - what patterns of strength and weakness show up in the judge's rationale and the requirement text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sampling: five repositories chosen to span ML, mobile/web, games, and systems domains, so linguistic variability in issue titles is well represented. Only titles are used as input - not the issue body or comments - deliberately modelling a minimal-context OSS scenario. The table on the right gives a flavor of the raw input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through the three-stage pipeline from Figure 1 of the paper: extraction of 150 issue titles, generation of 900 candidate requirements (150 titles x 2 LLMs x 3 prompt styles), and evaluation by the Qwen QwQ-32B judge on three ISO 29148 attributes. This is the methodological backbone for every result that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two generation models and the three prompt styles - Naive, Few-shot, and Expert Identity, each defined in the paper with an exact system prompt. The matrix on the right makes the full factorial design concrete: every one of the 150 titles is run through all six LLM x prompt combinations, yielding 900 total requirements.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 ISO 29148's nine requirement characteristics, only three - Unambiguity, Verifiability and Singularity - can be reliably assessed on an individual requirement in isolation, without domain or stakeholder context. That is exactly what an OSS issue title provides, so the study focuses exclusively on these three, each scored on a 1-5 Likert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LLM-as-a-judge pipeline: a generated requirement plus a standardized ISO-based judging prompt is sent to Qwen QwQ-32B, an evaluator model architecturally distinct from both o3-mini and DeepSeek R1 to reduce self-enhancement bias. It returns a structured JSON object with three 1-5 scores and a rationale. Cite the supporting literature on LLM-judge reliability.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Ground the abstract pipeline in a concrete example from the paper's introduction: a terse PyTorch issue title expands, even under a simple prompt, into a structured requirement statement with clearly defined scope and behavior - the kind of transformation the whole study measures and scores.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Across all 900 generated requirements, mean scores exceed 4.25 out of 5 on every attribute, and medians sit at 4 or 5. This establishes that LLMs can generally produce requirements perceived as largely unambiguous, verifiable and singular. But note the caveat on the right: standard deviations, especially for Singularity (1.15), show real variability - quality is not guaranteed on every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RQ1 result: both LLMs perform comparably, with median scores of 4 for Unambiguity and Verifiability and 5 for Singularity. The one statistically significant difference is Singularity, where o3-mini holds a modest but real edge (p=0.023). No significant differences appear for Unambiguity or Verifiability. Emphasize that the choice of LLM is only one factor among several.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o3-mini, prompt style significantly affects Unambiguity and Singularity. Few-shot is the standout: highest median for Unambiguity and highest mean for Singularity. Expert Identity, despite its intent to leverage simulated domain knowledge, underperforms - particularly hurting Singularity, the clearest visual trade-off in the boxplot from the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DeepSeek R1, the pattern differs subtly: Expert Identity does significantly raise Verifiability by adding detail, but at the cost of the lowest Singularity score and highest variability. Few-shot remains the strongest performer for Singularity. Together with the previous slide, this establishes the paper's central trade-off finding, and shows it is model-dependent in exactly which attribute benefits.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Summarize the thematic analysis of the judge's rationales and the requirement text: LLMs write syntactically sound requirements, but their quality hinges on how clear the input title was. o3-mini tends toward more focused output. The central qualitative story, though, is the detail-versus-focus trade-off we'll see illustrated concretely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this illustrative example from the paper (Example 4): the Expert-Identity-prompted DeepSeek R1 requirement scores well on Unambiguity and Verifiability but poorly on Singularity, because it bundles detection, fallback, testing, documentation and configuration into a single statement. This concretely shows the systemic detail-versus-focus trade-off quantified on the RQ2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correlation heatmap shows Unambiguity and Verifiability move together strongly (rho=0.69) - clarity tends to enable verification. Singularity, though, correlates only weakly with the other two attributes, reinforcing that it captures a genuinely separate quality dimension - exactly the one prompt engineering tends to trade off against the other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validate the judge, the authors drew a stratified sample of 50 requirements across all LLM x prompt x score-bin combinations and had five blinded, calibrated human evaluators score them. Despite low inter-rater agreement among the humans themselves (Krippendorff's alpha 0.15-0.39), Spearman correlations between human and LLM-judge scores are significant for all three attributes, and within-one-point agreement reaches 72-96%. This supports the LLM judge as a practically useful, if imperfect, proxy for human judgment.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results discussion honestly: the study is limited to two LLMs, three prompt styles, and issue-title-only input from five repositories, and even human evaluators disagreed substantially among themselves. Future work should broaden the LLM and prompting space and integrate domain knowledge. But the core conclusion stands: LLMs are promising, prompt-sensitive assistants for drafting initial RE artifacts - not autonomous replacements for human requirements engineers.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audience and open the floor. Be ready to discuss: generalizability to other LLM families, why only intrinsic (not contextual) ISO attributes were assessed, and the practical implications of the detail-versus-singularity trade-off for teams adopting LLM-assisted requirements drafting.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chart" Target="/ppt/charts/chart6.xml"/><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321"/>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D1321"/>
          </a:solidFill>
          <a:ln/>
        </p:spPr>
      </p:sp>
      <p:sp>
        <p:nvSpPr>
          <p:cNvPr id="3" name="Shape 1"/>
          <p:cNvSpPr/>
          <p:nvPr/>
        </p:nvSpPr>
        <p:spPr>
          <a:xfrm>
            <a:off x="822960" y="822960"/>
            <a:ext cx="10543032" cy="5212080"/>
          </a:xfrm>
          <a:prstGeom prst="rect">
            <a:avLst/>
          </a:prstGeom>
          <a:ln w="12700">
            <a:solidFill>
              <a:srgbClr val="2B3B58"/>
            </a:solidFill>
            <a:prstDash val="solid"/>
          </a:ln>
        </p:spPr>
      </p:sp>
      <p:sp>
        <p:nvSpPr>
          <p:cNvPr id="4" name="Text 2"/>
          <p:cNvSpPr txBox="1"/>
          <p:nvPr/>
        </p:nvSpPr>
        <p:spPr>
          <a:xfrm>
            <a:off x="1188720" y="1371600"/>
            <a:ext cx="9784080" cy="320040"/>
          </a:xfrm>
          <a:prstGeom prst="rect">
            <a:avLst/>
          </a:prstGeom>
          <a:noFill/>
          <a:ln/>
        </p:spPr>
        <p:txBody>
          <a:bodyPr wrap="square" lIns="0" tIns="0" rIns="0" bIns="0" rtlCol="0" anchor="ctr"/>
          <a:lstStyle/>
          <a:p>
            <a:pPr indent="0" marL="0">
              <a:buNone/>
            </a:pPr>
            <a:r>
              <a:rPr lang="en-US" sz="1250" b="1" spc="200" kern="0" dirty="0">
                <a:solidFill>
                  <a:srgbClr val="C9A227"/>
                </a:solidFill>
                <a:latin typeface="Calibri" pitchFamily="34" charset="0"/>
                <a:ea typeface="Calibri" pitchFamily="34" charset="-122"/>
                <a:cs typeface="Calibri" pitchFamily="34" charset="-120"/>
              </a:rPr>
              <a:t>ORIGINAL ARTICLE  ·  REQUIREMENTS ENGINEERING (2026) 31:7</a:t>
            </a:r>
            <a:endParaRPr lang="en-US" sz="1250" dirty="0"/>
          </a:p>
        </p:txBody>
      </p:sp>
      <p:sp>
        <p:nvSpPr>
          <p:cNvPr id="5" name="Text 3"/>
          <p:cNvSpPr txBox="1"/>
          <p:nvPr/>
        </p:nvSpPr>
        <p:spPr>
          <a:xfrm>
            <a:off x="1188720" y="1874520"/>
            <a:ext cx="9784080" cy="960120"/>
          </a:xfrm>
          <a:prstGeom prst="rect">
            <a:avLst/>
          </a:prstGeom>
          <a:noFill/>
          <a:ln/>
        </p:spPr>
        <p:txBody>
          <a:bodyPr wrap="square" lIns="0" tIns="0" rIns="0" bIns="0" rtlCol="0" anchor="ctr"/>
          <a:lstStyle/>
          <a:p>
            <a:pPr indent="0" marL="0">
              <a:buNone/>
            </a:pPr>
            <a:r>
              <a:rPr lang="en-US" sz="4200" b="1" dirty="0">
                <a:solidFill>
                  <a:srgbClr val="F4F6FA"/>
                </a:solidFill>
                <a:latin typeface="Cambria" pitchFamily="34" charset="0"/>
                <a:ea typeface="Cambria" pitchFamily="34" charset="-122"/>
                <a:cs typeface="Cambria" pitchFamily="34" charset="-120"/>
              </a:rPr>
              <a:t>From Issue Titles to Requirements</a:t>
            </a:r>
            <a:endParaRPr lang="en-US" sz="4200" dirty="0"/>
          </a:p>
        </p:txBody>
      </p:sp>
      <p:sp>
        <p:nvSpPr>
          <p:cNvPr id="6" name="Text 4"/>
          <p:cNvSpPr txBox="1"/>
          <p:nvPr/>
        </p:nvSpPr>
        <p:spPr>
          <a:xfrm>
            <a:off x="1188720" y="2788920"/>
            <a:ext cx="9784080" cy="685800"/>
          </a:xfrm>
          <a:prstGeom prst="rect">
            <a:avLst/>
          </a:prstGeom>
          <a:noFill/>
          <a:ln/>
        </p:spPr>
        <p:txBody>
          <a:bodyPr wrap="square" lIns="0" tIns="0" rIns="0" bIns="0" rtlCol="0" anchor="ctr"/>
          <a:lstStyle/>
          <a:p>
            <a:pPr indent="0" marL="0">
              <a:buNone/>
            </a:pPr>
            <a:r>
              <a:rPr lang="en-US" sz="1900" i="1" dirty="0">
                <a:solidFill>
                  <a:srgbClr val="9FB0C7"/>
                </a:solidFill>
                <a:latin typeface="Calibri" pitchFamily="34" charset="0"/>
                <a:ea typeface="Calibri" pitchFamily="34" charset="-122"/>
                <a:cs typeface="Calibri" pitchFamily="34" charset="-120"/>
              </a:rPr>
              <a:t>An Empirical Study of Large Language Models and Prompt Engineering Strategies</a:t>
            </a:r>
            <a:endParaRPr lang="en-US" sz="1900" dirty="0"/>
          </a:p>
        </p:txBody>
      </p:sp>
      <p:sp>
        <p:nvSpPr>
          <p:cNvPr id="7" name="Shape 5"/>
          <p:cNvSpPr/>
          <p:nvPr/>
        </p:nvSpPr>
        <p:spPr>
          <a:xfrm>
            <a:off x="1188720" y="3703320"/>
            <a:ext cx="3840480" cy="0"/>
          </a:xfrm>
          <a:prstGeom prst="line">
            <a:avLst/>
          </a:prstGeom>
          <a:noFill/>
          <a:ln w="19050">
            <a:solidFill>
              <a:srgbClr val="C9A227"/>
            </a:solidFill>
            <a:prstDash val="solid"/>
          </a:ln>
        </p:spPr>
      </p:sp>
      <p:sp>
        <p:nvSpPr>
          <p:cNvPr id="8" name="Text 6"/>
          <p:cNvSpPr txBox="1"/>
          <p:nvPr/>
        </p:nvSpPr>
        <p:spPr>
          <a:xfrm>
            <a:off x="1188720" y="3931920"/>
            <a:ext cx="5943600" cy="1005840"/>
          </a:xfrm>
          <a:prstGeom prst="rect">
            <a:avLst/>
          </a:prstGeom>
          <a:noFill/>
          <a:ln/>
        </p:spPr>
        <p:txBody>
          <a:bodyPr wrap="square" lIns="0" tIns="0" rIns="0" bIns="0" rtlCol="0" anchor="ctr"/>
          <a:lstStyle/>
          <a:p>
            <a:pPr indent="0" marL="0">
              <a:lnSpc>
                <a:spcPct val="130000"/>
              </a:lnSpc>
              <a:buNone/>
            </a:pPr>
            <a:r>
              <a:rPr lang="en-US" sz="1500" b="1" dirty="0">
                <a:solidFill>
                  <a:srgbClr val="F4F6FA"/>
                </a:solidFill>
                <a:latin typeface="Calibri" pitchFamily="34" charset="0"/>
                <a:ea typeface="Calibri" pitchFamily="34" charset="-122"/>
                <a:cs typeface="Calibri" pitchFamily="34" charset="-120"/>
              </a:rPr>
              <a:t>Guilherme Paiva</a:t>
            </a:r>
            <a:endParaRPr lang="en-US" sz="1500" dirty="0"/>
          </a:p>
          <a:p>
            <a:pPr indent="0" marL="0">
              <a:lnSpc>
                <a:spcPct val="130000"/>
              </a:lnSpc>
              <a:buNone/>
            </a:pPr>
            <a:r>
              <a:rPr lang="en-US" sz="1500" b="1" dirty="0">
                <a:solidFill>
                  <a:srgbClr val="F4F6FA"/>
                </a:solidFill>
                <a:latin typeface="Calibri" pitchFamily="34" charset="0"/>
                <a:ea typeface="Calibri" pitchFamily="34" charset="-122"/>
                <a:cs typeface="Calibri" pitchFamily="34" charset="-120"/>
              </a:rPr>
              <a:t>Edna Dias Canedo</a:t>
            </a:r>
            <a:endParaRPr lang="en-US" sz="1500" dirty="0"/>
          </a:p>
          <a:p>
            <a:pPr indent="0" marL="0">
              <a:lnSpc>
                <a:spcPct val="130000"/>
              </a:lnSpc>
              <a:buNone/>
            </a:pPr>
            <a:r>
              <a:rPr lang="en-US" sz="1500" b="1" dirty="0">
                <a:solidFill>
                  <a:srgbClr val="F4F6FA"/>
                </a:solidFill>
                <a:latin typeface="Calibri" pitchFamily="34" charset="0"/>
                <a:ea typeface="Calibri" pitchFamily="34" charset="-122"/>
                <a:cs typeface="Calibri" pitchFamily="34" charset="-120"/>
              </a:rPr>
              <a:t>Geraldo Pereira Rocha Filho</a:t>
            </a:r>
            <a:endParaRPr lang="en-US" sz="1500" dirty="0"/>
          </a:p>
        </p:txBody>
      </p:sp>
      <p:sp>
        <p:nvSpPr>
          <p:cNvPr id="9" name="Text 7"/>
          <p:cNvSpPr txBox="1"/>
          <p:nvPr/>
        </p:nvSpPr>
        <p:spPr>
          <a:xfrm>
            <a:off x="1188720" y="4892040"/>
            <a:ext cx="5943600" cy="594360"/>
          </a:xfrm>
          <a:prstGeom prst="rect">
            <a:avLst/>
          </a:prstGeom>
          <a:noFill/>
          <a:ln/>
        </p:spPr>
        <p:txBody>
          <a:bodyPr wrap="square" lIns="0" tIns="0" rIns="0" bIns="0" rtlCol="0" anchor="ctr"/>
          <a:lstStyle/>
          <a:p>
            <a:pPr indent="0" marL="0">
              <a:lnSpc>
                <a:spcPct val="130000"/>
              </a:lnSpc>
              <a:buNone/>
            </a:pPr>
            <a:r>
              <a:rPr lang="en-US" sz="1250" dirty="0">
                <a:solidFill>
                  <a:srgbClr val="9FB0C7"/>
                </a:solidFill>
                <a:latin typeface="Calibri" pitchFamily="34" charset="0"/>
                <a:ea typeface="Calibri" pitchFamily="34" charset="-122"/>
                <a:cs typeface="Calibri" pitchFamily="34" charset="-120"/>
              </a:rPr>
              <a:t>University of Brasília, Brazil</a:t>
            </a:r>
            <a:endParaRPr lang="en-US" sz="1250" dirty="0"/>
          </a:p>
          <a:p>
            <a:pPr indent="0" marL="0">
              <a:lnSpc>
                <a:spcPct val="130000"/>
              </a:lnSpc>
              <a:buNone/>
            </a:pPr>
            <a:r>
              <a:rPr lang="en-US" sz="1250" dirty="0">
                <a:solidFill>
                  <a:srgbClr val="9FB0C7"/>
                </a:solidFill>
                <a:latin typeface="Calibri" pitchFamily="34" charset="0"/>
                <a:ea typeface="Calibri" pitchFamily="34" charset="-122"/>
                <a:cs typeface="Calibri" pitchFamily="34" charset="-120"/>
              </a:rPr>
              <a:t>Southwest Bahia State University, Brazil</a:t>
            </a:r>
            <a:endParaRPr lang="en-US" sz="1250" dirty="0"/>
          </a:p>
        </p:txBody>
      </p:sp>
      <p:sp>
        <p:nvSpPr>
          <p:cNvPr id="10" name="Text 8"/>
          <p:cNvSpPr txBox="1"/>
          <p:nvPr/>
        </p:nvSpPr>
        <p:spPr>
          <a:xfrm>
            <a:off x="1188720" y="5623560"/>
            <a:ext cx="5943600" cy="274320"/>
          </a:xfrm>
          <a:prstGeom prst="rect">
            <a:avLst/>
          </a:prstGeom>
          <a:noFill/>
          <a:ln/>
        </p:spPr>
        <p:txBody>
          <a:bodyPr wrap="square" lIns="0" tIns="0" rIns="0" bIns="0" rtlCol="0" anchor="ctr"/>
          <a:lstStyle/>
          <a:p>
            <a:pPr indent="0" marL="0">
              <a:buNone/>
            </a:pPr>
            <a:r>
              <a:rPr lang="en-US" sz="1100" dirty="0">
                <a:solidFill>
                  <a:srgbClr val="748199"/>
                </a:solidFill>
                <a:latin typeface="Calibri" pitchFamily="34" charset="0"/>
                <a:ea typeface="Calibri" pitchFamily="34" charset="-122"/>
                <a:cs typeface="Calibri" pitchFamily="34" charset="-120"/>
              </a:rPr>
              <a:t>DOI: 10.1007/s00766-026-00462-z</a:t>
            </a:r>
            <a:endParaRPr lang="en-US" sz="1100" dirty="0"/>
          </a:p>
        </p:txBody>
      </p:sp>
      <p:sp>
        <p:nvSpPr>
          <p:cNvPr id="11" name="Text 9"/>
          <p:cNvSpPr txBox="1"/>
          <p:nvPr/>
        </p:nvSpPr>
        <p:spPr>
          <a:xfrm>
            <a:off x="502920" y="6547104"/>
            <a:ext cx="7772400" cy="256032"/>
          </a:xfrm>
          <a:prstGeom prst="rect">
            <a:avLst/>
          </a:prstGeom>
          <a:noFill/>
          <a:ln/>
        </p:spPr>
        <p:txBody>
          <a:bodyPr wrap="square" lIns="0" tIns="0" rIns="0" bIns="0" rtlCol="0" anchor="ctr"/>
          <a:lstStyle/>
          <a:p>
            <a:pPr algn="l" indent="0" marL="0">
              <a:buNone/>
            </a:pPr>
            <a:r>
              <a:rPr lang="en-US" sz="900" dirty="0">
                <a:solidFill>
                  <a:srgbClr val="748199"/>
                </a:solidFill>
                <a:latin typeface="Calibri" pitchFamily="34" charset="0"/>
                <a:ea typeface="Calibri" pitchFamily="34" charset="-122"/>
                <a:cs typeface="Calibri" pitchFamily="34" charset="-120"/>
              </a:rPr>
              <a:t>Requirements Engineering (2026) 31:7  •  Paiva, Canedo &amp; Rocha Filho</a:t>
            </a:r>
            <a:endParaRPr lang="en-US" sz="900" dirty="0"/>
          </a:p>
        </p:txBody>
      </p:sp>
      <p:sp>
        <p:nvSpPr>
          <p:cNvPr id="12" name="Text 10"/>
          <p:cNvSpPr txBox="1"/>
          <p:nvPr/>
        </p:nvSpPr>
        <p:spPr>
          <a:xfrm>
            <a:off x="10972800" y="6547104"/>
            <a:ext cx="731520" cy="256032"/>
          </a:xfrm>
          <a:prstGeom prst="rect">
            <a:avLst/>
          </a:prstGeom>
          <a:noFill/>
          <a:ln/>
        </p:spPr>
        <p:txBody>
          <a:bodyPr wrap="square" lIns="0" tIns="0" rIns="0" bIns="0" rtlCol="0" anchor="ctr"/>
          <a:lstStyle/>
          <a:p>
            <a:pPr algn="r" indent="0" marL="0">
              <a:buNone/>
            </a:pPr>
            <a:r>
              <a:rPr lang="en-US" sz="900" dirty="0">
                <a:solidFill>
                  <a:srgbClr val="748199"/>
                </a:solidFill>
                <a:latin typeface="Calibri" pitchFamily="34" charset="0"/>
                <a:ea typeface="Calibri" pitchFamily="34" charset="-122"/>
                <a:cs typeface="Calibri" pitchFamily="34" charset="-120"/>
              </a:rPr>
              <a:t>01 / 20</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321"/>
        </a:solidFill>
      </p:bgPr>
    </p:bg>
    <p:spTree>
      <p:nvGrpSpPr>
        <p:cNvPr id="1" name=""/>
        <p:cNvGrpSpPr/>
        <p:nvPr/>
      </p:nvGrpSpPr>
      <p:grpSpPr>
        <a:xfrm>
          <a:off x="0" y="0"/>
          <a:ext cx="0" cy="0"/>
          <a:chOff x="0" y="0"/>
          <a:chExt cx="0" cy="0"/>
        </a:xfrm>
      </p:grpSpPr>
      <p:sp>
        <p:nvSpPr>
          <p:cNvPr id="2" name="Shape 0"/>
          <p:cNvSpPr/>
          <p:nvPr/>
        </p:nvSpPr>
        <p:spPr>
          <a:xfrm>
            <a:off x="502920" y="457200"/>
            <a:ext cx="128016" cy="128016"/>
          </a:xfrm>
          <a:prstGeom prst="rect">
            <a:avLst/>
          </a:prstGeom>
          <a:solidFill>
            <a:srgbClr val="C9A227"/>
          </a:solidFill>
          <a:ln/>
        </p:spPr>
      </p:sp>
      <p:sp>
        <p:nvSpPr>
          <p:cNvPr id="3" name="Text 1"/>
          <p:cNvSpPr txBox="1"/>
          <p:nvPr/>
        </p:nvSpPr>
        <p:spPr>
          <a:xfrm>
            <a:off x="749808" y="347472"/>
            <a:ext cx="9144000" cy="292608"/>
          </a:xfrm>
          <a:prstGeom prst="rect">
            <a:avLst/>
          </a:prstGeom>
          <a:noFill/>
          <a:ln/>
        </p:spPr>
        <p:txBody>
          <a:bodyPr wrap="square" lIns="0" tIns="0" rIns="0" bIns="0" rtlCol="0" anchor="ctr"/>
          <a:lstStyle/>
          <a:p>
            <a:pPr indent="0" marL="0">
              <a:buNone/>
            </a:pPr>
            <a:r>
              <a:rPr lang="en-US" sz="1250" b="1" spc="200" kern="0" dirty="0">
                <a:solidFill>
                  <a:srgbClr val="C9A227"/>
                </a:solidFill>
                <a:latin typeface="Calibri" pitchFamily="34" charset="0"/>
                <a:ea typeface="Calibri" pitchFamily="34" charset="-122"/>
                <a:cs typeface="Calibri" pitchFamily="34" charset="-120"/>
              </a:rPr>
              <a:t>RESEARCH CONTEXT</a:t>
            </a:r>
            <a:endParaRPr lang="en-US" sz="1250" dirty="0"/>
          </a:p>
        </p:txBody>
      </p:sp>
      <p:sp>
        <p:nvSpPr>
          <p:cNvPr id="4" name="Text 2"/>
          <p:cNvSpPr txBox="1"/>
          <p:nvPr/>
        </p:nvSpPr>
        <p:spPr>
          <a:xfrm>
            <a:off x="502920" y="658368"/>
            <a:ext cx="11155680" cy="685800"/>
          </a:xfrm>
          <a:prstGeom prst="rect">
            <a:avLst/>
          </a:prstGeom>
          <a:noFill/>
          <a:ln/>
        </p:spPr>
        <p:txBody>
          <a:bodyPr wrap="square" lIns="0" tIns="0" rIns="0" bIns="0" rtlCol="0" anchor="ctr"/>
          <a:lstStyle/>
          <a:p>
            <a:pPr indent="0" marL="0">
              <a:buNone/>
            </a:pPr>
            <a:r>
              <a:rPr lang="en-US" sz="3000" b="1" dirty="0">
                <a:solidFill>
                  <a:srgbClr val="F4F6FA"/>
                </a:solidFill>
                <a:latin typeface="Cambria" pitchFamily="34" charset="0"/>
                <a:ea typeface="Cambria" pitchFamily="34" charset="-122"/>
                <a:cs typeface="Cambria" pitchFamily="34" charset="-120"/>
              </a:rPr>
              <a:t>Why Automate Requirements Engineering?</a:t>
            </a:r>
            <a:endParaRPr lang="en-US" sz="3000" dirty="0"/>
          </a:p>
        </p:txBody>
      </p:sp>
      <p:sp>
        <p:nvSpPr>
          <p:cNvPr id="5" name="Text 3"/>
          <p:cNvSpPr txBox="1"/>
          <p:nvPr/>
        </p:nvSpPr>
        <p:spPr>
          <a:xfrm>
            <a:off x="502920" y="1600200"/>
            <a:ext cx="6766560" cy="4572000"/>
          </a:xfrm>
          <a:prstGeom prst="rect">
            <a:avLst/>
          </a:prstGeom>
          <a:noFill/>
          <a:ln/>
        </p:spPr>
        <p:txBody>
          <a:bodyPr wrap="square" lIns="0" tIns="0" rIns="0" bIns="0" rtlCol="0" anchor="t"/>
          <a:lstStyle/>
          <a:p>
            <a:pPr marL="228600" indent="-228600">
              <a:spcAft>
                <a:spcPts val="1600"/>
              </a:spcAft>
              <a:buSzPct val="100000"/>
              <a:buChar char="•"/>
            </a:pPr>
            <a:r>
              <a:rPr lang="en-US" sz="1550" dirty="0">
                <a:solidFill>
                  <a:srgbClr val="F4F6FA"/>
                </a:solidFill>
                <a:latin typeface="Calibri" pitchFamily="34" charset="0"/>
                <a:ea typeface="Calibri" pitchFamily="34" charset="-122"/>
                <a:cs typeface="Calibri" pitchFamily="34" charset="-120"/>
              </a:rPr>
              <a:t>Requirements Engineering (RE) defines system objectives, functions and constraints — it directly shapes product quality and project success.</a:t>
            </a:r>
            <a:endParaRPr lang="en-US" sz="1550" dirty="0"/>
          </a:p>
          <a:p>
            <a:pPr marL="228600" indent="-228600">
              <a:spcAft>
                <a:spcPts val="1600"/>
              </a:spcAft>
              <a:buSzPct val="100000"/>
              <a:buChar char="•"/>
            </a:pPr>
            <a:r>
              <a:rPr lang="en-US" sz="1550" dirty="0">
                <a:solidFill>
                  <a:srgbClr val="F4F6FA"/>
                </a:solidFill>
                <a:latin typeface="Calibri" pitchFamily="34" charset="0"/>
                <a:ea typeface="Calibri" pitchFamily="34" charset="-122"/>
                <a:cs typeface="Calibri" pitchFamily="34" charset="-120"/>
              </a:rPr>
              <a:t>LLMs are increasingly promising for RE: they can accelerate elicitation, specification and documentation while analysts stay in the loop for interpretation and validation.</a:t>
            </a:r>
            <a:endParaRPr lang="en-US" sz="1550" dirty="0"/>
          </a:p>
          <a:p>
            <a:pPr marL="228600" indent="-228600">
              <a:spcAft>
                <a:spcPts val="1600"/>
              </a:spcAft>
              <a:buSzPct val="100000"/>
              <a:buChar char="•"/>
            </a:pPr>
            <a:r>
              <a:rPr lang="en-US" sz="1550" dirty="0">
                <a:solidFill>
                  <a:srgbClr val="F4F6FA"/>
                </a:solidFill>
                <a:latin typeface="Calibri" pitchFamily="34" charset="0"/>
                <a:ea typeface="Calibri" pitchFamily="34" charset="-122"/>
                <a:cs typeface="Calibri" pitchFamily="34" charset="-120"/>
              </a:rPr>
              <a:t>Open-source software (OSS) projects gather requirements through diverse, indirect channels (issue trackers, forums) — making extraction labour-intensive and inconsistent.</a:t>
            </a:r>
            <a:endParaRPr lang="en-US" sz="1550" dirty="0"/>
          </a:p>
          <a:p>
            <a:pPr marL="228600" indent="-228600">
              <a:spcAft>
                <a:spcPts val="1600"/>
              </a:spcAft>
              <a:buSzPct val="100000"/>
              <a:buChar char="•"/>
            </a:pPr>
            <a:r>
              <a:rPr lang="en-US" sz="1550" dirty="0">
                <a:solidFill>
                  <a:srgbClr val="F4F6FA"/>
                </a:solidFill>
                <a:latin typeface="Calibri" pitchFamily="34" charset="0"/>
                <a:ea typeface="Calibri" pitchFamily="34" charset="-122"/>
                <a:cs typeface="Calibri" pitchFamily="34" charset="-120"/>
              </a:rPr>
              <a:t>Current evidence frames LLMs as assistive partners that augment human capability, not as replacements for RE expertise.</a:t>
            </a:r>
            <a:endParaRPr lang="en-US" sz="1550" dirty="0"/>
          </a:p>
        </p:txBody>
      </p:sp>
      <p:sp>
        <p:nvSpPr>
          <p:cNvPr id="6" name="Shape 4"/>
          <p:cNvSpPr/>
          <p:nvPr/>
        </p:nvSpPr>
        <p:spPr>
          <a:xfrm>
            <a:off x="7589520" y="1600200"/>
            <a:ext cx="4069080" cy="4617720"/>
          </a:xfrm>
          <a:prstGeom prst="roundRect">
            <a:avLst>
              <a:gd name="adj" fmla="val 1798"/>
            </a:avLst>
          </a:prstGeom>
          <a:solidFill>
            <a:srgbClr val="17223A"/>
          </a:solidFill>
          <a:ln w="12700">
            <a:solidFill>
              <a:srgbClr val="2B3B58"/>
            </a:solidFill>
            <a:prstDash val="solid"/>
          </a:ln>
          <a:effectLst>
            <a:outerShdw sx="100000" sy="100000" kx="0" ky="0" algn="bl" rotWithShape="0" blurRad="101600" dist="38100" dir="5400000">
              <a:srgbClr val="000000">
                <a:alpha val="35000"/>
              </a:srgbClr>
            </a:outerShdw>
          </a:effectLst>
        </p:spPr>
      </p:sp>
      <p:sp>
        <p:nvSpPr>
          <p:cNvPr id="7" name="Text 5"/>
          <p:cNvSpPr txBox="1"/>
          <p:nvPr/>
        </p:nvSpPr>
        <p:spPr>
          <a:xfrm>
            <a:off x="7909560" y="1810512"/>
            <a:ext cx="3474720" cy="274320"/>
          </a:xfrm>
          <a:prstGeom prst="rect">
            <a:avLst/>
          </a:prstGeom>
          <a:noFill/>
          <a:ln/>
        </p:spPr>
        <p:txBody>
          <a:bodyPr wrap="square" lIns="0" tIns="0" rIns="0" bIns="0" rtlCol="0" anchor="ctr"/>
          <a:lstStyle/>
          <a:p>
            <a:pPr indent="0" marL="0">
              <a:buNone/>
            </a:pPr>
            <a:r>
              <a:rPr lang="en-US" sz="1100" b="1" spc="150" kern="0" dirty="0">
                <a:solidFill>
                  <a:srgbClr val="C9A227"/>
                </a:solidFill>
                <a:latin typeface="Calibri" pitchFamily="34" charset="0"/>
                <a:ea typeface="Calibri" pitchFamily="34" charset="-122"/>
                <a:cs typeface="Calibri" pitchFamily="34" charset="-120"/>
              </a:rPr>
              <a:t>THE STARTING POINT</a:t>
            </a:r>
            <a:endParaRPr lang="en-US" sz="1100" dirty="0"/>
          </a:p>
        </p:txBody>
      </p:sp>
      <p:sp>
        <p:nvSpPr>
          <p:cNvPr id="8" name="Text 6"/>
          <p:cNvSpPr txBox="1"/>
          <p:nvPr/>
        </p:nvSpPr>
        <p:spPr>
          <a:xfrm>
            <a:off x="7909560" y="2148840"/>
            <a:ext cx="3474720" cy="914400"/>
          </a:xfrm>
          <a:prstGeom prst="rect">
            <a:avLst/>
          </a:prstGeom>
          <a:noFill/>
          <a:ln/>
        </p:spPr>
        <p:txBody>
          <a:bodyPr wrap="square" lIns="0" tIns="0" rIns="0" bIns="0" rtlCol="0" anchor="ctr"/>
          <a:lstStyle/>
          <a:p>
            <a:pPr indent="0" marL="0">
              <a:buNone/>
            </a:pPr>
            <a:r>
              <a:rPr lang="en-US" sz="1600" i="1" dirty="0">
                <a:solidFill>
                  <a:srgbClr val="F4F6FA"/>
                </a:solidFill>
                <a:latin typeface="Cambria" pitchFamily="34" charset="0"/>
                <a:ea typeface="Cambria" pitchFamily="34" charset="-122"/>
                <a:cs typeface="Cambria" pitchFamily="34" charset="-120"/>
              </a:rPr>
              <a:t>“Implement numpy.random.choice equivalent.”</a:t>
            </a:r>
            <a:endParaRPr lang="en-US" sz="1600" dirty="0"/>
          </a:p>
        </p:txBody>
      </p:sp>
      <p:sp>
        <p:nvSpPr>
          <p:cNvPr id="9" name="Text 7"/>
          <p:cNvSpPr txBox="1"/>
          <p:nvPr/>
        </p:nvSpPr>
        <p:spPr>
          <a:xfrm>
            <a:off x="7909560" y="3154680"/>
            <a:ext cx="3474720" cy="914400"/>
          </a:xfrm>
          <a:prstGeom prst="rect">
            <a:avLst/>
          </a:prstGeom>
          <a:noFill/>
          <a:ln/>
        </p:spPr>
        <p:txBody>
          <a:bodyPr wrap="square" lIns="0" tIns="0" rIns="0" bIns="0" rtlCol="0" anchor="ctr"/>
          <a:lstStyle/>
          <a:p>
            <a:pPr indent="0" marL="0">
              <a:buNone/>
            </a:pPr>
            <a:r>
              <a:rPr lang="en-US" sz="1250" dirty="0">
                <a:solidFill>
                  <a:srgbClr val="9FB0C7"/>
                </a:solidFill>
                <a:latin typeface="Calibri" pitchFamily="34" charset="0"/>
                <a:ea typeface="Calibri" pitchFamily="34" charset="-122"/>
                <a:cs typeface="Calibri" pitchFamily="34" charset="-120"/>
              </a:rPr>
              <a:t>A terse, developer-oriented GitHub issue title — the kind of minimal-context input this study targets.</a:t>
            </a:r>
            <a:endParaRPr lang="en-US" sz="1250" dirty="0"/>
          </a:p>
        </p:txBody>
      </p:sp>
      <p:sp>
        <p:nvSpPr>
          <p:cNvPr id="10" name="Shape 8"/>
          <p:cNvSpPr/>
          <p:nvPr/>
        </p:nvSpPr>
        <p:spPr>
          <a:xfrm>
            <a:off x="7909560" y="4251960"/>
            <a:ext cx="3474720" cy="0"/>
          </a:xfrm>
          <a:prstGeom prst="line">
            <a:avLst/>
          </a:prstGeom>
          <a:noFill/>
          <a:ln w="12700">
            <a:solidFill>
              <a:srgbClr val="2B3B58"/>
            </a:solidFill>
            <a:prstDash val="solid"/>
          </a:ln>
        </p:spPr>
      </p:sp>
      <p:sp>
        <p:nvSpPr>
          <p:cNvPr id="11" name="Text 9"/>
          <p:cNvSpPr txBox="1"/>
          <p:nvPr/>
        </p:nvSpPr>
        <p:spPr>
          <a:xfrm>
            <a:off x="7909560" y="4434840"/>
            <a:ext cx="3474720" cy="1554480"/>
          </a:xfrm>
          <a:prstGeom prst="rect">
            <a:avLst/>
          </a:prstGeom>
          <a:noFill/>
          <a:ln/>
        </p:spPr>
        <p:txBody>
          <a:bodyPr wrap="square" lIns="0" tIns="0" rIns="0" bIns="0" rtlCol="0" anchor="ctr"/>
          <a:lstStyle/>
          <a:p>
            <a:pPr indent="0" marL="0">
              <a:buNone/>
            </a:pPr>
            <a:r>
              <a:rPr lang="en-US" sz="1350" i="1" dirty="0">
                <a:solidFill>
                  <a:srgbClr val="9FB0C7"/>
                </a:solidFill>
                <a:latin typeface="Calibri" pitchFamily="34" charset="0"/>
                <a:ea typeface="Calibri" pitchFamily="34" charset="-122"/>
                <a:cs typeface="Calibri" pitchFamily="34" charset="-120"/>
              </a:rPr>
              <a:t>Can an LLM turn this into a clear, verifiable, single-purpose requirement — with nothing more to go on?</a:t>
            </a:r>
            <a:endParaRPr lang="en-US" sz="1350" dirty="0"/>
          </a:p>
        </p:txBody>
      </p:sp>
      <p:sp>
        <p:nvSpPr>
          <p:cNvPr id="12" name="Text 10"/>
          <p:cNvSpPr txBox="1"/>
          <p:nvPr/>
        </p:nvSpPr>
        <p:spPr>
          <a:xfrm>
            <a:off x="502920" y="6547104"/>
            <a:ext cx="7772400" cy="256032"/>
          </a:xfrm>
          <a:prstGeom prst="rect">
            <a:avLst/>
          </a:prstGeom>
          <a:noFill/>
          <a:ln/>
        </p:spPr>
        <p:txBody>
          <a:bodyPr wrap="square" lIns="0" tIns="0" rIns="0" bIns="0" rtlCol="0" anchor="ctr"/>
          <a:lstStyle/>
          <a:p>
            <a:pPr algn="l" indent="0" marL="0">
              <a:buNone/>
            </a:pPr>
            <a:r>
              <a:rPr lang="en-US" sz="900" dirty="0">
                <a:solidFill>
                  <a:srgbClr val="748199"/>
                </a:solidFill>
                <a:latin typeface="Calibri" pitchFamily="34" charset="0"/>
                <a:ea typeface="Calibri" pitchFamily="34" charset="-122"/>
                <a:cs typeface="Calibri" pitchFamily="34" charset="-120"/>
              </a:rPr>
              <a:t>Requirements Engineering (2026) 31:7  •  Paiva, Canedo &amp; Rocha Filho</a:t>
            </a:r>
            <a:endParaRPr lang="en-US" sz="900" dirty="0"/>
          </a:p>
        </p:txBody>
      </p:sp>
      <p:sp>
        <p:nvSpPr>
          <p:cNvPr id="13" name="Text 11"/>
          <p:cNvSpPr txBox="1"/>
          <p:nvPr/>
        </p:nvSpPr>
        <p:spPr>
          <a:xfrm>
            <a:off x="10972800" y="6547104"/>
            <a:ext cx="731520" cy="256032"/>
          </a:xfrm>
          <a:prstGeom prst="rect">
            <a:avLst/>
          </a:prstGeom>
          <a:noFill/>
          <a:ln/>
        </p:spPr>
        <p:txBody>
          <a:bodyPr wrap="square" lIns="0" tIns="0" rIns="0" bIns="0" rtlCol="0" anchor="ctr"/>
          <a:lstStyle/>
          <a:p>
            <a:pPr algn="r" indent="0" marL="0">
              <a:buNone/>
            </a:pPr>
            <a:r>
              <a:rPr lang="en-US" sz="900" dirty="0">
                <a:solidFill>
                  <a:srgbClr val="748199"/>
                </a:solidFill>
                <a:latin typeface="Calibri" pitchFamily="34" charset="0"/>
                <a:ea typeface="Calibri" pitchFamily="34" charset="-122"/>
                <a:cs typeface="Calibri" pitchFamily="34" charset="-120"/>
              </a:rPr>
              <a:t>02 / 20</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321"/>
        </a:solidFill>
      </p:bgPr>
    </p:bg>
    <p:spTree>
      <p:nvGrpSpPr>
        <p:cNvPr id="1" name=""/>
        <p:cNvGrpSpPr/>
        <p:nvPr/>
      </p:nvGrpSpPr>
      <p:grpSpPr>
        <a:xfrm>
          <a:off x="0" y="0"/>
          <a:ext cx="0" cy="0"/>
          <a:chOff x="0" y="0"/>
          <a:chExt cx="0" cy="0"/>
        </a:xfrm>
      </p:grpSpPr>
      <p:sp>
        <p:nvSpPr>
          <p:cNvPr id="2" name="Shape 0"/>
          <p:cNvSpPr/>
          <p:nvPr/>
        </p:nvSpPr>
        <p:spPr>
          <a:xfrm>
            <a:off x="502920" y="457200"/>
            <a:ext cx="128016" cy="128016"/>
          </a:xfrm>
          <a:prstGeom prst="rect">
            <a:avLst/>
          </a:prstGeom>
          <a:solidFill>
            <a:srgbClr val="C9A227"/>
          </a:solidFill>
          <a:ln/>
        </p:spPr>
      </p:sp>
      <p:sp>
        <p:nvSpPr>
          <p:cNvPr id="3" name="Text 1"/>
          <p:cNvSpPr txBox="1"/>
          <p:nvPr/>
        </p:nvSpPr>
        <p:spPr>
          <a:xfrm>
            <a:off x="749808" y="347472"/>
            <a:ext cx="9144000" cy="292608"/>
          </a:xfrm>
          <a:prstGeom prst="rect">
            <a:avLst/>
          </a:prstGeom>
          <a:noFill/>
          <a:ln/>
        </p:spPr>
        <p:txBody>
          <a:bodyPr wrap="square" lIns="0" tIns="0" rIns="0" bIns="0" rtlCol="0" anchor="ctr"/>
          <a:lstStyle/>
          <a:p>
            <a:pPr indent="0" marL="0">
              <a:buNone/>
            </a:pPr>
            <a:r>
              <a:rPr lang="en-US" sz="1250" b="1" spc="200" kern="0" dirty="0">
                <a:solidFill>
                  <a:srgbClr val="C9A227"/>
                </a:solidFill>
                <a:latin typeface="Calibri" pitchFamily="34" charset="0"/>
                <a:ea typeface="Calibri" pitchFamily="34" charset="-122"/>
                <a:cs typeface="Calibri" pitchFamily="34" charset="-120"/>
              </a:rPr>
              <a:t>MOTIVATION</a:t>
            </a:r>
            <a:endParaRPr lang="en-US" sz="1250" dirty="0"/>
          </a:p>
        </p:txBody>
      </p:sp>
      <p:sp>
        <p:nvSpPr>
          <p:cNvPr id="4" name="Text 2"/>
          <p:cNvSpPr txBox="1"/>
          <p:nvPr/>
        </p:nvSpPr>
        <p:spPr>
          <a:xfrm>
            <a:off x="502920" y="658368"/>
            <a:ext cx="11155680" cy="685800"/>
          </a:xfrm>
          <a:prstGeom prst="rect">
            <a:avLst/>
          </a:prstGeom>
          <a:noFill/>
          <a:ln/>
        </p:spPr>
        <p:txBody>
          <a:bodyPr wrap="square" lIns="0" tIns="0" rIns="0" bIns="0" rtlCol="0" anchor="ctr"/>
          <a:lstStyle/>
          <a:p>
            <a:pPr indent="0" marL="0">
              <a:buNone/>
            </a:pPr>
            <a:r>
              <a:rPr lang="en-US" sz="3000" b="1" dirty="0">
                <a:solidFill>
                  <a:srgbClr val="F4F6FA"/>
                </a:solidFill>
                <a:latin typeface="Cambria" pitchFamily="34" charset="0"/>
                <a:ea typeface="Cambria" pitchFamily="34" charset="-122"/>
                <a:cs typeface="Cambria" pitchFamily="34" charset="-120"/>
              </a:rPr>
              <a:t>Research Problem and Research Gap</a:t>
            </a:r>
            <a:endParaRPr lang="en-US" sz="3000" dirty="0"/>
          </a:p>
        </p:txBody>
      </p:sp>
      <p:sp>
        <p:nvSpPr>
          <p:cNvPr id="5" name="Text 3"/>
          <p:cNvSpPr txBox="1"/>
          <p:nvPr/>
        </p:nvSpPr>
        <p:spPr>
          <a:xfrm>
            <a:off x="502920" y="1600200"/>
            <a:ext cx="6309360" cy="2926080"/>
          </a:xfrm>
          <a:prstGeom prst="rect">
            <a:avLst/>
          </a:prstGeom>
          <a:noFill/>
          <a:ln/>
        </p:spPr>
        <p:txBody>
          <a:bodyPr wrap="square" lIns="0" tIns="0" rIns="0" bIns="0" rtlCol="0" anchor="t"/>
          <a:lstStyle/>
          <a:p>
            <a:pPr marL="228600" indent="-228600">
              <a:spcAft>
                <a:spcPts val="1400"/>
              </a:spcAft>
              <a:buSzPct val="100000"/>
              <a:buChar char="•"/>
            </a:pPr>
            <a:r>
              <a:rPr lang="en-US" sz="1550" dirty="0">
                <a:solidFill>
                  <a:srgbClr val="F4F6FA"/>
                </a:solidFill>
                <a:latin typeface="Calibri" pitchFamily="34" charset="0"/>
                <a:ea typeface="Calibri" pitchFamily="34" charset="-122"/>
                <a:cs typeface="Calibri" pitchFamily="34" charset="-120"/>
              </a:rPr>
              <a:t>Prior LLM-based requirements pipelines rely on richer input artifacts — conceptual descriptions, functional specifications, or SRS fragments.</a:t>
            </a:r>
            <a:endParaRPr lang="en-US" sz="1550" dirty="0"/>
          </a:p>
          <a:p>
            <a:pPr marL="228600" indent="-228600">
              <a:spcAft>
                <a:spcPts val="1400"/>
              </a:spcAft>
              <a:buSzPct val="100000"/>
              <a:buChar char="•"/>
            </a:pPr>
            <a:r>
              <a:rPr lang="en-US" sz="1550" dirty="0">
                <a:solidFill>
                  <a:srgbClr val="F4F6FA"/>
                </a:solidFill>
                <a:latin typeface="Calibri" pitchFamily="34" charset="0"/>
                <a:ea typeface="Calibri" pitchFamily="34" charset="-122"/>
                <a:cs typeface="Calibri" pitchFamily="34" charset="-120"/>
              </a:rPr>
              <a:t>None of these approaches tackles the fundamental challenge of generating a single, well-formed requirement from a terse, informal OSS issue title.</a:t>
            </a:r>
            <a:endParaRPr lang="en-US" sz="1550" dirty="0"/>
          </a:p>
          <a:p>
            <a:pPr marL="228600" indent="-228600">
              <a:spcAft>
                <a:spcPts val="1400"/>
              </a:spcAft>
              <a:buSzPct val="100000"/>
              <a:buChar char="•"/>
            </a:pPr>
            <a:r>
              <a:rPr lang="en-US" sz="1550" dirty="0">
                <a:solidFill>
                  <a:srgbClr val="F4F6FA"/>
                </a:solidFill>
                <a:latin typeface="Calibri" pitchFamily="34" charset="0"/>
                <a:ea typeface="Calibri" pitchFamily="34" charset="-122"/>
                <a:cs typeface="Calibri" pitchFamily="34" charset="-120"/>
              </a:rPr>
              <a:t>The interactive effect between LLM choice and prompting strategy on requirement quality remains underexplored.</a:t>
            </a:r>
            <a:endParaRPr lang="en-US" sz="1550" dirty="0"/>
          </a:p>
        </p:txBody>
      </p:sp>
      <p:sp>
        <p:nvSpPr>
          <p:cNvPr id="6" name="Shape 4"/>
          <p:cNvSpPr/>
          <p:nvPr/>
        </p:nvSpPr>
        <p:spPr>
          <a:xfrm>
            <a:off x="502920" y="4617720"/>
            <a:ext cx="6309360" cy="1691640"/>
          </a:xfrm>
          <a:prstGeom prst="roundRect">
            <a:avLst>
              <a:gd name="adj" fmla="val 4324"/>
            </a:avLst>
          </a:prstGeom>
          <a:solidFill>
            <a:srgbClr val="1D2C48"/>
          </a:solidFill>
          <a:ln w="12700">
            <a:solidFill>
              <a:srgbClr val="2B3B58"/>
            </a:solidFill>
            <a:prstDash val="solid"/>
          </a:ln>
          <a:effectLst>
            <a:outerShdw sx="100000" sy="100000" kx="0" ky="0" algn="bl" rotWithShape="0" blurRad="101600" dist="38100" dir="5400000">
              <a:srgbClr val="000000">
                <a:alpha val="35000"/>
              </a:srgbClr>
            </a:outerShdw>
          </a:effectLst>
        </p:spPr>
      </p:sp>
      <p:sp>
        <p:nvSpPr>
          <p:cNvPr id="7" name="Text 5"/>
          <p:cNvSpPr txBox="1"/>
          <p:nvPr/>
        </p:nvSpPr>
        <p:spPr>
          <a:xfrm>
            <a:off x="822960" y="4800600"/>
            <a:ext cx="5669280" cy="274320"/>
          </a:xfrm>
          <a:prstGeom prst="rect">
            <a:avLst/>
          </a:prstGeom>
          <a:noFill/>
          <a:ln/>
        </p:spPr>
        <p:txBody>
          <a:bodyPr wrap="square" lIns="0" tIns="0" rIns="0" bIns="0" rtlCol="0" anchor="ctr"/>
          <a:lstStyle/>
          <a:p>
            <a:pPr indent="0" marL="0">
              <a:buNone/>
            </a:pPr>
            <a:r>
              <a:rPr lang="en-US" sz="1100" b="1" spc="150" kern="0" dirty="0">
                <a:solidFill>
                  <a:srgbClr val="C9A227"/>
                </a:solidFill>
                <a:latin typeface="Calibri" pitchFamily="34" charset="0"/>
                <a:ea typeface="Calibri" pitchFamily="34" charset="-122"/>
                <a:cs typeface="Calibri" pitchFamily="34" charset="-120"/>
              </a:rPr>
              <a:t>THE GAP THIS STUDY ADDRESSES</a:t>
            </a:r>
            <a:endParaRPr lang="en-US" sz="1100" dirty="0"/>
          </a:p>
        </p:txBody>
      </p:sp>
      <p:sp>
        <p:nvSpPr>
          <p:cNvPr id="8" name="Text 6"/>
          <p:cNvSpPr txBox="1"/>
          <p:nvPr/>
        </p:nvSpPr>
        <p:spPr>
          <a:xfrm>
            <a:off x="822960" y="5102352"/>
            <a:ext cx="5669280" cy="1097280"/>
          </a:xfrm>
          <a:prstGeom prst="rect">
            <a:avLst/>
          </a:prstGeom>
          <a:noFill/>
          <a:ln/>
        </p:spPr>
        <p:txBody>
          <a:bodyPr wrap="square" lIns="0" tIns="0" rIns="0" bIns="0" rtlCol="0" anchor="ctr"/>
          <a:lstStyle/>
          <a:p>
            <a:pPr indent="0" marL="0">
              <a:buNone/>
            </a:pPr>
            <a:r>
              <a:rPr lang="en-US" sz="1400" dirty="0">
                <a:solidFill>
                  <a:srgbClr val="F4F6FA"/>
                </a:solidFill>
                <a:latin typeface="Calibri" pitchFamily="34" charset="0"/>
                <a:ea typeface="Calibri" pitchFamily="34" charset="-122"/>
                <a:cs typeface="Calibri" pitchFamily="34" charset="-120"/>
              </a:rPr>
              <a:t>Generating quality-assessed requirements directly from concise OSS issue titles — under minimal-context conditions — while comparing LLMs and prompting strategies side by side.</a:t>
            </a:r>
            <a:endParaRPr lang="en-US" sz="1400" dirty="0"/>
          </a:p>
        </p:txBody>
      </p:sp>
      <p:sp>
        <p:nvSpPr>
          <p:cNvPr id="9" name="Shape 7"/>
          <p:cNvSpPr/>
          <p:nvPr/>
        </p:nvSpPr>
        <p:spPr>
          <a:xfrm>
            <a:off x="7086600" y="1600200"/>
            <a:ext cx="4572000" cy="768096"/>
          </a:xfrm>
          <a:prstGeom prst="roundRect">
            <a:avLst>
              <a:gd name="adj" fmla="val 9524"/>
            </a:avLst>
          </a:prstGeom>
          <a:solidFill>
            <a:srgbClr val="17223A"/>
          </a:solidFill>
          <a:ln w="12700">
            <a:solidFill>
              <a:srgbClr val="2B3B58"/>
            </a:solidFill>
            <a:prstDash val="solid"/>
          </a:ln>
        </p:spPr>
      </p:sp>
      <p:sp>
        <p:nvSpPr>
          <p:cNvPr id="10" name="Text 8"/>
          <p:cNvSpPr txBox="1"/>
          <p:nvPr/>
        </p:nvSpPr>
        <p:spPr>
          <a:xfrm>
            <a:off x="7269480" y="1655064"/>
            <a:ext cx="640080" cy="640080"/>
          </a:xfrm>
          <a:prstGeom prst="rect">
            <a:avLst/>
          </a:prstGeom>
          <a:noFill/>
          <a:ln/>
        </p:spPr>
        <p:txBody>
          <a:bodyPr wrap="square" lIns="0" tIns="0" rIns="0" bIns="0" rtlCol="0" anchor="ctr"/>
          <a:lstStyle/>
          <a:p>
            <a:pPr indent="0" marL="0">
              <a:buNone/>
            </a:pPr>
            <a:r>
              <a:rPr lang="en-US" sz="1700" b="1" dirty="0">
                <a:solidFill>
                  <a:srgbClr val="C9A227"/>
                </a:solidFill>
                <a:latin typeface="Cambria" pitchFamily="34" charset="0"/>
                <a:ea typeface="Cambria" pitchFamily="34" charset="-122"/>
                <a:cs typeface="Cambria" pitchFamily="34" charset="-120"/>
              </a:rPr>
              <a:t>C1</a:t>
            </a:r>
            <a:endParaRPr lang="en-US" sz="1700" dirty="0"/>
          </a:p>
        </p:txBody>
      </p:sp>
      <p:sp>
        <p:nvSpPr>
          <p:cNvPr id="11" name="Text 9"/>
          <p:cNvSpPr txBox="1"/>
          <p:nvPr/>
        </p:nvSpPr>
        <p:spPr>
          <a:xfrm>
            <a:off x="7863840" y="1627632"/>
            <a:ext cx="3703320" cy="694944"/>
          </a:xfrm>
          <a:prstGeom prst="rect">
            <a:avLst/>
          </a:prstGeom>
          <a:noFill/>
          <a:ln/>
        </p:spPr>
        <p:txBody>
          <a:bodyPr wrap="square" lIns="0" tIns="0" rIns="0" bIns="0" rtlCol="0" anchor="ctr"/>
          <a:lstStyle/>
          <a:p>
            <a:pPr indent="0" marL="0">
              <a:buNone/>
            </a:pPr>
            <a:r>
              <a:rPr lang="en-US" sz="1150" dirty="0">
                <a:solidFill>
                  <a:srgbClr val="F4F6FA"/>
                </a:solidFill>
                <a:latin typeface="Calibri" pitchFamily="34" charset="0"/>
                <a:ea typeface="Calibri" pitchFamily="34" charset="-122"/>
                <a:cs typeface="Calibri" pitchFamily="34" charset="-120"/>
              </a:rPr>
              <a:t>Empirical evaluation of o3-mini and DeepSeek R1 generating requirements from OSS issue titles</a:t>
            </a:r>
            <a:endParaRPr lang="en-US" sz="1150" dirty="0"/>
          </a:p>
        </p:txBody>
      </p:sp>
      <p:sp>
        <p:nvSpPr>
          <p:cNvPr id="12" name="Shape 10"/>
          <p:cNvSpPr/>
          <p:nvPr/>
        </p:nvSpPr>
        <p:spPr>
          <a:xfrm>
            <a:off x="7086600" y="2496312"/>
            <a:ext cx="4572000" cy="768096"/>
          </a:xfrm>
          <a:prstGeom prst="roundRect">
            <a:avLst>
              <a:gd name="adj" fmla="val 9524"/>
            </a:avLst>
          </a:prstGeom>
          <a:solidFill>
            <a:srgbClr val="17223A"/>
          </a:solidFill>
          <a:ln w="12700">
            <a:solidFill>
              <a:srgbClr val="2B3B58"/>
            </a:solidFill>
            <a:prstDash val="solid"/>
          </a:ln>
        </p:spPr>
      </p:sp>
      <p:sp>
        <p:nvSpPr>
          <p:cNvPr id="13" name="Text 11"/>
          <p:cNvSpPr txBox="1"/>
          <p:nvPr/>
        </p:nvSpPr>
        <p:spPr>
          <a:xfrm>
            <a:off x="7269480" y="2551176"/>
            <a:ext cx="640080" cy="640080"/>
          </a:xfrm>
          <a:prstGeom prst="rect">
            <a:avLst/>
          </a:prstGeom>
          <a:noFill/>
          <a:ln/>
        </p:spPr>
        <p:txBody>
          <a:bodyPr wrap="square" lIns="0" tIns="0" rIns="0" bIns="0" rtlCol="0" anchor="ctr"/>
          <a:lstStyle/>
          <a:p>
            <a:pPr indent="0" marL="0">
              <a:buNone/>
            </a:pPr>
            <a:r>
              <a:rPr lang="en-US" sz="1700" b="1" dirty="0">
                <a:solidFill>
                  <a:srgbClr val="C9A227"/>
                </a:solidFill>
                <a:latin typeface="Cambria" pitchFamily="34" charset="0"/>
                <a:ea typeface="Cambria" pitchFamily="34" charset="-122"/>
                <a:cs typeface="Cambria" pitchFamily="34" charset="-120"/>
              </a:rPr>
              <a:t>C2</a:t>
            </a:r>
            <a:endParaRPr lang="en-US" sz="1700" dirty="0"/>
          </a:p>
        </p:txBody>
      </p:sp>
      <p:sp>
        <p:nvSpPr>
          <p:cNvPr id="14" name="Text 12"/>
          <p:cNvSpPr txBox="1"/>
          <p:nvPr/>
        </p:nvSpPr>
        <p:spPr>
          <a:xfrm>
            <a:off x="7863840" y="2523744"/>
            <a:ext cx="3703320" cy="694944"/>
          </a:xfrm>
          <a:prstGeom prst="rect">
            <a:avLst/>
          </a:prstGeom>
          <a:noFill/>
          <a:ln/>
        </p:spPr>
        <p:txBody>
          <a:bodyPr wrap="square" lIns="0" tIns="0" rIns="0" bIns="0" rtlCol="0" anchor="ctr"/>
          <a:lstStyle/>
          <a:p>
            <a:pPr indent="0" marL="0">
              <a:buNone/>
            </a:pPr>
            <a:r>
              <a:rPr lang="en-US" sz="1150" dirty="0">
                <a:solidFill>
                  <a:srgbClr val="F4F6FA"/>
                </a:solidFill>
                <a:latin typeface="Calibri" pitchFamily="34" charset="0"/>
                <a:ea typeface="Calibri" pitchFamily="34" charset="-122"/>
                <a:cs typeface="Calibri" pitchFamily="34" charset="-120"/>
              </a:rPr>
              <a:t>Systematic comparison of three prompt-engineering techniques</a:t>
            </a:r>
            <a:endParaRPr lang="en-US" sz="1150" dirty="0"/>
          </a:p>
        </p:txBody>
      </p:sp>
      <p:sp>
        <p:nvSpPr>
          <p:cNvPr id="15" name="Shape 13"/>
          <p:cNvSpPr/>
          <p:nvPr/>
        </p:nvSpPr>
        <p:spPr>
          <a:xfrm>
            <a:off x="7086600" y="3392424"/>
            <a:ext cx="4572000" cy="768096"/>
          </a:xfrm>
          <a:prstGeom prst="roundRect">
            <a:avLst>
              <a:gd name="adj" fmla="val 9524"/>
            </a:avLst>
          </a:prstGeom>
          <a:solidFill>
            <a:srgbClr val="17223A"/>
          </a:solidFill>
          <a:ln w="12700">
            <a:solidFill>
              <a:srgbClr val="2B3B58"/>
            </a:solidFill>
            <a:prstDash val="solid"/>
          </a:ln>
        </p:spPr>
      </p:sp>
      <p:sp>
        <p:nvSpPr>
          <p:cNvPr id="16" name="Text 14"/>
          <p:cNvSpPr txBox="1"/>
          <p:nvPr/>
        </p:nvSpPr>
        <p:spPr>
          <a:xfrm>
            <a:off x="7269480" y="3447288"/>
            <a:ext cx="640080" cy="640080"/>
          </a:xfrm>
          <a:prstGeom prst="rect">
            <a:avLst/>
          </a:prstGeom>
          <a:noFill/>
          <a:ln/>
        </p:spPr>
        <p:txBody>
          <a:bodyPr wrap="square" lIns="0" tIns="0" rIns="0" bIns="0" rtlCol="0" anchor="ctr"/>
          <a:lstStyle/>
          <a:p>
            <a:pPr indent="0" marL="0">
              <a:buNone/>
            </a:pPr>
            <a:r>
              <a:rPr lang="en-US" sz="1700" b="1" dirty="0">
                <a:solidFill>
                  <a:srgbClr val="C9A227"/>
                </a:solidFill>
                <a:latin typeface="Cambria" pitchFamily="34" charset="0"/>
                <a:ea typeface="Cambria" pitchFamily="34" charset="-122"/>
                <a:cs typeface="Cambria" pitchFamily="34" charset="-120"/>
              </a:rPr>
              <a:t>C3</a:t>
            </a:r>
            <a:endParaRPr lang="en-US" sz="1700" dirty="0"/>
          </a:p>
        </p:txBody>
      </p:sp>
      <p:sp>
        <p:nvSpPr>
          <p:cNvPr id="17" name="Text 15"/>
          <p:cNvSpPr txBox="1"/>
          <p:nvPr/>
        </p:nvSpPr>
        <p:spPr>
          <a:xfrm>
            <a:off x="7863840" y="3419856"/>
            <a:ext cx="3703320" cy="694944"/>
          </a:xfrm>
          <a:prstGeom prst="rect">
            <a:avLst/>
          </a:prstGeom>
          <a:noFill/>
          <a:ln/>
        </p:spPr>
        <p:txBody>
          <a:bodyPr wrap="square" lIns="0" tIns="0" rIns="0" bIns="0" rtlCol="0" anchor="ctr"/>
          <a:lstStyle/>
          <a:p>
            <a:pPr indent="0" marL="0">
              <a:buNone/>
            </a:pPr>
            <a:r>
              <a:rPr lang="en-US" sz="1150" dirty="0">
                <a:solidFill>
                  <a:srgbClr val="F4F6FA"/>
                </a:solidFill>
                <a:latin typeface="Calibri" pitchFamily="34" charset="0"/>
                <a:ea typeface="Calibri" pitchFamily="34" charset="-122"/>
                <a:cs typeface="Calibri" pitchFamily="34" charset="-120"/>
              </a:rPr>
              <a:t>Few-shot consistently improves Singularity; Expert Identity introduces model-dependent trade-offs</a:t>
            </a:r>
            <a:endParaRPr lang="en-US" sz="1150" dirty="0"/>
          </a:p>
        </p:txBody>
      </p:sp>
      <p:sp>
        <p:nvSpPr>
          <p:cNvPr id="18" name="Shape 16"/>
          <p:cNvSpPr/>
          <p:nvPr/>
        </p:nvSpPr>
        <p:spPr>
          <a:xfrm>
            <a:off x="7086600" y="4288536"/>
            <a:ext cx="4572000" cy="768096"/>
          </a:xfrm>
          <a:prstGeom prst="roundRect">
            <a:avLst>
              <a:gd name="adj" fmla="val 9524"/>
            </a:avLst>
          </a:prstGeom>
          <a:solidFill>
            <a:srgbClr val="17223A"/>
          </a:solidFill>
          <a:ln w="12700">
            <a:solidFill>
              <a:srgbClr val="2B3B58"/>
            </a:solidFill>
            <a:prstDash val="solid"/>
          </a:ln>
        </p:spPr>
      </p:sp>
      <p:sp>
        <p:nvSpPr>
          <p:cNvPr id="19" name="Text 17"/>
          <p:cNvSpPr txBox="1"/>
          <p:nvPr/>
        </p:nvSpPr>
        <p:spPr>
          <a:xfrm>
            <a:off x="7269480" y="4343400"/>
            <a:ext cx="640080" cy="640080"/>
          </a:xfrm>
          <a:prstGeom prst="rect">
            <a:avLst/>
          </a:prstGeom>
          <a:noFill/>
          <a:ln/>
        </p:spPr>
        <p:txBody>
          <a:bodyPr wrap="square" lIns="0" tIns="0" rIns="0" bIns="0" rtlCol="0" anchor="ctr"/>
          <a:lstStyle/>
          <a:p>
            <a:pPr indent="0" marL="0">
              <a:buNone/>
            </a:pPr>
            <a:r>
              <a:rPr lang="en-US" sz="1700" b="1" dirty="0">
                <a:solidFill>
                  <a:srgbClr val="C9A227"/>
                </a:solidFill>
                <a:latin typeface="Cambria" pitchFamily="34" charset="0"/>
                <a:ea typeface="Cambria" pitchFamily="34" charset="-122"/>
                <a:cs typeface="Cambria" pitchFamily="34" charset="-120"/>
              </a:rPr>
              <a:t>C4</a:t>
            </a:r>
            <a:endParaRPr lang="en-US" sz="1700" dirty="0"/>
          </a:p>
        </p:txBody>
      </p:sp>
      <p:sp>
        <p:nvSpPr>
          <p:cNvPr id="20" name="Text 18"/>
          <p:cNvSpPr txBox="1"/>
          <p:nvPr/>
        </p:nvSpPr>
        <p:spPr>
          <a:xfrm>
            <a:off x="7863840" y="4315968"/>
            <a:ext cx="3703320" cy="694944"/>
          </a:xfrm>
          <a:prstGeom prst="rect">
            <a:avLst/>
          </a:prstGeom>
          <a:noFill/>
          <a:ln/>
        </p:spPr>
        <p:txBody>
          <a:bodyPr wrap="square" lIns="0" tIns="0" rIns="0" bIns="0" rtlCol="0" anchor="ctr"/>
          <a:lstStyle/>
          <a:p>
            <a:pPr indent="0" marL="0">
              <a:buNone/>
            </a:pPr>
            <a:r>
              <a:rPr lang="en-US" sz="1150" dirty="0">
                <a:solidFill>
                  <a:srgbClr val="F4F6FA"/>
                </a:solidFill>
                <a:latin typeface="Calibri" pitchFamily="34" charset="0"/>
                <a:ea typeface="Calibri" pitchFamily="34" charset="-122"/>
                <a:cs typeface="Calibri" pitchFamily="34" charset="-120"/>
              </a:rPr>
              <a:t>Validation of the LLM-as-a-Judge approach for scalable evaluation</a:t>
            </a:r>
            <a:endParaRPr lang="en-US" sz="1150" dirty="0"/>
          </a:p>
        </p:txBody>
      </p:sp>
      <p:sp>
        <p:nvSpPr>
          <p:cNvPr id="21" name="Shape 19"/>
          <p:cNvSpPr/>
          <p:nvPr/>
        </p:nvSpPr>
        <p:spPr>
          <a:xfrm>
            <a:off x="7086600" y="5184648"/>
            <a:ext cx="4572000" cy="768096"/>
          </a:xfrm>
          <a:prstGeom prst="roundRect">
            <a:avLst>
              <a:gd name="adj" fmla="val 9524"/>
            </a:avLst>
          </a:prstGeom>
          <a:solidFill>
            <a:srgbClr val="17223A"/>
          </a:solidFill>
          <a:ln w="12700">
            <a:solidFill>
              <a:srgbClr val="2B3B58"/>
            </a:solidFill>
            <a:prstDash val="solid"/>
          </a:ln>
        </p:spPr>
      </p:sp>
      <p:sp>
        <p:nvSpPr>
          <p:cNvPr id="22" name="Text 20"/>
          <p:cNvSpPr txBox="1"/>
          <p:nvPr/>
        </p:nvSpPr>
        <p:spPr>
          <a:xfrm>
            <a:off x="7269480" y="5239512"/>
            <a:ext cx="640080" cy="640080"/>
          </a:xfrm>
          <a:prstGeom prst="rect">
            <a:avLst/>
          </a:prstGeom>
          <a:noFill/>
          <a:ln/>
        </p:spPr>
        <p:txBody>
          <a:bodyPr wrap="square" lIns="0" tIns="0" rIns="0" bIns="0" rtlCol="0" anchor="ctr"/>
          <a:lstStyle/>
          <a:p>
            <a:pPr indent="0" marL="0">
              <a:buNone/>
            </a:pPr>
            <a:r>
              <a:rPr lang="en-US" sz="1700" b="1" dirty="0">
                <a:solidFill>
                  <a:srgbClr val="C9A227"/>
                </a:solidFill>
                <a:latin typeface="Cambria" pitchFamily="34" charset="0"/>
                <a:ea typeface="Cambria" pitchFamily="34" charset="-122"/>
                <a:cs typeface="Cambria" pitchFamily="34" charset="-120"/>
              </a:rPr>
              <a:t>C5</a:t>
            </a:r>
            <a:endParaRPr lang="en-US" sz="1700" dirty="0"/>
          </a:p>
        </p:txBody>
      </p:sp>
      <p:sp>
        <p:nvSpPr>
          <p:cNvPr id="23" name="Text 21"/>
          <p:cNvSpPr txBox="1"/>
          <p:nvPr/>
        </p:nvSpPr>
        <p:spPr>
          <a:xfrm>
            <a:off x="7863840" y="5212080"/>
            <a:ext cx="3703320" cy="694944"/>
          </a:xfrm>
          <a:prstGeom prst="rect">
            <a:avLst/>
          </a:prstGeom>
          <a:noFill/>
          <a:ln/>
        </p:spPr>
        <p:txBody>
          <a:bodyPr wrap="square" lIns="0" tIns="0" rIns="0" bIns="0" rtlCol="0" anchor="ctr"/>
          <a:lstStyle/>
          <a:p>
            <a:pPr indent="0" marL="0">
              <a:buNone/>
            </a:pPr>
            <a:r>
              <a:rPr lang="en-US" sz="1150" dirty="0">
                <a:solidFill>
                  <a:srgbClr val="F4F6FA"/>
                </a:solidFill>
                <a:latin typeface="Calibri" pitchFamily="34" charset="0"/>
                <a:ea typeface="Calibri" pitchFamily="34" charset="-122"/>
                <a:cs typeface="Calibri" pitchFamily="34" charset="-120"/>
              </a:rPr>
              <a:t>Qualitative insight into strengths and weaknesses of LLM-based requirement generation</a:t>
            </a:r>
            <a:endParaRPr lang="en-US" sz="1150" dirty="0"/>
          </a:p>
        </p:txBody>
      </p:sp>
      <p:sp>
        <p:nvSpPr>
          <p:cNvPr id="24" name="Text 22"/>
          <p:cNvSpPr txBox="1"/>
          <p:nvPr/>
        </p:nvSpPr>
        <p:spPr>
          <a:xfrm>
            <a:off x="502920" y="6547104"/>
            <a:ext cx="7772400" cy="256032"/>
          </a:xfrm>
          <a:prstGeom prst="rect">
            <a:avLst/>
          </a:prstGeom>
          <a:noFill/>
          <a:ln/>
        </p:spPr>
        <p:txBody>
          <a:bodyPr wrap="square" lIns="0" tIns="0" rIns="0" bIns="0" rtlCol="0" anchor="ctr"/>
          <a:lstStyle/>
          <a:p>
            <a:pPr algn="l" indent="0" marL="0">
              <a:buNone/>
            </a:pPr>
            <a:r>
              <a:rPr lang="en-US" sz="900" dirty="0">
                <a:solidFill>
                  <a:srgbClr val="748199"/>
                </a:solidFill>
                <a:latin typeface="Calibri" pitchFamily="34" charset="0"/>
                <a:ea typeface="Calibri" pitchFamily="34" charset="-122"/>
                <a:cs typeface="Calibri" pitchFamily="34" charset="-120"/>
              </a:rPr>
              <a:t>Requirements Engineering (2026) 31:7  •  Paiva, Canedo &amp; Rocha Filho</a:t>
            </a:r>
            <a:endParaRPr lang="en-US" sz="900" dirty="0"/>
          </a:p>
        </p:txBody>
      </p:sp>
      <p:sp>
        <p:nvSpPr>
          <p:cNvPr id="25" name="Text 23"/>
          <p:cNvSpPr txBox="1"/>
          <p:nvPr/>
        </p:nvSpPr>
        <p:spPr>
          <a:xfrm>
            <a:off x="10972800" y="6547104"/>
            <a:ext cx="731520" cy="256032"/>
          </a:xfrm>
          <a:prstGeom prst="rect">
            <a:avLst/>
          </a:prstGeom>
          <a:noFill/>
          <a:ln/>
        </p:spPr>
        <p:txBody>
          <a:bodyPr wrap="square" lIns="0" tIns="0" rIns="0" bIns="0" rtlCol="0" anchor="ctr"/>
          <a:lstStyle/>
          <a:p>
            <a:pPr algn="r" indent="0" marL="0">
              <a:buNone/>
            </a:pPr>
            <a:r>
              <a:rPr lang="en-US" sz="900" dirty="0">
                <a:solidFill>
                  <a:srgbClr val="748199"/>
                </a:solidFill>
                <a:latin typeface="Calibri" pitchFamily="34" charset="0"/>
                <a:ea typeface="Calibri" pitchFamily="34" charset="-122"/>
                <a:cs typeface="Calibri" pitchFamily="34" charset="-120"/>
              </a:rPr>
              <a:t>03 / 20</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321"/>
        </a:solidFill>
      </p:bgPr>
    </p:bg>
    <p:spTree>
      <p:nvGrpSpPr>
        <p:cNvPr id="1" name=""/>
        <p:cNvGrpSpPr/>
        <p:nvPr/>
      </p:nvGrpSpPr>
      <p:grpSpPr>
        <a:xfrm>
          <a:off x="0" y="0"/>
          <a:ext cx="0" cy="0"/>
          <a:chOff x="0" y="0"/>
          <a:chExt cx="0" cy="0"/>
        </a:xfrm>
      </p:grpSpPr>
      <p:sp>
        <p:nvSpPr>
          <p:cNvPr id="2" name="Shape 0"/>
          <p:cNvSpPr/>
          <p:nvPr/>
        </p:nvSpPr>
        <p:spPr>
          <a:xfrm>
            <a:off x="502920" y="457200"/>
            <a:ext cx="128016" cy="128016"/>
          </a:xfrm>
          <a:prstGeom prst="rect">
            <a:avLst/>
          </a:prstGeom>
          <a:solidFill>
            <a:srgbClr val="C9A227"/>
          </a:solidFill>
          <a:ln/>
        </p:spPr>
      </p:sp>
      <p:sp>
        <p:nvSpPr>
          <p:cNvPr id="3" name="Text 1"/>
          <p:cNvSpPr txBox="1"/>
          <p:nvPr/>
        </p:nvSpPr>
        <p:spPr>
          <a:xfrm>
            <a:off x="749808" y="347472"/>
            <a:ext cx="9144000" cy="292608"/>
          </a:xfrm>
          <a:prstGeom prst="rect">
            <a:avLst/>
          </a:prstGeom>
          <a:noFill/>
          <a:ln/>
        </p:spPr>
        <p:txBody>
          <a:bodyPr wrap="square" lIns="0" tIns="0" rIns="0" bIns="0" rtlCol="0" anchor="ctr"/>
          <a:lstStyle/>
          <a:p>
            <a:pPr indent="0" marL="0">
              <a:buNone/>
            </a:pPr>
            <a:r>
              <a:rPr lang="en-US" sz="1250" b="1" spc="200" kern="0" dirty="0">
                <a:solidFill>
                  <a:srgbClr val="C9A227"/>
                </a:solidFill>
                <a:latin typeface="Calibri" pitchFamily="34" charset="0"/>
                <a:ea typeface="Calibri" pitchFamily="34" charset="-122"/>
                <a:cs typeface="Calibri" pitchFamily="34" charset="-120"/>
              </a:rPr>
              <a:t>RESEARCH QUESTIONS</a:t>
            </a:r>
            <a:endParaRPr lang="en-US" sz="1250" dirty="0"/>
          </a:p>
        </p:txBody>
      </p:sp>
      <p:sp>
        <p:nvSpPr>
          <p:cNvPr id="4" name="Text 2"/>
          <p:cNvSpPr txBox="1"/>
          <p:nvPr/>
        </p:nvSpPr>
        <p:spPr>
          <a:xfrm>
            <a:off x="502920" y="658368"/>
            <a:ext cx="11155680" cy="685800"/>
          </a:xfrm>
          <a:prstGeom prst="rect">
            <a:avLst/>
          </a:prstGeom>
          <a:noFill/>
          <a:ln/>
        </p:spPr>
        <p:txBody>
          <a:bodyPr wrap="square" lIns="0" tIns="0" rIns="0" bIns="0" rtlCol="0" anchor="ctr"/>
          <a:lstStyle/>
          <a:p>
            <a:pPr indent="0" marL="0">
              <a:buNone/>
            </a:pPr>
            <a:r>
              <a:rPr lang="en-US" sz="3000" b="1" dirty="0">
                <a:solidFill>
                  <a:srgbClr val="F4F6FA"/>
                </a:solidFill>
                <a:latin typeface="Cambria" pitchFamily="34" charset="0"/>
                <a:ea typeface="Cambria" pitchFamily="34" charset="-122"/>
                <a:cs typeface="Cambria" pitchFamily="34" charset="-120"/>
              </a:rPr>
              <a:t>Three Questions Driving the Study</a:t>
            </a:r>
            <a:endParaRPr lang="en-US" sz="3000" dirty="0"/>
          </a:p>
        </p:txBody>
      </p:sp>
      <p:sp>
        <p:nvSpPr>
          <p:cNvPr id="5" name="Shape 3"/>
          <p:cNvSpPr/>
          <p:nvPr/>
        </p:nvSpPr>
        <p:spPr>
          <a:xfrm>
            <a:off x="502920" y="1737360"/>
            <a:ext cx="3493008" cy="4297680"/>
          </a:xfrm>
          <a:prstGeom prst="roundRect">
            <a:avLst>
              <a:gd name="adj" fmla="val 2094"/>
            </a:avLst>
          </a:prstGeom>
          <a:solidFill>
            <a:srgbClr val="17223A"/>
          </a:solidFill>
          <a:ln w="12700">
            <a:solidFill>
              <a:srgbClr val="2B3B58"/>
            </a:solidFill>
            <a:prstDash val="solid"/>
          </a:ln>
          <a:effectLst>
            <a:outerShdw sx="100000" sy="100000" kx="0" ky="0" algn="bl" rotWithShape="0" blurRad="101600" dist="38100" dir="5400000">
              <a:srgbClr val="000000">
                <a:alpha val="35000"/>
              </a:srgbClr>
            </a:outerShdw>
          </a:effectLst>
        </p:spPr>
      </p:sp>
      <p:sp>
        <p:nvSpPr>
          <p:cNvPr id="6" name="Shape 4"/>
          <p:cNvSpPr/>
          <p:nvPr/>
        </p:nvSpPr>
        <p:spPr>
          <a:xfrm>
            <a:off x="777240" y="2011680"/>
            <a:ext cx="777240" cy="777240"/>
          </a:xfrm>
          <a:prstGeom prst="ellipse">
            <a:avLst/>
          </a:prstGeom>
          <a:solidFill>
            <a:srgbClr val="1A2740"/>
          </a:solidFill>
          <a:ln w="19050">
            <a:solidFill>
              <a:srgbClr val="C9A227"/>
            </a:solidFill>
            <a:prstDash val="solid"/>
          </a:ln>
        </p:spPr>
      </p:sp>
      <p:sp>
        <p:nvSpPr>
          <p:cNvPr id="7" name="Text 5"/>
          <p:cNvSpPr txBox="1"/>
          <p:nvPr/>
        </p:nvSpPr>
        <p:spPr>
          <a:xfrm>
            <a:off x="777240" y="2011680"/>
            <a:ext cx="777240" cy="777240"/>
          </a:xfrm>
          <a:prstGeom prst="rect">
            <a:avLst/>
          </a:prstGeom>
          <a:noFill/>
          <a:ln/>
        </p:spPr>
        <p:txBody>
          <a:bodyPr wrap="square" lIns="0" tIns="0" rIns="0" bIns="0" rtlCol="0" anchor="ctr"/>
          <a:lstStyle/>
          <a:p>
            <a:pPr algn="ctr" indent="0" marL="0">
              <a:buNone/>
            </a:pPr>
            <a:r>
              <a:rPr lang="en-US" sz="1800" b="1" dirty="0">
                <a:solidFill>
                  <a:srgbClr val="C9A227"/>
                </a:solidFill>
                <a:latin typeface="Cambria" pitchFamily="34" charset="0"/>
                <a:ea typeface="Cambria" pitchFamily="34" charset="-122"/>
                <a:cs typeface="Cambria" pitchFamily="34" charset="-120"/>
              </a:rPr>
              <a:t>RQ1</a:t>
            </a:r>
            <a:endParaRPr lang="en-US" sz="1800" dirty="0"/>
          </a:p>
        </p:txBody>
      </p:sp>
      <p:sp>
        <p:nvSpPr>
          <p:cNvPr id="8" name="Text 6"/>
          <p:cNvSpPr txBox="1"/>
          <p:nvPr/>
        </p:nvSpPr>
        <p:spPr>
          <a:xfrm>
            <a:off x="777240" y="2926080"/>
            <a:ext cx="2944368" cy="320040"/>
          </a:xfrm>
          <a:prstGeom prst="rect">
            <a:avLst/>
          </a:prstGeom>
          <a:noFill/>
          <a:ln/>
        </p:spPr>
        <p:txBody>
          <a:bodyPr wrap="square" lIns="0" tIns="0" rIns="0" bIns="0" rtlCol="0" anchor="ctr"/>
          <a:lstStyle/>
          <a:p>
            <a:pPr indent="0" marL="0">
              <a:buNone/>
            </a:pPr>
            <a:r>
              <a:rPr lang="en-US" sz="1200" b="1" spc="100" kern="0" dirty="0">
                <a:solidFill>
                  <a:srgbClr val="9FB0C7"/>
                </a:solidFill>
                <a:latin typeface="Calibri" pitchFamily="34" charset="0"/>
                <a:ea typeface="Calibri" pitchFamily="34" charset="-122"/>
                <a:cs typeface="Calibri" pitchFamily="34" charset="-120"/>
              </a:rPr>
              <a:t>EFFECTIVENESS</a:t>
            </a:r>
            <a:endParaRPr lang="en-US" sz="1200" dirty="0"/>
          </a:p>
        </p:txBody>
      </p:sp>
      <p:sp>
        <p:nvSpPr>
          <p:cNvPr id="9" name="Text 7"/>
          <p:cNvSpPr txBox="1"/>
          <p:nvPr/>
        </p:nvSpPr>
        <p:spPr>
          <a:xfrm>
            <a:off x="777240" y="3291840"/>
            <a:ext cx="2944368" cy="2606040"/>
          </a:xfrm>
          <a:prstGeom prst="rect">
            <a:avLst/>
          </a:prstGeom>
          <a:noFill/>
          <a:ln/>
        </p:spPr>
        <p:txBody>
          <a:bodyPr wrap="square" lIns="0" tIns="0" rIns="0" bIns="0" rtlCol="0" anchor="t"/>
          <a:lstStyle/>
          <a:p>
            <a:pPr indent="0" marL="0">
              <a:buNone/>
            </a:pPr>
            <a:r>
              <a:rPr lang="en-US" sz="1450" dirty="0">
                <a:solidFill>
                  <a:srgbClr val="F4F6FA"/>
                </a:solidFill>
                <a:latin typeface="Calibri" pitchFamily="34" charset="0"/>
                <a:ea typeface="Calibri" pitchFamily="34" charset="-122"/>
                <a:cs typeface="Calibri" pitchFamily="34" charset="-120"/>
              </a:rPr>
              <a:t>How effective are LLMs in generating software requirements from feature requests in open-source software projects?</a:t>
            </a:r>
            <a:endParaRPr lang="en-US" sz="1450" dirty="0"/>
          </a:p>
        </p:txBody>
      </p:sp>
      <p:sp>
        <p:nvSpPr>
          <p:cNvPr id="10" name="Shape 8"/>
          <p:cNvSpPr/>
          <p:nvPr/>
        </p:nvSpPr>
        <p:spPr>
          <a:xfrm>
            <a:off x="4133088" y="1737360"/>
            <a:ext cx="3493008" cy="4297680"/>
          </a:xfrm>
          <a:prstGeom prst="roundRect">
            <a:avLst>
              <a:gd name="adj" fmla="val 2094"/>
            </a:avLst>
          </a:prstGeom>
          <a:solidFill>
            <a:srgbClr val="17223A"/>
          </a:solidFill>
          <a:ln w="12700">
            <a:solidFill>
              <a:srgbClr val="2B3B58"/>
            </a:solidFill>
            <a:prstDash val="solid"/>
          </a:ln>
          <a:effectLst>
            <a:outerShdw sx="100000" sy="100000" kx="0" ky="0" algn="bl" rotWithShape="0" blurRad="101600" dist="38100" dir="5400000">
              <a:srgbClr val="000000">
                <a:alpha val="35000"/>
              </a:srgbClr>
            </a:outerShdw>
          </a:effectLst>
        </p:spPr>
      </p:sp>
      <p:sp>
        <p:nvSpPr>
          <p:cNvPr id="11" name="Shape 9"/>
          <p:cNvSpPr/>
          <p:nvPr/>
        </p:nvSpPr>
        <p:spPr>
          <a:xfrm>
            <a:off x="4407408" y="2011680"/>
            <a:ext cx="777240" cy="777240"/>
          </a:xfrm>
          <a:prstGeom prst="ellipse">
            <a:avLst/>
          </a:prstGeom>
          <a:solidFill>
            <a:srgbClr val="1A2740"/>
          </a:solidFill>
          <a:ln w="19050">
            <a:solidFill>
              <a:srgbClr val="C9A227"/>
            </a:solidFill>
            <a:prstDash val="solid"/>
          </a:ln>
        </p:spPr>
      </p:sp>
      <p:sp>
        <p:nvSpPr>
          <p:cNvPr id="12" name="Text 10"/>
          <p:cNvSpPr txBox="1"/>
          <p:nvPr/>
        </p:nvSpPr>
        <p:spPr>
          <a:xfrm>
            <a:off x="4407408" y="2011680"/>
            <a:ext cx="777240" cy="777240"/>
          </a:xfrm>
          <a:prstGeom prst="rect">
            <a:avLst/>
          </a:prstGeom>
          <a:noFill/>
          <a:ln/>
        </p:spPr>
        <p:txBody>
          <a:bodyPr wrap="square" lIns="0" tIns="0" rIns="0" bIns="0" rtlCol="0" anchor="ctr"/>
          <a:lstStyle/>
          <a:p>
            <a:pPr algn="ctr" indent="0" marL="0">
              <a:buNone/>
            </a:pPr>
            <a:r>
              <a:rPr lang="en-US" sz="1800" b="1" dirty="0">
                <a:solidFill>
                  <a:srgbClr val="C9A227"/>
                </a:solidFill>
                <a:latin typeface="Cambria" pitchFamily="34" charset="0"/>
                <a:ea typeface="Cambria" pitchFamily="34" charset="-122"/>
                <a:cs typeface="Cambria" pitchFamily="34" charset="-120"/>
              </a:rPr>
              <a:t>RQ2</a:t>
            </a:r>
            <a:endParaRPr lang="en-US" sz="1800" dirty="0"/>
          </a:p>
        </p:txBody>
      </p:sp>
      <p:sp>
        <p:nvSpPr>
          <p:cNvPr id="13" name="Text 11"/>
          <p:cNvSpPr txBox="1"/>
          <p:nvPr/>
        </p:nvSpPr>
        <p:spPr>
          <a:xfrm>
            <a:off x="4407408" y="2926080"/>
            <a:ext cx="2944368" cy="320040"/>
          </a:xfrm>
          <a:prstGeom prst="rect">
            <a:avLst/>
          </a:prstGeom>
          <a:noFill/>
          <a:ln/>
        </p:spPr>
        <p:txBody>
          <a:bodyPr wrap="square" lIns="0" tIns="0" rIns="0" bIns="0" rtlCol="0" anchor="ctr"/>
          <a:lstStyle/>
          <a:p>
            <a:pPr indent="0" marL="0">
              <a:buNone/>
            </a:pPr>
            <a:r>
              <a:rPr lang="en-US" sz="1200" b="1" spc="100" kern="0" dirty="0">
                <a:solidFill>
                  <a:srgbClr val="9FB0C7"/>
                </a:solidFill>
                <a:latin typeface="Calibri" pitchFamily="34" charset="0"/>
                <a:ea typeface="Calibri" pitchFamily="34" charset="-122"/>
                <a:cs typeface="Calibri" pitchFamily="34" charset="-120"/>
              </a:rPr>
              <a:t>PROMPT INFLUENCE</a:t>
            </a:r>
            <a:endParaRPr lang="en-US" sz="1200" dirty="0"/>
          </a:p>
        </p:txBody>
      </p:sp>
      <p:sp>
        <p:nvSpPr>
          <p:cNvPr id="14" name="Text 12"/>
          <p:cNvSpPr txBox="1"/>
          <p:nvPr/>
        </p:nvSpPr>
        <p:spPr>
          <a:xfrm>
            <a:off x="4407408" y="3291840"/>
            <a:ext cx="2944368" cy="2606040"/>
          </a:xfrm>
          <a:prstGeom prst="rect">
            <a:avLst/>
          </a:prstGeom>
          <a:noFill/>
          <a:ln/>
        </p:spPr>
        <p:txBody>
          <a:bodyPr wrap="square" lIns="0" tIns="0" rIns="0" bIns="0" rtlCol="0" anchor="t"/>
          <a:lstStyle/>
          <a:p>
            <a:pPr indent="0" marL="0">
              <a:buNone/>
            </a:pPr>
            <a:r>
              <a:rPr lang="en-US" sz="1450" dirty="0">
                <a:solidFill>
                  <a:srgbClr val="F4F6FA"/>
                </a:solidFill>
                <a:latin typeface="Calibri" pitchFamily="34" charset="0"/>
                <a:ea typeface="Calibri" pitchFamily="34" charset="-122"/>
                <a:cs typeface="Calibri" pitchFamily="34" charset="-120"/>
              </a:rPr>
              <a:t>To what extent does the prompt-engineering strategy influence the quality of requirements generated by LLMs?</a:t>
            </a:r>
            <a:endParaRPr lang="en-US" sz="1450" dirty="0"/>
          </a:p>
        </p:txBody>
      </p:sp>
      <p:sp>
        <p:nvSpPr>
          <p:cNvPr id="15" name="Shape 13"/>
          <p:cNvSpPr/>
          <p:nvPr/>
        </p:nvSpPr>
        <p:spPr>
          <a:xfrm>
            <a:off x="7763256" y="1737360"/>
            <a:ext cx="3493008" cy="4297680"/>
          </a:xfrm>
          <a:prstGeom prst="roundRect">
            <a:avLst>
              <a:gd name="adj" fmla="val 2094"/>
            </a:avLst>
          </a:prstGeom>
          <a:solidFill>
            <a:srgbClr val="17223A"/>
          </a:solidFill>
          <a:ln w="12700">
            <a:solidFill>
              <a:srgbClr val="2B3B58"/>
            </a:solidFill>
            <a:prstDash val="solid"/>
          </a:ln>
          <a:effectLst>
            <a:outerShdw sx="100000" sy="100000" kx="0" ky="0" algn="bl" rotWithShape="0" blurRad="101600" dist="38100" dir="5400000">
              <a:srgbClr val="000000">
                <a:alpha val="35000"/>
              </a:srgbClr>
            </a:outerShdw>
          </a:effectLst>
        </p:spPr>
      </p:sp>
      <p:sp>
        <p:nvSpPr>
          <p:cNvPr id="16" name="Shape 14"/>
          <p:cNvSpPr/>
          <p:nvPr/>
        </p:nvSpPr>
        <p:spPr>
          <a:xfrm>
            <a:off x="8037576" y="2011680"/>
            <a:ext cx="777240" cy="777240"/>
          </a:xfrm>
          <a:prstGeom prst="ellipse">
            <a:avLst/>
          </a:prstGeom>
          <a:solidFill>
            <a:srgbClr val="1A2740"/>
          </a:solidFill>
          <a:ln w="19050">
            <a:solidFill>
              <a:srgbClr val="C9A227"/>
            </a:solidFill>
            <a:prstDash val="solid"/>
          </a:ln>
        </p:spPr>
      </p:sp>
      <p:sp>
        <p:nvSpPr>
          <p:cNvPr id="17" name="Text 15"/>
          <p:cNvSpPr txBox="1"/>
          <p:nvPr/>
        </p:nvSpPr>
        <p:spPr>
          <a:xfrm>
            <a:off x="8037576" y="2011680"/>
            <a:ext cx="777240" cy="777240"/>
          </a:xfrm>
          <a:prstGeom prst="rect">
            <a:avLst/>
          </a:prstGeom>
          <a:noFill/>
          <a:ln/>
        </p:spPr>
        <p:txBody>
          <a:bodyPr wrap="square" lIns="0" tIns="0" rIns="0" bIns="0" rtlCol="0" anchor="ctr"/>
          <a:lstStyle/>
          <a:p>
            <a:pPr algn="ctr" indent="0" marL="0">
              <a:buNone/>
            </a:pPr>
            <a:r>
              <a:rPr lang="en-US" sz="1800" b="1" dirty="0">
                <a:solidFill>
                  <a:srgbClr val="C9A227"/>
                </a:solidFill>
                <a:latin typeface="Cambria" pitchFamily="34" charset="0"/>
                <a:ea typeface="Cambria" pitchFamily="34" charset="-122"/>
                <a:cs typeface="Cambria" pitchFamily="34" charset="-120"/>
              </a:rPr>
              <a:t>RQ3</a:t>
            </a:r>
            <a:endParaRPr lang="en-US" sz="1800" dirty="0"/>
          </a:p>
        </p:txBody>
      </p:sp>
      <p:sp>
        <p:nvSpPr>
          <p:cNvPr id="18" name="Text 16"/>
          <p:cNvSpPr txBox="1"/>
          <p:nvPr/>
        </p:nvSpPr>
        <p:spPr>
          <a:xfrm>
            <a:off x="8037576" y="2926080"/>
            <a:ext cx="2944368" cy="320040"/>
          </a:xfrm>
          <a:prstGeom prst="rect">
            <a:avLst/>
          </a:prstGeom>
          <a:noFill/>
          <a:ln/>
        </p:spPr>
        <p:txBody>
          <a:bodyPr wrap="square" lIns="0" tIns="0" rIns="0" bIns="0" rtlCol="0" anchor="ctr"/>
          <a:lstStyle/>
          <a:p>
            <a:pPr indent="0" marL="0">
              <a:buNone/>
            </a:pPr>
            <a:r>
              <a:rPr lang="en-US" sz="1200" b="1" spc="100" kern="0" dirty="0">
                <a:solidFill>
                  <a:srgbClr val="9FB0C7"/>
                </a:solidFill>
                <a:latin typeface="Calibri" pitchFamily="34" charset="0"/>
                <a:ea typeface="Calibri" pitchFamily="34" charset="-122"/>
                <a:cs typeface="Calibri" pitchFamily="34" charset="-120"/>
              </a:rPr>
              <a:t>QUALITATIVE PATTERNS</a:t>
            </a:r>
            <a:endParaRPr lang="en-US" sz="1200" dirty="0"/>
          </a:p>
        </p:txBody>
      </p:sp>
      <p:sp>
        <p:nvSpPr>
          <p:cNvPr id="19" name="Text 17"/>
          <p:cNvSpPr txBox="1"/>
          <p:nvPr/>
        </p:nvSpPr>
        <p:spPr>
          <a:xfrm>
            <a:off x="8037576" y="3291840"/>
            <a:ext cx="2944368" cy="2606040"/>
          </a:xfrm>
          <a:prstGeom prst="rect">
            <a:avLst/>
          </a:prstGeom>
          <a:noFill/>
          <a:ln/>
        </p:spPr>
        <p:txBody>
          <a:bodyPr wrap="square" lIns="0" tIns="0" rIns="0" bIns="0" rtlCol="0" anchor="t"/>
          <a:lstStyle/>
          <a:p>
            <a:pPr indent="0" marL="0">
              <a:buNone/>
            </a:pPr>
            <a:r>
              <a:rPr lang="en-US" sz="1450" dirty="0">
                <a:solidFill>
                  <a:srgbClr val="F4F6FA"/>
                </a:solidFill>
                <a:latin typeface="Calibri" pitchFamily="34" charset="0"/>
                <a:ea typeface="Calibri" pitchFamily="34" charset="-122"/>
                <a:cs typeface="Calibri" pitchFamily="34" charset="-120"/>
              </a:rPr>
              <a:t>What are the common qualitative characteristics, strengths and weaknesses observed in the generated requirements?</a:t>
            </a:r>
            <a:endParaRPr lang="en-US" sz="1450" dirty="0"/>
          </a:p>
        </p:txBody>
      </p:sp>
      <p:sp>
        <p:nvSpPr>
          <p:cNvPr id="20" name="Text 18"/>
          <p:cNvSpPr txBox="1"/>
          <p:nvPr/>
        </p:nvSpPr>
        <p:spPr>
          <a:xfrm>
            <a:off x="502920" y="6547104"/>
            <a:ext cx="7772400" cy="256032"/>
          </a:xfrm>
          <a:prstGeom prst="rect">
            <a:avLst/>
          </a:prstGeom>
          <a:noFill/>
          <a:ln/>
        </p:spPr>
        <p:txBody>
          <a:bodyPr wrap="square" lIns="0" tIns="0" rIns="0" bIns="0" rtlCol="0" anchor="ctr"/>
          <a:lstStyle/>
          <a:p>
            <a:pPr algn="l" indent="0" marL="0">
              <a:buNone/>
            </a:pPr>
            <a:r>
              <a:rPr lang="en-US" sz="900" dirty="0">
                <a:solidFill>
                  <a:srgbClr val="748199"/>
                </a:solidFill>
                <a:latin typeface="Calibri" pitchFamily="34" charset="0"/>
                <a:ea typeface="Calibri" pitchFamily="34" charset="-122"/>
                <a:cs typeface="Calibri" pitchFamily="34" charset="-120"/>
              </a:rPr>
              <a:t>Requirements Engineering (2026) 31:7  •  Paiva, Canedo &amp; Rocha Filho</a:t>
            </a:r>
            <a:endParaRPr lang="en-US" sz="900" dirty="0"/>
          </a:p>
        </p:txBody>
      </p:sp>
      <p:sp>
        <p:nvSpPr>
          <p:cNvPr id="21" name="Text 19"/>
          <p:cNvSpPr txBox="1"/>
          <p:nvPr/>
        </p:nvSpPr>
        <p:spPr>
          <a:xfrm>
            <a:off x="10972800" y="6547104"/>
            <a:ext cx="731520" cy="256032"/>
          </a:xfrm>
          <a:prstGeom prst="rect">
            <a:avLst/>
          </a:prstGeom>
          <a:noFill/>
          <a:ln/>
        </p:spPr>
        <p:txBody>
          <a:bodyPr wrap="square" lIns="0" tIns="0" rIns="0" bIns="0" rtlCol="0" anchor="ctr"/>
          <a:lstStyle/>
          <a:p>
            <a:pPr algn="r" indent="0" marL="0">
              <a:buNone/>
            </a:pPr>
            <a:r>
              <a:rPr lang="en-US" sz="900" dirty="0">
                <a:solidFill>
                  <a:srgbClr val="748199"/>
                </a:solidFill>
                <a:latin typeface="Calibri" pitchFamily="34" charset="0"/>
                <a:ea typeface="Calibri" pitchFamily="34" charset="-122"/>
                <a:cs typeface="Calibri" pitchFamily="34" charset="-120"/>
              </a:rPr>
              <a:t>04 / 20</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321"/>
        </a:solidFill>
      </p:bgPr>
    </p:bg>
    <p:spTree>
      <p:nvGrpSpPr>
        <p:cNvPr id="1" name=""/>
        <p:cNvGrpSpPr/>
        <p:nvPr/>
      </p:nvGrpSpPr>
      <p:grpSpPr>
        <a:xfrm>
          <a:off x="0" y="0"/>
          <a:ext cx="0" cy="0"/>
          <a:chOff x="0" y="0"/>
          <a:chExt cx="0" cy="0"/>
        </a:xfrm>
      </p:grpSpPr>
      <p:sp>
        <p:nvSpPr>
          <p:cNvPr id="2" name="Shape 0"/>
          <p:cNvSpPr/>
          <p:nvPr/>
        </p:nvSpPr>
        <p:spPr>
          <a:xfrm>
            <a:off x="502920" y="457200"/>
            <a:ext cx="128016" cy="128016"/>
          </a:xfrm>
          <a:prstGeom prst="rect">
            <a:avLst/>
          </a:prstGeom>
          <a:solidFill>
            <a:srgbClr val="C9A227"/>
          </a:solidFill>
          <a:ln/>
        </p:spPr>
      </p:sp>
      <p:sp>
        <p:nvSpPr>
          <p:cNvPr id="3" name="Text 1"/>
          <p:cNvSpPr txBox="1"/>
          <p:nvPr/>
        </p:nvSpPr>
        <p:spPr>
          <a:xfrm>
            <a:off x="749808" y="347472"/>
            <a:ext cx="9144000" cy="292608"/>
          </a:xfrm>
          <a:prstGeom prst="rect">
            <a:avLst/>
          </a:prstGeom>
          <a:noFill/>
          <a:ln/>
        </p:spPr>
        <p:txBody>
          <a:bodyPr wrap="square" lIns="0" tIns="0" rIns="0" bIns="0" rtlCol="0" anchor="ctr"/>
          <a:lstStyle/>
          <a:p>
            <a:pPr indent="0" marL="0">
              <a:buNone/>
            </a:pPr>
            <a:r>
              <a:rPr lang="en-US" sz="1250" b="1" spc="200" kern="0" dirty="0">
                <a:solidFill>
                  <a:srgbClr val="C9A227"/>
                </a:solidFill>
                <a:latin typeface="Calibri" pitchFamily="34" charset="0"/>
                <a:ea typeface="Calibri" pitchFamily="34" charset="-122"/>
                <a:cs typeface="Calibri" pitchFamily="34" charset="-120"/>
              </a:rPr>
              <a:t>DATA COLLECTION</a:t>
            </a:r>
            <a:endParaRPr lang="en-US" sz="1250" dirty="0"/>
          </a:p>
        </p:txBody>
      </p:sp>
      <p:sp>
        <p:nvSpPr>
          <p:cNvPr id="4" name="Text 2"/>
          <p:cNvSpPr txBox="1"/>
          <p:nvPr/>
        </p:nvSpPr>
        <p:spPr>
          <a:xfrm>
            <a:off x="502920" y="658368"/>
            <a:ext cx="11155680" cy="685800"/>
          </a:xfrm>
          <a:prstGeom prst="rect">
            <a:avLst/>
          </a:prstGeom>
          <a:noFill/>
          <a:ln/>
        </p:spPr>
        <p:txBody>
          <a:bodyPr wrap="square" lIns="0" tIns="0" rIns="0" bIns="0" rtlCol="0" anchor="ctr"/>
          <a:lstStyle/>
          <a:p>
            <a:pPr indent="0" marL="0">
              <a:buNone/>
            </a:pPr>
            <a:r>
              <a:rPr lang="en-US" sz="3000" b="1" dirty="0">
                <a:solidFill>
                  <a:srgbClr val="F4F6FA"/>
                </a:solidFill>
                <a:latin typeface="Cambria" pitchFamily="34" charset="0"/>
                <a:ea typeface="Cambria" pitchFamily="34" charset="-122"/>
                <a:cs typeface="Cambria" pitchFamily="34" charset="-120"/>
              </a:rPr>
              <a:t>Dataset: 150 OSS Feature Requests</a:t>
            </a:r>
            <a:endParaRPr lang="en-US" sz="3000" dirty="0"/>
          </a:p>
        </p:txBody>
      </p:sp>
      <p:sp>
        <p:nvSpPr>
          <p:cNvPr id="5" name="Text 3"/>
          <p:cNvSpPr txBox="1"/>
          <p:nvPr/>
        </p:nvSpPr>
        <p:spPr>
          <a:xfrm>
            <a:off x="502920" y="1554480"/>
            <a:ext cx="5120640" cy="2743200"/>
          </a:xfrm>
          <a:prstGeom prst="rect">
            <a:avLst/>
          </a:prstGeom>
          <a:noFill/>
          <a:ln/>
        </p:spPr>
        <p:txBody>
          <a:bodyPr wrap="square" lIns="0" tIns="0" rIns="0" bIns="0" rtlCol="0" anchor="t"/>
          <a:lstStyle/>
          <a:p>
            <a:pPr marL="228600" indent="-228600">
              <a:spcAft>
                <a:spcPts val="1400"/>
              </a:spcAft>
              <a:buSzPct val="100000"/>
              <a:buChar char="•"/>
            </a:pPr>
            <a:r>
              <a:rPr lang="en-US" sz="1450" dirty="0">
                <a:solidFill>
                  <a:srgbClr val="F4F6FA"/>
                </a:solidFill>
                <a:latin typeface="Calibri" pitchFamily="34" charset="0"/>
                <a:ea typeface="Calibri" pitchFamily="34" charset="-122"/>
                <a:cs typeface="Calibri" pitchFamily="34" charset="-120"/>
              </a:rPr>
              <a:t>Top 5 most active open-source GitHub repositories by issue count, chosen to span diverse software domains.</a:t>
            </a:r>
            <a:endParaRPr lang="en-US" sz="1450" dirty="0"/>
          </a:p>
          <a:p>
            <a:pPr marL="228600" indent="-228600">
              <a:spcAft>
                <a:spcPts val="1400"/>
              </a:spcAft>
              <a:buSzPct val="100000"/>
              <a:buChar char="•"/>
            </a:pPr>
            <a:r>
              <a:rPr lang="en-US" sz="1450" dirty="0">
                <a:solidFill>
                  <a:srgbClr val="F4F6FA"/>
                </a:solidFill>
                <a:latin typeface="Calibri" pitchFamily="34" charset="0"/>
                <a:ea typeface="Calibri" pitchFamily="34" charset="-122"/>
                <a:cs typeface="Calibri" pitchFamily="34" charset="-120"/>
              </a:rPr>
              <a:t>30 most active “feature request” issues per repository, ranked by GitHub reactions — ensuring genuine, well-discussed functional needs.</a:t>
            </a:r>
            <a:endParaRPr lang="en-US" sz="1450" dirty="0"/>
          </a:p>
          <a:p>
            <a:pPr marL="228600" indent="-228600">
              <a:spcAft>
                <a:spcPts val="1400"/>
              </a:spcAft>
              <a:buSzPct val="100000"/>
              <a:buChar char="•"/>
            </a:pPr>
            <a:r>
              <a:rPr lang="en-US" sz="1450" dirty="0">
                <a:solidFill>
                  <a:srgbClr val="F4F6FA"/>
                </a:solidFill>
                <a:latin typeface="Calibri" pitchFamily="34" charset="0"/>
                <a:ea typeface="Calibri" pitchFamily="34" charset="-122"/>
                <a:cs typeface="Calibri" pitchFamily="34" charset="-120"/>
              </a:rPr>
              <a:t>Only the issue title is used as input — modelling the minimal-context scenario common in OSS backlogs.</a:t>
            </a:r>
            <a:endParaRPr lang="en-US" sz="1450" dirty="0"/>
          </a:p>
        </p:txBody>
      </p:sp>
      <p:sp>
        <p:nvSpPr>
          <p:cNvPr id="6" name="Shape 4"/>
          <p:cNvSpPr/>
          <p:nvPr/>
        </p:nvSpPr>
        <p:spPr>
          <a:xfrm>
            <a:off x="502920" y="4160520"/>
            <a:ext cx="5120640" cy="2148840"/>
          </a:xfrm>
          <a:prstGeom prst="roundRect">
            <a:avLst>
              <a:gd name="adj" fmla="val 3404"/>
            </a:avLst>
          </a:prstGeom>
          <a:solidFill>
            <a:srgbClr val="1D2C48"/>
          </a:solidFill>
          <a:ln w="12700">
            <a:solidFill>
              <a:srgbClr val="2B3B58"/>
            </a:solidFill>
            <a:prstDash val="solid"/>
          </a:ln>
          <a:effectLst>
            <a:outerShdw sx="100000" sy="100000" kx="0" ky="0" algn="bl" rotWithShape="0" blurRad="101600" dist="38100" dir="5400000">
              <a:srgbClr val="000000">
                <a:alpha val="35000"/>
              </a:srgbClr>
            </a:outerShdw>
          </a:effectLst>
        </p:spPr>
      </p:sp>
      <p:sp>
        <p:nvSpPr>
          <p:cNvPr id="7" name="Text 5"/>
          <p:cNvSpPr txBox="1"/>
          <p:nvPr/>
        </p:nvSpPr>
        <p:spPr>
          <a:xfrm>
            <a:off x="777240" y="4343400"/>
            <a:ext cx="2011680" cy="914400"/>
          </a:xfrm>
          <a:prstGeom prst="rect">
            <a:avLst/>
          </a:prstGeom>
          <a:noFill/>
          <a:ln/>
        </p:spPr>
        <p:txBody>
          <a:bodyPr wrap="square" lIns="0" tIns="0" rIns="0" bIns="0" rtlCol="0" anchor="ctr"/>
          <a:lstStyle/>
          <a:p>
            <a:pPr indent="0" marL="0">
              <a:buNone/>
            </a:pPr>
            <a:r>
              <a:rPr lang="en-US" sz="4600" b="1" dirty="0">
                <a:solidFill>
                  <a:srgbClr val="C9A227"/>
                </a:solidFill>
                <a:latin typeface="Cambria" pitchFamily="34" charset="0"/>
                <a:ea typeface="Cambria" pitchFamily="34" charset="-122"/>
                <a:cs typeface="Cambria" pitchFamily="34" charset="-120"/>
              </a:rPr>
              <a:t>150</a:t>
            </a:r>
            <a:endParaRPr lang="en-US" sz="4600" dirty="0"/>
          </a:p>
        </p:txBody>
      </p:sp>
      <p:sp>
        <p:nvSpPr>
          <p:cNvPr id="8" name="Text 6"/>
          <p:cNvSpPr txBox="1"/>
          <p:nvPr/>
        </p:nvSpPr>
        <p:spPr>
          <a:xfrm>
            <a:off x="777240" y="5212080"/>
            <a:ext cx="4572000" cy="914400"/>
          </a:xfrm>
          <a:prstGeom prst="rect">
            <a:avLst/>
          </a:prstGeom>
          <a:noFill/>
          <a:ln/>
        </p:spPr>
        <p:txBody>
          <a:bodyPr wrap="square" lIns="0" tIns="0" rIns="0" bIns="0" rtlCol="0" anchor="ctr"/>
          <a:lstStyle/>
          <a:p>
            <a:pPr indent="0" marL="0">
              <a:buNone/>
            </a:pPr>
            <a:r>
              <a:rPr lang="en-US" sz="1300" dirty="0">
                <a:solidFill>
                  <a:srgbClr val="9FB0C7"/>
                </a:solidFill>
                <a:latin typeface="Calibri" pitchFamily="34" charset="0"/>
                <a:ea typeface="Calibri" pitchFamily="34" charset="-122"/>
                <a:cs typeface="Calibri" pitchFamily="34" charset="-120"/>
              </a:rPr>
              <a:t>feature-request titles — 30 per repository, collected March 22, 2025</a:t>
            </a:r>
            <a:endParaRPr lang="en-US" sz="13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943600" y="1554480"/>
          <a:ext cx="5760720" cy="4754880"/>
        </p:xfrm>
        <a:graphic>
          <a:graphicData uri="http://schemas.openxmlformats.org/drawingml/2006/table">
            <a:tbl>
              <a:tblPr/>
              <a:tblGrid>
                <a:gridCol w="1737360"/>
                <a:gridCol w="1463040"/>
                <a:gridCol w="2560320"/>
              </a:tblGrid>
              <a:tr h="457200">
                <a:tc>
                  <a:txBody>
                    <a:bodyPr/>
                    <a:lstStyle/>
                    <a:p>
                      <a:pPr indent="0" marL="0">
                        <a:buNone/>
                      </a:pPr>
                      <a:r>
                        <a:rPr lang="en-US" sz="1050" b="1" dirty="0">
                          <a:solidFill>
                            <a:srgbClr val="C9A227"/>
                          </a:solidFill>
                          <a:latin typeface="Calibri" pitchFamily="34" charset="0"/>
                          <a:ea typeface="Calibri" pitchFamily="34" charset="-122"/>
                          <a:cs typeface="Calibri" pitchFamily="34" charset="-120"/>
                        </a:rPr>
                        <a:t>Repository</a:t>
                      </a:r>
                      <a:endParaRPr lang="en-US" sz="1050" dirty="0">
                        <a:latin typeface="Calibri" charset="0"/>
                        <a:ea typeface="Calibri" charset="0"/>
                        <a:cs typeface="Calibri" charset="0"/>
                      </a:endParaRPr>
                    </a:p>
                  </a:txBody>
                  <a:tcPr marL="91440" marR="91440" marT="45720" marB="45720" anchor="ctr">
                    <a:lnL w="9525" cap="flat" cmpd="sng" algn="ctr">
                      <a:solidFill>
                        <a:srgbClr val="2B3B58"/>
                      </a:solidFill>
                      <a:prstDash val="solid"/>
                      <a:round/>
                      <a:headEnd type="none" w="med" len="med"/>
                      <a:tailEnd type="none" w="med" len="med"/>
                    </a:lnL>
                    <a:lnR w="9525" cap="flat" cmpd="sng" algn="ctr">
                      <a:solidFill>
                        <a:srgbClr val="2B3B58"/>
                      </a:solidFill>
                      <a:prstDash val="solid"/>
                      <a:round/>
                      <a:headEnd type="none" w="med" len="med"/>
                      <a:tailEnd type="none" w="med" len="med"/>
                    </a:lnR>
                    <a:lnT w="9525" cap="flat" cmpd="sng" algn="ctr">
                      <a:solidFill>
                        <a:srgbClr val="2B3B58"/>
                      </a:solidFill>
                      <a:prstDash val="solid"/>
                      <a:round/>
                      <a:headEnd type="none" w="med" len="med"/>
                      <a:tailEnd type="none" w="med" len="med"/>
                    </a:lnT>
                    <a:lnB w="9525" cap="flat" cmpd="sng" algn="ctr">
                      <a:solidFill>
                        <a:srgbClr val="2B3B58"/>
                      </a:solidFill>
                      <a:prstDash val="solid"/>
                      <a:round/>
                      <a:headEnd type="none" w="med" len="med"/>
                      <a:tailEnd type="none" w="med" len="med"/>
                    </a:lnB>
                    <a:solidFill>
                      <a:srgbClr val="1D2C48"/>
                    </a:solidFill>
                  </a:tcPr>
                </a:tc>
                <a:tc>
                  <a:txBody>
                    <a:bodyPr/>
                    <a:lstStyle/>
                    <a:p>
                      <a:pPr indent="0" marL="0">
                        <a:buNone/>
                      </a:pPr>
                      <a:r>
                        <a:rPr lang="en-US" sz="1050" b="1" dirty="0">
                          <a:solidFill>
                            <a:srgbClr val="C9A227"/>
                          </a:solidFill>
                          <a:latin typeface="Calibri" pitchFamily="34" charset="0"/>
                          <a:ea typeface="Calibri" pitchFamily="34" charset="-122"/>
                          <a:cs typeface="Calibri" pitchFamily="34" charset="-120"/>
                        </a:rPr>
                        <a:t>Domain</a:t>
                      </a:r>
                      <a:endParaRPr lang="en-US" sz="1050" dirty="0">
                        <a:latin typeface="Calibri" charset="0"/>
                        <a:ea typeface="Calibri" charset="0"/>
                        <a:cs typeface="Calibri" charset="0"/>
                      </a:endParaRPr>
                    </a:p>
                  </a:txBody>
                  <a:tcPr marL="91440" marR="91440" marT="45720" marB="45720" anchor="ctr">
                    <a:lnL w="9525" cap="flat" cmpd="sng" algn="ctr">
                      <a:solidFill>
                        <a:srgbClr val="2B3B58"/>
                      </a:solidFill>
                      <a:prstDash val="solid"/>
                      <a:round/>
                      <a:headEnd type="none" w="med" len="med"/>
                      <a:tailEnd type="none" w="med" len="med"/>
                    </a:lnL>
                    <a:lnR w="9525" cap="flat" cmpd="sng" algn="ctr">
                      <a:solidFill>
                        <a:srgbClr val="2B3B58"/>
                      </a:solidFill>
                      <a:prstDash val="solid"/>
                      <a:round/>
                      <a:headEnd type="none" w="med" len="med"/>
                      <a:tailEnd type="none" w="med" len="med"/>
                    </a:lnR>
                    <a:lnT w="9525" cap="flat" cmpd="sng" algn="ctr">
                      <a:solidFill>
                        <a:srgbClr val="2B3B58"/>
                      </a:solidFill>
                      <a:prstDash val="solid"/>
                      <a:round/>
                      <a:headEnd type="none" w="med" len="med"/>
                      <a:tailEnd type="none" w="med" len="med"/>
                    </a:lnT>
                    <a:lnB w="9525" cap="flat" cmpd="sng" algn="ctr">
                      <a:solidFill>
                        <a:srgbClr val="2B3B58"/>
                      </a:solidFill>
                      <a:prstDash val="solid"/>
                      <a:round/>
                      <a:headEnd type="none" w="med" len="med"/>
                      <a:tailEnd type="none" w="med" len="med"/>
                    </a:lnB>
                    <a:solidFill>
                      <a:srgbClr val="1D2C48"/>
                    </a:solidFill>
                  </a:tcPr>
                </a:tc>
                <a:tc>
                  <a:txBody>
                    <a:bodyPr/>
                    <a:lstStyle/>
                    <a:p>
                      <a:pPr indent="0" marL="0">
                        <a:buNone/>
                      </a:pPr>
                      <a:r>
                        <a:rPr lang="en-US" sz="1050" b="1" dirty="0">
                          <a:solidFill>
                            <a:srgbClr val="C9A227"/>
                          </a:solidFill>
                          <a:latin typeface="Calibri" pitchFamily="34" charset="0"/>
                          <a:ea typeface="Calibri" pitchFamily="34" charset="-122"/>
                          <a:cs typeface="Calibri" pitchFamily="34" charset="-120"/>
                        </a:rPr>
                        <a:t>Example Issue Title</a:t>
                      </a:r>
                      <a:endParaRPr lang="en-US" sz="1050" dirty="0">
                        <a:latin typeface="Calibri" charset="0"/>
                        <a:ea typeface="Calibri" charset="0"/>
                        <a:cs typeface="Calibri" charset="0"/>
                      </a:endParaRPr>
                    </a:p>
                  </a:txBody>
                  <a:tcPr marL="91440" marR="91440" marT="45720" marB="45720" anchor="ctr">
                    <a:lnL w="9525" cap="flat" cmpd="sng" algn="ctr">
                      <a:solidFill>
                        <a:srgbClr val="2B3B58"/>
                      </a:solidFill>
                      <a:prstDash val="solid"/>
                      <a:round/>
                      <a:headEnd type="none" w="med" len="med"/>
                      <a:tailEnd type="none" w="med" len="med"/>
                    </a:lnL>
                    <a:lnR w="9525" cap="flat" cmpd="sng" algn="ctr">
                      <a:solidFill>
                        <a:srgbClr val="2B3B58"/>
                      </a:solidFill>
                      <a:prstDash val="solid"/>
                      <a:round/>
                      <a:headEnd type="none" w="med" len="med"/>
                      <a:tailEnd type="none" w="med" len="med"/>
                    </a:lnR>
                    <a:lnT w="9525" cap="flat" cmpd="sng" algn="ctr">
                      <a:solidFill>
                        <a:srgbClr val="2B3B58"/>
                      </a:solidFill>
                      <a:prstDash val="solid"/>
                      <a:round/>
                      <a:headEnd type="none" w="med" len="med"/>
                      <a:tailEnd type="none" w="med" len="med"/>
                    </a:lnT>
                    <a:lnB w="9525" cap="flat" cmpd="sng" algn="ctr">
                      <a:solidFill>
                        <a:srgbClr val="2B3B58"/>
                      </a:solidFill>
                      <a:prstDash val="solid"/>
                      <a:round/>
                      <a:headEnd type="none" w="med" len="med"/>
                      <a:tailEnd type="none" w="med" len="med"/>
                    </a:lnB>
                    <a:solidFill>
                      <a:srgbClr val="1D2C48"/>
                    </a:solidFill>
                  </a:tcPr>
                </a:tc>
              </a:tr>
              <a:tr h="859536">
                <a:tc>
                  <a:txBody>
                    <a:bodyPr/>
                    <a:lstStyle/>
                    <a:p>
                      <a:pPr indent="0" marL="0">
                        <a:buNone/>
                      </a:pPr>
                      <a:r>
                        <a:rPr lang="en-US" sz="1050" dirty="0">
                          <a:solidFill>
                            <a:srgbClr val="F4F6FA"/>
                          </a:solidFill>
                          <a:latin typeface="Calibri" pitchFamily="34" charset="0"/>
                          <a:ea typeface="Calibri" pitchFamily="34" charset="-122"/>
                          <a:cs typeface="Calibri" pitchFamily="34" charset="-120"/>
                        </a:rPr>
                        <a:t>pytorch/pytorch</a:t>
                      </a:r>
                      <a:endParaRPr lang="en-US" sz="1050" dirty="0">
                        <a:latin typeface="Calibri" charset="0"/>
                        <a:ea typeface="Calibri" charset="0"/>
                        <a:cs typeface="Calibri" charset="0"/>
                      </a:endParaRPr>
                    </a:p>
                  </a:txBody>
                  <a:tcPr marL="91440" marR="91440" marT="45720" marB="45720" anchor="ctr">
                    <a:lnL w="9525" cap="flat" cmpd="sng" algn="ctr">
                      <a:solidFill>
                        <a:srgbClr val="2B3B58"/>
                      </a:solidFill>
                      <a:prstDash val="solid"/>
                      <a:round/>
                      <a:headEnd type="none" w="med" len="med"/>
                      <a:tailEnd type="none" w="med" len="med"/>
                    </a:lnL>
                    <a:lnR w="9525" cap="flat" cmpd="sng" algn="ctr">
                      <a:solidFill>
                        <a:srgbClr val="2B3B58"/>
                      </a:solidFill>
                      <a:prstDash val="solid"/>
                      <a:round/>
                      <a:headEnd type="none" w="med" len="med"/>
                      <a:tailEnd type="none" w="med" len="med"/>
                    </a:lnR>
                    <a:lnT w="9525" cap="flat" cmpd="sng" algn="ctr">
                      <a:solidFill>
                        <a:srgbClr val="2B3B58"/>
                      </a:solidFill>
                      <a:prstDash val="solid"/>
                      <a:round/>
                      <a:headEnd type="none" w="med" len="med"/>
                      <a:tailEnd type="none" w="med" len="med"/>
                    </a:lnT>
                    <a:lnB w="9525" cap="flat" cmpd="sng" algn="ctr">
                      <a:solidFill>
                        <a:srgbClr val="2B3B58"/>
                      </a:solidFill>
                      <a:prstDash val="solid"/>
                      <a:round/>
                      <a:headEnd type="none" w="med" len="med"/>
                      <a:tailEnd type="none" w="med" len="med"/>
                    </a:lnB>
                    <a:solidFill>
                      <a:srgbClr val="17223A"/>
                    </a:solidFill>
                  </a:tcPr>
                </a:tc>
                <a:tc>
                  <a:txBody>
                    <a:bodyPr/>
                    <a:lstStyle/>
                    <a:p>
                      <a:pPr indent="0" marL="0">
                        <a:buNone/>
                      </a:pPr>
                      <a:r>
                        <a:rPr lang="en-US" sz="1050" dirty="0">
                          <a:solidFill>
                            <a:srgbClr val="F4F6FA"/>
                          </a:solidFill>
                          <a:latin typeface="Calibri" pitchFamily="34" charset="0"/>
                          <a:ea typeface="Calibri" pitchFamily="34" charset="-122"/>
                          <a:cs typeface="Calibri" pitchFamily="34" charset="-120"/>
                        </a:rPr>
                        <a:t>Machine learning</a:t>
                      </a:r>
                      <a:endParaRPr lang="en-US" sz="1050" dirty="0">
                        <a:latin typeface="Calibri" charset="0"/>
                        <a:ea typeface="Calibri" charset="0"/>
                        <a:cs typeface="Calibri" charset="0"/>
                      </a:endParaRPr>
                    </a:p>
                  </a:txBody>
                  <a:tcPr marL="91440" marR="91440" marT="45720" marB="45720" anchor="ctr">
                    <a:lnL w="9525" cap="flat" cmpd="sng" algn="ctr">
                      <a:solidFill>
                        <a:srgbClr val="2B3B58"/>
                      </a:solidFill>
                      <a:prstDash val="solid"/>
                      <a:round/>
                      <a:headEnd type="none" w="med" len="med"/>
                      <a:tailEnd type="none" w="med" len="med"/>
                    </a:lnL>
                    <a:lnR w="9525" cap="flat" cmpd="sng" algn="ctr">
                      <a:solidFill>
                        <a:srgbClr val="2B3B58"/>
                      </a:solidFill>
                      <a:prstDash val="solid"/>
                      <a:round/>
                      <a:headEnd type="none" w="med" len="med"/>
                      <a:tailEnd type="none" w="med" len="med"/>
                    </a:lnR>
                    <a:lnT w="9525" cap="flat" cmpd="sng" algn="ctr">
                      <a:solidFill>
                        <a:srgbClr val="2B3B58"/>
                      </a:solidFill>
                      <a:prstDash val="solid"/>
                      <a:round/>
                      <a:headEnd type="none" w="med" len="med"/>
                      <a:tailEnd type="none" w="med" len="med"/>
                    </a:lnT>
                    <a:lnB w="9525" cap="flat" cmpd="sng" algn="ctr">
                      <a:solidFill>
                        <a:srgbClr val="2B3B58"/>
                      </a:solidFill>
                      <a:prstDash val="solid"/>
                      <a:round/>
                      <a:headEnd type="none" w="med" len="med"/>
                      <a:tailEnd type="none" w="med" len="med"/>
                    </a:lnB>
                    <a:solidFill>
                      <a:srgbClr val="17223A"/>
                    </a:solidFill>
                  </a:tcPr>
                </a:tc>
                <a:tc>
                  <a:txBody>
                    <a:bodyPr/>
                    <a:lstStyle/>
                    <a:p>
                      <a:pPr indent="0" marL="0">
                        <a:buNone/>
                      </a:pPr>
                      <a:r>
                        <a:rPr lang="en-US" sz="1050" dirty="0">
                          <a:solidFill>
                            <a:srgbClr val="F4F6FA"/>
                          </a:solidFill>
                          <a:latin typeface="Calibri" pitchFamily="34" charset="0"/>
                          <a:ea typeface="Calibri" pitchFamily="34" charset="-122"/>
                          <a:cs typeface="Calibri" pitchFamily="34" charset="-120"/>
                        </a:rPr>
                        <a:t>Implement numpy.random.choice equivalent</a:t>
                      </a:r>
                      <a:endParaRPr lang="en-US" sz="1050" dirty="0">
                        <a:latin typeface="Calibri" charset="0"/>
                        <a:ea typeface="Calibri" charset="0"/>
                        <a:cs typeface="Calibri" charset="0"/>
                      </a:endParaRPr>
                    </a:p>
                  </a:txBody>
                  <a:tcPr marL="91440" marR="91440" marT="45720" marB="45720" anchor="ctr">
                    <a:lnL w="9525" cap="flat" cmpd="sng" algn="ctr">
                      <a:solidFill>
                        <a:srgbClr val="2B3B58"/>
                      </a:solidFill>
                      <a:prstDash val="solid"/>
                      <a:round/>
                      <a:headEnd type="none" w="med" len="med"/>
                      <a:tailEnd type="none" w="med" len="med"/>
                    </a:lnL>
                    <a:lnR w="9525" cap="flat" cmpd="sng" algn="ctr">
                      <a:solidFill>
                        <a:srgbClr val="2B3B58"/>
                      </a:solidFill>
                      <a:prstDash val="solid"/>
                      <a:round/>
                      <a:headEnd type="none" w="med" len="med"/>
                      <a:tailEnd type="none" w="med" len="med"/>
                    </a:lnR>
                    <a:lnT w="9525" cap="flat" cmpd="sng" algn="ctr">
                      <a:solidFill>
                        <a:srgbClr val="2B3B58"/>
                      </a:solidFill>
                      <a:prstDash val="solid"/>
                      <a:round/>
                      <a:headEnd type="none" w="med" len="med"/>
                      <a:tailEnd type="none" w="med" len="med"/>
                    </a:lnT>
                    <a:lnB w="9525" cap="flat" cmpd="sng" algn="ctr">
                      <a:solidFill>
                        <a:srgbClr val="2B3B58"/>
                      </a:solidFill>
                      <a:prstDash val="solid"/>
                      <a:round/>
                      <a:headEnd type="none" w="med" len="med"/>
                      <a:tailEnd type="none" w="med" len="med"/>
                    </a:lnB>
                    <a:solidFill>
                      <a:srgbClr val="17223A"/>
                    </a:solidFill>
                  </a:tcPr>
                </a:tc>
              </a:tr>
              <a:tr h="859536">
                <a:tc>
                  <a:txBody>
                    <a:bodyPr/>
                    <a:lstStyle/>
                    <a:p>
                      <a:pPr indent="0" marL="0">
                        <a:buNone/>
                      </a:pPr>
                      <a:r>
                        <a:rPr lang="en-US" sz="1050" dirty="0">
                          <a:solidFill>
                            <a:srgbClr val="F4F6FA"/>
                          </a:solidFill>
                          <a:latin typeface="Calibri" pitchFamily="34" charset="0"/>
                          <a:ea typeface="Calibri" pitchFamily="34" charset="-122"/>
                          <a:cs typeface="Calibri" pitchFamily="34" charset="-120"/>
                        </a:rPr>
                        <a:t>flutter/flutter</a:t>
                      </a:r>
                      <a:endParaRPr lang="en-US" sz="1050" dirty="0">
                        <a:latin typeface="Calibri" charset="0"/>
                        <a:ea typeface="Calibri" charset="0"/>
                        <a:cs typeface="Calibri" charset="0"/>
                      </a:endParaRPr>
                    </a:p>
                  </a:txBody>
                  <a:tcPr marL="91440" marR="91440" marT="45720" marB="45720" anchor="ctr">
                    <a:lnL w="9525" cap="flat" cmpd="sng" algn="ctr">
                      <a:solidFill>
                        <a:srgbClr val="2B3B58"/>
                      </a:solidFill>
                      <a:prstDash val="solid"/>
                      <a:round/>
                      <a:headEnd type="none" w="med" len="med"/>
                      <a:tailEnd type="none" w="med" len="med"/>
                    </a:lnL>
                    <a:lnR w="9525" cap="flat" cmpd="sng" algn="ctr">
                      <a:solidFill>
                        <a:srgbClr val="2B3B58"/>
                      </a:solidFill>
                      <a:prstDash val="solid"/>
                      <a:round/>
                      <a:headEnd type="none" w="med" len="med"/>
                      <a:tailEnd type="none" w="med" len="med"/>
                    </a:lnR>
                    <a:lnT w="9525" cap="flat" cmpd="sng" algn="ctr">
                      <a:solidFill>
                        <a:srgbClr val="2B3B58"/>
                      </a:solidFill>
                      <a:prstDash val="solid"/>
                      <a:round/>
                      <a:headEnd type="none" w="med" len="med"/>
                      <a:tailEnd type="none" w="med" len="med"/>
                    </a:lnT>
                    <a:lnB w="9525" cap="flat" cmpd="sng" algn="ctr">
                      <a:solidFill>
                        <a:srgbClr val="2B3B58"/>
                      </a:solidFill>
                      <a:prstDash val="solid"/>
                      <a:round/>
                      <a:headEnd type="none" w="med" len="med"/>
                      <a:tailEnd type="none" w="med" len="med"/>
                    </a:lnB>
                    <a:solidFill>
                      <a:srgbClr val="17223A"/>
                    </a:solidFill>
                  </a:tcPr>
                </a:tc>
                <a:tc>
                  <a:txBody>
                    <a:bodyPr/>
                    <a:lstStyle/>
                    <a:p>
                      <a:pPr indent="0" marL="0">
                        <a:buNone/>
                      </a:pPr>
                      <a:r>
                        <a:rPr lang="en-US" sz="1050" dirty="0">
                          <a:solidFill>
                            <a:srgbClr val="F4F6FA"/>
                          </a:solidFill>
                          <a:latin typeface="Calibri" pitchFamily="34" charset="0"/>
                          <a:ea typeface="Calibri" pitchFamily="34" charset="-122"/>
                          <a:cs typeface="Calibri" pitchFamily="34" charset="-120"/>
                        </a:rPr>
                        <a:t>Mobile / web UI</a:t>
                      </a:r>
                      <a:endParaRPr lang="en-US" sz="1050" dirty="0">
                        <a:latin typeface="Calibri" charset="0"/>
                        <a:ea typeface="Calibri" charset="0"/>
                        <a:cs typeface="Calibri" charset="0"/>
                      </a:endParaRPr>
                    </a:p>
                  </a:txBody>
                  <a:tcPr marL="91440" marR="91440" marT="45720" marB="45720" anchor="ctr">
                    <a:lnL w="9525" cap="flat" cmpd="sng" algn="ctr">
                      <a:solidFill>
                        <a:srgbClr val="2B3B58"/>
                      </a:solidFill>
                      <a:prstDash val="solid"/>
                      <a:round/>
                      <a:headEnd type="none" w="med" len="med"/>
                      <a:tailEnd type="none" w="med" len="med"/>
                    </a:lnL>
                    <a:lnR w="9525" cap="flat" cmpd="sng" algn="ctr">
                      <a:solidFill>
                        <a:srgbClr val="2B3B58"/>
                      </a:solidFill>
                      <a:prstDash val="solid"/>
                      <a:round/>
                      <a:headEnd type="none" w="med" len="med"/>
                      <a:tailEnd type="none" w="med" len="med"/>
                    </a:lnR>
                    <a:lnT w="9525" cap="flat" cmpd="sng" algn="ctr">
                      <a:solidFill>
                        <a:srgbClr val="2B3B58"/>
                      </a:solidFill>
                      <a:prstDash val="solid"/>
                      <a:round/>
                      <a:headEnd type="none" w="med" len="med"/>
                      <a:tailEnd type="none" w="med" len="med"/>
                    </a:lnT>
                    <a:lnB w="9525" cap="flat" cmpd="sng" algn="ctr">
                      <a:solidFill>
                        <a:srgbClr val="2B3B58"/>
                      </a:solidFill>
                      <a:prstDash val="solid"/>
                      <a:round/>
                      <a:headEnd type="none" w="med" len="med"/>
                      <a:tailEnd type="none" w="med" len="med"/>
                    </a:lnB>
                    <a:solidFill>
                      <a:srgbClr val="17223A"/>
                    </a:solidFill>
                  </a:tcPr>
                </a:tc>
                <a:tc>
                  <a:txBody>
                    <a:bodyPr/>
                    <a:lstStyle/>
                    <a:p>
                      <a:pPr indent="0" marL="0">
                        <a:buNone/>
                      </a:pPr>
                      <a:r>
                        <a:rPr lang="en-US" sz="1050" dirty="0">
                          <a:solidFill>
                            <a:srgbClr val="F4F6FA"/>
                          </a:solidFill>
                          <a:latin typeface="Calibri" pitchFamily="34" charset="0"/>
                          <a:ea typeface="Calibri" pitchFamily="34" charset="-122"/>
                          <a:cs typeface="Calibri" pitchFamily="34" charset="-120"/>
                        </a:rPr>
                        <a:t>Improve the indexability (SEO) of Flutter apps</a:t>
                      </a:r>
                      <a:endParaRPr lang="en-US" sz="1050" dirty="0">
                        <a:latin typeface="Calibri" charset="0"/>
                        <a:ea typeface="Calibri" charset="0"/>
                        <a:cs typeface="Calibri" charset="0"/>
                      </a:endParaRPr>
                    </a:p>
                  </a:txBody>
                  <a:tcPr marL="91440" marR="91440" marT="45720" marB="45720" anchor="ctr">
                    <a:lnL w="9525" cap="flat" cmpd="sng" algn="ctr">
                      <a:solidFill>
                        <a:srgbClr val="2B3B58"/>
                      </a:solidFill>
                      <a:prstDash val="solid"/>
                      <a:round/>
                      <a:headEnd type="none" w="med" len="med"/>
                      <a:tailEnd type="none" w="med" len="med"/>
                    </a:lnL>
                    <a:lnR w="9525" cap="flat" cmpd="sng" algn="ctr">
                      <a:solidFill>
                        <a:srgbClr val="2B3B58"/>
                      </a:solidFill>
                      <a:prstDash val="solid"/>
                      <a:round/>
                      <a:headEnd type="none" w="med" len="med"/>
                      <a:tailEnd type="none" w="med" len="med"/>
                    </a:lnR>
                    <a:lnT w="9525" cap="flat" cmpd="sng" algn="ctr">
                      <a:solidFill>
                        <a:srgbClr val="2B3B58"/>
                      </a:solidFill>
                      <a:prstDash val="solid"/>
                      <a:round/>
                      <a:headEnd type="none" w="med" len="med"/>
                      <a:tailEnd type="none" w="med" len="med"/>
                    </a:lnT>
                    <a:lnB w="9525" cap="flat" cmpd="sng" algn="ctr">
                      <a:solidFill>
                        <a:srgbClr val="2B3B58"/>
                      </a:solidFill>
                      <a:prstDash val="solid"/>
                      <a:round/>
                      <a:headEnd type="none" w="med" len="med"/>
                      <a:tailEnd type="none" w="med" len="med"/>
                    </a:lnB>
                    <a:solidFill>
                      <a:srgbClr val="17223A"/>
                    </a:solidFill>
                  </a:tcPr>
                </a:tc>
              </a:tr>
              <a:tr h="859536">
                <a:tc>
                  <a:txBody>
                    <a:bodyPr/>
                    <a:lstStyle/>
                    <a:p>
                      <a:pPr indent="0" marL="0">
                        <a:buNone/>
                      </a:pPr>
                      <a:r>
                        <a:rPr lang="en-US" sz="1050" dirty="0">
                          <a:solidFill>
                            <a:srgbClr val="F4F6FA"/>
                          </a:solidFill>
                          <a:latin typeface="Calibri" pitchFamily="34" charset="0"/>
                          <a:ea typeface="Calibri" pitchFamily="34" charset="-122"/>
                          <a:cs typeface="Calibri" pitchFamily="34" charset="-120"/>
                        </a:rPr>
                        <a:t>godotengine/godot-proposals</a:t>
                      </a:r>
                      <a:endParaRPr lang="en-US" sz="1050" dirty="0">
                        <a:latin typeface="Calibri" charset="0"/>
                        <a:ea typeface="Calibri" charset="0"/>
                        <a:cs typeface="Calibri" charset="0"/>
                      </a:endParaRPr>
                    </a:p>
                  </a:txBody>
                  <a:tcPr marL="91440" marR="91440" marT="45720" marB="45720" anchor="ctr">
                    <a:lnL w="9525" cap="flat" cmpd="sng" algn="ctr">
                      <a:solidFill>
                        <a:srgbClr val="2B3B58"/>
                      </a:solidFill>
                      <a:prstDash val="solid"/>
                      <a:round/>
                      <a:headEnd type="none" w="med" len="med"/>
                      <a:tailEnd type="none" w="med" len="med"/>
                    </a:lnL>
                    <a:lnR w="9525" cap="flat" cmpd="sng" algn="ctr">
                      <a:solidFill>
                        <a:srgbClr val="2B3B58"/>
                      </a:solidFill>
                      <a:prstDash val="solid"/>
                      <a:round/>
                      <a:headEnd type="none" w="med" len="med"/>
                      <a:tailEnd type="none" w="med" len="med"/>
                    </a:lnR>
                    <a:lnT w="9525" cap="flat" cmpd="sng" algn="ctr">
                      <a:solidFill>
                        <a:srgbClr val="2B3B58"/>
                      </a:solidFill>
                      <a:prstDash val="solid"/>
                      <a:round/>
                      <a:headEnd type="none" w="med" len="med"/>
                      <a:tailEnd type="none" w="med" len="med"/>
                    </a:lnT>
                    <a:lnB w="9525" cap="flat" cmpd="sng" algn="ctr">
                      <a:solidFill>
                        <a:srgbClr val="2B3B58"/>
                      </a:solidFill>
                      <a:prstDash val="solid"/>
                      <a:round/>
                      <a:headEnd type="none" w="med" len="med"/>
                      <a:tailEnd type="none" w="med" len="med"/>
                    </a:lnB>
                    <a:solidFill>
                      <a:srgbClr val="17223A"/>
                    </a:solidFill>
                  </a:tcPr>
                </a:tc>
                <a:tc>
                  <a:txBody>
                    <a:bodyPr/>
                    <a:lstStyle/>
                    <a:p>
                      <a:pPr indent="0" marL="0">
                        <a:buNone/>
                      </a:pPr>
                      <a:r>
                        <a:rPr lang="en-US" sz="1050" dirty="0">
                          <a:solidFill>
                            <a:srgbClr val="F4F6FA"/>
                          </a:solidFill>
                          <a:latin typeface="Calibri" pitchFamily="34" charset="0"/>
                          <a:ea typeface="Calibri" pitchFamily="34" charset="-122"/>
                          <a:cs typeface="Calibri" pitchFamily="34" charset="-120"/>
                        </a:rPr>
                        <a:t>Game development</a:t>
                      </a:r>
                      <a:endParaRPr lang="en-US" sz="1050" dirty="0">
                        <a:latin typeface="Calibri" charset="0"/>
                        <a:ea typeface="Calibri" charset="0"/>
                        <a:cs typeface="Calibri" charset="0"/>
                      </a:endParaRPr>
                    </a:p>
                  </a:txBody>
                  <a:tcPr marL="91440" marR="91440" marT="45720" marB="45720" anchor="ctr">
                    <a:lnL w="9525" cap="flat" cmpd="sng" algn="ctr">
                      <a:solidFill>
                        <a:srgbClr val="2B3B58"/>
                      </a:solidFill>
                      <a:prstDash val="solid"/>
                      <a:round/>
                      <a:headEnd type="none" w="med" len="med"/>
                      <a:tailEnd type="none" w="med" len="med"/>
                    </a:lnL>
                    <a:lnR w="9525" cap="flat" cmpd="sng" algn="ctr">
                      <a:solidFill>
                        <a:srgbClr val="2B3B58"/>
                      </a:solidFill>
                      <a:prstDash val="solid"/>
                      <a:round/>
                      <a:headEnd type="none" w="med" len="med"/>
                      <a:tailEnd type="none" w="med" len="med"/>
                    </a:lnR>
                    <a:lnT w="9525" cap="flat" cmpd="sng" algn="ctr">
                      <a:solidFill>
                        <a:srgbClr val="2B3B58"/>
                      </a:solidFill>
                      <a:prstDash val="solid"/>
                      <a:round/>
                      <a:headEnd type="none" w="med" len="med"/>
                      <a:tailEnd type="none" w="med" len="med"/>
                    </a:lnT>
                    <a:lnB w="9525" cap="flat" cmpd="sng" algn="ctr">
                      <a:solidFill>
                        <a:srgbClr val="2B3B58"/>
                      </a:solidFill>
                      <a:prstDash val="solid"/>
                      <a:round/>
                      <a:headEnd type="none" w="med" len="med"/>
                      <a:tailEnd type="none" w="med" len="med"/>
                    </a:lnB>
                    <a:solidFill>
                      <a:srgbClr val="17223A"/>
                    </a:solidFill>
                  </a:tcPr>
                </a:tc>
                <a:tc>
                  <a:txBody>
                    <a:bodyPr/>
                    <a:lstStyle/>
                    <a:p>
                      <a:pPr indent="0" marL="0">
                        <a:buNone/>
                      </a:pPr>
                      <a:r>
                        <a:rPr lang="en-US" sz="1050" dirty="0">
                          <a:solidFill>
                            <a:srgbClr val="F4F6FA"/>
                          </a:solidFill>
                          <a:latin typeface="Calibri" pitchFamily="34" charset="0"/>
                          <a:ea typeface="Calibri" pitchFamily="34" charset="-122"/>
                          <a:cs typeface="Calibri" pitchFamily="34" charset="-120"/>
                        </a:rPr>
                        <a:t>Add a Trait system for GDScript</a:t>
                      </a:r>
                      <a:endParaRPr lang="en-US" sz="1050" dirty="0">
                        <a:latin typeface="Calibri" charset="0"/>
                        <a:ea typeface="Calibri" charset="0"/>
                        <a:cs typeface="Calibri" charset="0"/>
                      </a:endParaRPr>
                    </a:p>
                  </a:txBody>
                  <a:tcPr marL="91440" marR="91440" marT="45720" marB="45720" anchor="ctr">
                    <a:lnL w="9525" cap="flat" cmpd="sng" algn="ctr">
                      <a:solidFill>
                        <a:srgbClr val="2B3B58"/>
                      </a:solidFill>
                      <a:prstDash val="solid"/>
                      <a:round/>
                      <a:headEnd type="none" w="med" len="med"/>
                      <a:tailEnd type="none" w="med" len="med"/>
                    </a:lnL>
                    <a:lnR w="9525" cap="flat" cmpd="sng" algn="ctr">
                      <a:solidFill>
                        <a:srgbClr val="2B3B58"/>
                      </a:solidFill>
                      <a:prstDash val="solid"/>
                      <a:round/>
                      <a:headEnd type="none" w="med" len="med"/>
                      <a:tailEnd type="none" w="med" len="med"/>
                    </a:lnR>
                    <a:lnT w="9525" cap="flat" cmpd="sng" algn="ctr">
                      <a:solidFill>
                        <a:srgbClr val="2B3B58"/>
                      </a:solidFill>
                      <a:prstDash val="solid"/>
                      <a:round/>
                      <a:headEnd type="none" w="med" len="med"/>
                      <a:tailEnd type="none" w="med" len="med"/>
                    </a:lnT>
                    <a:lnB w="9525" cap="flat" cmpd="sng" algn="ctr">
                      <a:solidFill>
                        <a:srgbClr val="2B3B58"/>
                      </a:solidFill>
                      <a:prstDash val="solid"/>
                      <a:round/>
                      <a:headEnd type="none" w="med" len="med"/>
                      <a:tailEnd type="none" w="med" len="med"/>
                    </a:lnB>
                    <a:solidFill>
                      <a:srgbClr val="17223A"/>
                    </a:solidFill>
                  </a:tcPr>
                </a:tc>
              </a:tr>
              <a:tr h="859536">
                <a:tc>
                  <a:txBody>
                    <a:bodyPr/>
                    <a:lstStyle/>
                    <a:p>
                      <a:pPr indent="0" marL="0">
                        <a:buNone/>
                      </a:pPr>
                      <a:r>
                        <a:rPr lang="en-US" sz="1050" dirty="0">
                          <a:solidFill>
                            <a:srgbClr val="F4F6FA"/>
                          </a:solidFill>
                          <a:latin typeface="Calibri" pitchFamily="34" charset="0"/>
                          <a:ea typeface="Calibri" pitchFamily="34" charset="-122"/>
                          <a:cs typeface="Calibri" pitchFamily="34" charset="-120"/>
                        </a:rPr>
                        <a:t>rust-lang/rust</a:t>
                      </a:r>
                      <a:endParaRPr lang="en-US" sz="1050" dirty="0">
                        <a:latin typeface="Calibri" charset="0"/>
                        <a:ea typeface="Calibri" charset="0"/>
                        <a:cs typeface="Calibri" charset="0"/>
                      </a:endParaRPr>
                    </a:p>
                  </a:txBody>
                  <a:tcPr marL="91440" marR="91440" marT="45720" marB="45720" anchor="ctr">
                    <a:lnL w="9525" cap="flat" cmpd="sng" algn="ctr">
                      <a:solidFill>
                        <a:srgbClr val="2B3B58"/>
                      </a:solidFill>
                      <a:prstDash val="solid"/>
                      <a:round/>
                      <a:headEnd type="none" w="med" len="med"/>
                      <a:tailEnd type="none" w="med" len="med"/>
                    </a:lnL>
                    <a:lnR w="9525" cap="flat" cmpd="sng" algn="ctr">
                      <a:solidFill>
                        <a:srgbClr val="2B3B58"/>
                      </a:solidFill>
                      <a:prstDash val="solid"/>
                      <a:round/>
                      <a:headEnd type="none" w="med" len="med"/>
                      <a:tailEnd type="none" w="med" len="med"/>
                    </a:lnR>
                    <a:lnT w="9525" cap="flat" cmpd="sng" algn="ctr">
                      <a:solidFill>
                        <a:srgbClr val="2B3B58"/>
                      </a:solidFill>
                      <a:prstDash val="solid"/>
                      <a:round/>
                      <a:headEnd type="none" w="med" len="med"/>
                      <a:tailEnd type="none" w="med" len="med"/>
                    </a:lnT>
                    <a:lnB w="9525" cap="flat" cmpd="sng" algn="ctr">
                      <a:solidFill>
                        <a:srgbClr val="2B3B58"/>
                      </a:solidFill>
                      <a:prstDash val="solid"/>
                      <a:round/>
                      <a:headEnd type="none" w="med" len="med"/>
                      <a:tailEnd type="none" w="med" len="med"/>
                    </a:lnB>
                    <a:solidFill>
                      <a:srgbClr val="17223A"/>
                    </a:solidFill>
                  </a:tcPr>
                </a:tc>
                <a:tc>
                  <a:txBody>
                    <a:bodyPr/>
                    <a:lstStyle/>
                    <a:p>
                      <a:pPr indent="0" marL="0">
                        <a:buNone/>
                      </a:pPr>
                      <a:r>
                        <a:rPr lang="en-US" sz="1050" dirty="0">
                          <a:solidFill>
                            <a:srgbClr val="F4F6FA"/>
                          </a:solidFill>
                          <a:latin typeface="Calibri" pitchFamily="34" charset="0"/>
                          <a:ea typeface="Calibri" pitchFamily="34" charset="-122"/>
                          <a:cs typeface="Calibri" pitchFamily="34" charset="-120"/>
                        </a:rPr>
                        <a:t>Systems programming</a:t>
                      </a:r>
                      <a:endParaRPr lang="en-US" sz="1050" dirty="0">
                        <a:latin typeface="Calibri" charset="0"/>
                        <a:ea typeface="Calibri" charset="0"/>
                        <a:cs typeface="Calibri" charset="0"/>
                      </a:endParaRPr>
                    </a:p>
                  </a:txBody>
                  <a:tcPr marL="91440" marR="91440" marT="45720" marB="45720" anchor="ctr">
                    <a:lnL w="9525" cap="flat" cmpd="sng" algn="ctr">
                      <a:solidFill>
                        <a:srgbClr val="2B3B58"/>
                      </a:solidFill>
                      <a:prstDash val="solid"/>
                      <a:round/>
                      <a:headEnd type="none" w="med" len="med"/>
                      <a:tailEnd type="none" w="med" len="med"/>
                    </a:lnL>
                    <a:lnR w="9525" cap="flat" cmpd="sng" algn="ctr">
                      <a:solidFill>
                        <a:srgbClr val="2B3B58"/>
                      </a:solidFill>
                      <a:prstDash val="solid"/>
                      <a:round/>
                      <a:headEnd type="none" w="med" len="med"/>
                      <a:tailEnd type="none" w="med" len="med"/>
                    </a:lnR>
                    <a:lnT w="9525" cap="flat" cmpd="sng" algn="ctr">
                      <a:solidFill>
                        <a:srgbClr val="2B3B58"/>
                      </a:solidFill>
                      <a:prstDash val="solid"/>
                      <a:round/>
                      <a:headEnd type="none" w="med" len="med"/>
                      <a:tailEnd type="none" w="med" len="med"/>
                    </a:lnT>
                    <a:lnB w="9525" cap="flat" cmpd="sng" algn="ctr">
                      <a:solidFill>
                        <a:srgbClr val="2B3B58"/>
                      </a:solidFill>
                      <a:prstDash val="solid"/>
                      <a:round/>
                      <a:headEnd type="none" w="med" len="med"/>
                      <a:tailEnd type="none" w="med" len="med"/>
                    </a:lnB>
                    <a:solidFill>
                      <a:srgbClr val="17223A"/>
                    </a:solidFill>
                  </a:tcPr>
                </a:tc>
                <a:tc>
                  <a:txBody>
                    <a:bodyPr/>
                    <a:lstStyle/>
                    <a:p>
                      <a:pPr indent="0" marL="0">
                        <a:buNone/>
                      </a:pPr>
                      <a:r>
                        <a:rPr lang="en-US" sz="1050" dirty="0">
                          <a:solidFill>
                            <a:srgbClr val="F4F6FA"/>
                          </a:solidFill>
                          <a:latin typeface="Calibri" pitchFamily="34" charset="0"/>
                          <a:ea typeface="Calibri" pitchFamily="34" charset="-122"/>
                          <a:cs typeface="Calibri" pitchFamily="34" charset="-120"/>
                        </a:rPr>
                        <a:t>Linking with LLD</a:t>
                      </a:r>
                      <a:endParaRPr lang="en-US" sz="1050" dirty="0">
                        <a:latin typeface="Calibri" charset="0"/>
                        <a:ea typeface="Calibri" charset="0"/>
                        <a:cs typeface="Calibri" charset="0"/>
                      </a:endParaRPr>
                    </a:p>
                  </a:txBody>
                  <a:tcPr marL="91440" marR="91440" marT="45720" marB="45720" anchor="ctr">
                    <a:lnL w="9525" cap="flat" cmpd="sng" algn="ctr">
                      <a:solidFill>
                        <a:srgbClr val="2B3B58"/>
                      </a:solidFill>
                      <a:prstDash val="solid"/>
                      <a:round/>
                      <a:headEnd type="none" w="med" len="med"/>
                      <a:tailEnd type="none" w="med" len="med"/>
                    </a:lnL>
                    <a:lnR w="9525" cap="flat" cmpd="sng" algn="ctr">
                      <a:solidFill>
                        <a:srgbClr val="2B3B58"/>
                      </a:solidFill>
                      <a:prstDash val="solid"/>
                      <a:round/>
                      <a:headEnd type="none" w="med" len="med"/>
                      <a:tailEnd type="none" w="med" len="med"/>
                    </a:lnR>
                    <a:lnT w="9525" cap="flat" cmpd="sng" algn="ctr">
                      <a:solidFill>
                        <a:srgbClr val="2B3B58"/>
                      </a:solidFill>
                      <a:prstDash val="solid"/>
                      <a:round/>
                      <a:headEnd type="none" w="med" len="med"/>
                      <a:tailEnd type="none" w="med" len="med"/>
                    </a:lnT>
                    <a:lnB w="9525" cap="flat" cmpd="sng" algn="ctr">
                      <a:solidFill>
                        <a:srgbClr val="2B3B58"/>
                      </a:solidFill>
                      <a:prstDash val="solid"/>
                      <a:round/>
                      <a:headEnd type="none" w="med" len="med"/>
                      <a:tailEnd type="none" w="med" len="med"/>
                    </a:lnB>
                    <a:solidFill>
                      <a:srgbClr val="17223A"/>
                    </a:solidFill>
                  </a:tcPr>
                </a:tc>
              </a:tr>
              <a:tr h="859536">
                <a:tc>
                  <a:txBody>
                    <a:bodyPr/>
                    <a:lstStyle/>
                    <a:p>
                      <a:pPr indent="0" marL="0">
                        <a:buNone/>
                      </a:pPr>
                      <a:r>
                        <a:rPr lang="en-US" sz="1050" dirty="0">
                          <a:solidFill>
                            <a:srgbClr val="F4F6FA"/>
                          </a:solidFill>
                          <a:latin typeface="Calibri" pitchFamily="34" charset="0"/>
                          <a:ea typeface="Calibri" pitchFamily="34" charset="-122"/>
                          <a:cs typeface="Calibri" pitchFamily="34" charset="-120"/>
                        </a:rPr>
                        <a:t>golang/go</a:t>
                      </a:r>
                      <a:endParaRPr lang="en-US" sz="1050" dirty="0">
                        <a:latin typeface="Calibri" charset="0"/>
                        <a:ea typeface="Calibri" charset="0"/>
                        <a:cs typeface="Calibri" charset="0"/>
                      </a:endParaRPr>
                    </a:p>
                  </a:txBody>
                  <a:tcPr marL="91440" marR="91440" marT="45720" marB="45720" anchor="ctr">
                    <a:lnL w="9525" cap="flat" cmpd="sng" algn="ctr">
                      <a:solidFill>
                        <a:srgbClr val="2B3B58"/>
                      </a:solidFill>
                      <a:prstDash val="solid"/>
                      <a:round/>
                      <a:headEnd type="none" w="med" len="med"/>
                      <a:tailEnd type="none" w="med" len="med"/>
                    </a:lnL>
                    <a:lnR w="9525" cap="flat" cmpd="sng" algn="ctr">
                      <a:solidFill>
                        <a:srgbClr val="2B3B58"/>
                      </a:solidFill>
                      <a:prstDash val="solid"/>
                      <a:round/>
                      <a:headEnd type="none" w="med" len="med"/>
                      <a:tailEnd type="none" w="med" len="med"/>
                    </a:lnR>
                    <a:lnT w="9525" cap="flat" cmpd="sng" algn="ctr">
                      <a:solidFill>
                        <a:srgbClr val="2B3B58"/>
                      </a:solidFill>
                      <a:prstDash val="solid"/>
                      <a:round/>
                      <a:headEnd type="none" w="med" len="med"/>
                      <a:tailEnd type="none" w="med" len="med"/>
                    </a:lnT>
                    <a:lnB w="9525" cap="flat" cmpd="sng" algn="ctr">
                      <a:solidFill>
                        <a:srgbClr val="2B3B58"/>
                      </a:solidFill>
                      <a:prstDash val="solid"/>
                      <a:round/>
                      <a:headEnd type="none" w="med" len="med"/>
                      <a:tailEnd type="none" w="med" len="med"/>
                    </a:lnB>
                    <a:solidFill>
                      <a:srgbClr val="17223A"/>
                    </a:solidFill>
                  </a:tcPr>
                </a:tc>
                <a:tc>
                  <a:txBody>
                    <a:bodyPr/>
                    <a:lstStyle/>
                    <a:p>
                      <a:pPr indent="0" marL="0">
                        <a:buNone/>
                      </a:pPr>
                      <a:r>
                        <a:rPr lang="en-US" sz="1050" dirty="0">
                          <a:solidFill>
                            <a:srgbClr val="F4F6FA"/>
                          </a:solidFill>
                          <a:latin typeface="Calibri" pitchFamily="34" charset="0"/>
                          <a:ea typeface="Calibri" pitchFamily="34" charset="-122"/>
                          <a:cs typeface="Calibri" pitchFamily="34" charset="-120"/>
                        </a:rPr>
                        <a:t>Backend / networking</a:t>
                      </a:r>
                      <a:endParaRPr lang="en-US" sz="1050" dirty="0">
                        <a:latin typeface="Calibri" charset="0"/>
                        <a:ea typeface="Calibri" charset="0"/>
                        <a:cs typeface="Calibri" charset="0"/>
                      </a:endParaRPr>
                    </a:p>
                  </a:txBody>
                  <a:tcPr marL="91440" marR="91440" marT="45720" marB="45720" anchor="ctr">
                    <a:lnL w="9525" cap="flat" cmpd="sng" algn="ctr">
                      <a:solidFill>
                        <a:srgbClr val="2B3B58"/>
                      </a:solidFill>
                      <a:prstDash val="solid"/>
                      <a:round/>
                      <a:headEnd type="none" w="med" len="med"/>
                      <a:tailEnd type="none" w="med" len="med"/>
                    </a:lnL>
                    <a:lnR w="9525" cap="flat" cmpd="sng" algn="ctr">
                      <a:solidFill>
                        <a:srgbClr val="2B3B58"/>
                      </a:solidFill>
                      <a:prstDash val="solid"/>
                      <a:round/>
                      <a:headEnd type="none" w="med" len="med"/>
                      <a:tailEnd type="none" w="med" len="med"/>
                    </a:lnR>
                    <a:lnT w="9525" cap="flat" cmpd="sng" algn="ctr">
                      <a:solidFill>
                        <a:srgbClr val="2B3B58"/>
                      </a:solidFill>
                      <a:prstDash val="solid"/>
                      <a:round/>
                      <a:headEnd type="none" w="med" len="med"/>
                      <a:tailEnd type="none" w="med" len="med"/>
                    </a:lnT>
                    <a:lnB w="9525" cap="flat" cmpd="sng" algn="ctr">
                      <a:solidFill>
                        <a:srgbClr val="2B3B58"/>
                      </a:solidFill>
                      <a:prstDash val="solid"/>
                      <a:round/>
                      <a:headEnd type="none" w="med" len="med"/>
                      <a:tailEnd type="none" w="med" len="med"/>
                    </a:lnB>
                    <a:solidFill>
                      <a:srgbClr val="17223A"/>
                    </a:solidFill>
                  </a:tcPr>
                </a:tc>
                <a:tc>
                  <a:txBody>
                    <a:bodyPr/>
                    <a:lstStyle/>
                    <a:p>
                      <a:pPr indent="0" marL="0">
                        <a:buNone/>
                      </a:pPr>
                      <a:r>
                        <a:rPr lang="en-US" sz="1050" dirty="0">
                          <a:solidFill>
                            <a:srgbClr val="F4F6FA"/>
                          </a:solidFill>
                          <a:latin typeface="Calibri" pitchFamily="34" charset="0"/>
                          <a:ea typeface="Calibri" pitchFamily="34" charset="-122"/>
                          <a:cs typeface="Calibri" pitchFamily="34" charset="-120"/>
                        </a:rPr>
                        <a:t>net/http: support HTTP/3</a:t>
                      </a:r>
                      <a:endParaRPr lang="en-US" sz="1050" dirty="0">
                        <a:latin typeface="Calibri" charset="0"/>
                        <a:ea typeface="Calibri" charset="0"/>
                        <a:cs typeface="Calibri" charset="0"/>
                      </a:endParaRPr>
                    </a:p>
                  </a:txBody>
                  <a:tcPr marL="91440" marR="91440" marT="45720" marB="45720" anchor="ctr">
                    <a:lnL w="9525" cap="flat" cmpd="sng" algn="ctr">
                      <a:solidFill>
                        <a:srgbClr val="2B3B58"/>
                      </a:solidFill>
                      <a:prstDash val="solid"/>
                      <a:round/>
                      <a:headEnd type="none" w="med" len="med"/>
                      <a:tailEnd type="none" w="med" len="med"/>
                    </a:lnL>
                    <a:lnR w="9525" cap="flat" cmpd="sng" algn="ctr">
                      <a:solidFill>
                        <a:srgbClr val="2B3B58"/>
                      </a:solidFill>
                      <a:prstDash val="solid"/>
                      <a:round/>
                      <a:headEnd type="none" w="med" len="med"/>
                      <a:tailEnd type="none" w="med" len="med"/>
                    </a:lnR>
                    <a:lnT w="9525" cap="flat" cmpd="sng" algn="ctr">
                      <a:solidFill>
                        <a:srgbClr val="2B3B58"/>
                      </a:solidFill>
                      <a:prstDash val="solid"/>
                      <a:round/>
                      <a:headEnd type="none" w="med" len="med"/>
                      <a:tailEnd type="none" w="med" len="med"/>
                    </a:lnT>
                    <a:lnB w="9525" cap="flat" cmpd="sng" algn="ctr">
                      <a:solidFill>
                        <a:srgbClr val="2B3B58"/>
                      </a:solidFill>
                      <a:prstDash val="solid"/>
                      <a:round/>
                      <a:headEnd type="none" w="med" len="med"/>
                      <a:tailEnd type="none" w="med" len="med"/>
                    </a:lnB>
                    <a:solidFill>
                      <a:srgbClr val="17223A"/>
                    </a:solidFill>
                  </a:tcPr>
                </a:tc>
              </a:tr>
            </a:tbl>
          </a:graphicData>
        </a:graphic>
      </p:graphicFrame>
      <p:sp>
        <p:nvSpPr>
          <p:cNvPr id="10" name="Text 7"/>
          <p:cNvSpPr txBox="1"/>
          <p:nvPr/>
        </p:nvSpPr>
        <p:spPr>
          <a:xfrm>
            <a:off x="502920" y="6547104"/>
            <a:ext cx="7772400" cy="256032"/>
          </a:xfrm>
          <a:prstGeom prst="rect">
            <a:avLst/>
          </a:prstGeom>
          <a:noFill/>
          <a:ln/>
        </p:spPr>
        <p:txBody>
          <a:bodyPr wrap="square" lIns="0" tIns="0" rIns="0" bIns="0" rtlCol="0" anchor="ctr"/>
          <a:lstStyle/>
          <a:p>
            <a:pPr algn="l" indent="0" marL="0">
              <a:buNone/>
            </a:pPr>
            <a:r>
              <a:rPr lang="en-US" sz="900" dirty="0">
                <a:solidFill>
                  <a:srgbClr val="748199"/>
                </a:solidFill>
                <a:latin typeface="Calibri" pitchFamily="34" charset="0"/>
                <a:ea typeface="Calibri" pitchFamily="34" charset="-122"/>
                <a:cs typeface="Calibri" pitchFamily="34" charset="-120"/>
              </a:rPr>
              <a:t>Requirements Engineering (2026) 31:7  •  Paiva, Canedo &amp; Rocha Filho</a:t>
            </a:r>
            <a:endParaRPr lang="en-US" sz="900" dirty="0"/>
          </a:p>
        </p:txBody>
      </p:sp>
      <p:sp>
        <p:nvSpPr>
          <p:cNvPr id="11" name="Text 8"/>
          <p:cNvSpPr txBox="1"/>
          <p:nvPr/>
        </p:nvSpPr>
        <p:spPr>
          <a:xfrm>
            <a:off x="10972800" y="6547104"/>
            <a:ext cx="731520" cy="256032"/>
          </a:xfrm>
          <a:prstGeom prst="rect">
            <a:avLst/>
          </a:prstGeom>
          <a:noFill/>
          <a:ln/>
        </p:spPr>
        <p:txBody>
          <a:bodyPr wrap="square" lIns="0" tIns="0" rIns="0" bIns="0" rtlCol="0" anchor="ctr"/>
          <a:lstStyle/>
          <a:p>
            <a:pPr algn="r" indent="0" marL="0">
              <a:buNone/>
            </a:pPr>
            <a:r>
              <a:rPr lang="en-US" sz="900" dirty="0">
                <a:solidFill>
                  <a:srgbClr val="748199"/>
                </a:solidFill>
                <a:latin typeface="Calibri" pitchFamily="34" charset="0"/>
                <a:ea typeface="Calibri" pitchFamily="34" charset="-122"/>
                <a:cs typeface="Calibri" pitchFamily="34" charset="-120"/>
              </a:rPr>
              <a:t>05 / 20</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321"/>
        </a:solidFill>
      </p:bgPr>
    </p:bg>
    <p:spTree>
      <p:nvGrpSpPr>
        <p:cNvPr id="1" name=""/>
        <p:cNvGrpSpPr/>
        <p:nvPr/>
      </p:nvGrpSpPr>
      <p:grpSpPr>
        <a:xfrm>
          <a:off x="0" y="0"/>
          <a:ext cx="0" cy="0"/>
          <a:chOff x="0" y="0"/>
          <a:chExt cx="0" cy="0"/>
        </a:xfrm>
      </p:grpSpPr>
      <p:sp>
        <p:nvSpPr>
          <p:cNvPr id="2" name="Shape 0"/>
          <p:cNvSpPr/>
          <p:nvPr/>
        </p:nvSpPr>
        <p:spPr>
          <a:xfrm>
            <a:off x="502920" y="457200"/>
            <a:ext cx="128016" cy="128016"/>
          </a:xfrm>
          <a:prstGeom prst="rect">
            <a:avLst/>
          </a:prstGeom>
          <a:solidFill>
            <a:srgbClr val="C9A227"/>
          </a:solidFill>
          <a:ln/>
        </p:spPr>
      </p:sp>
      <p:sp>
        <p:nvSpPr>
          <p:cNvPr id="3" name="Text 1"/>
          <p:cNvSpPr txBox="1"/>
          <p:nvPr/>
        </p:nvSpPr>
        <p:spPr>
          <a:xfrm>
            <a:off x="749808" y="347472"/>
            <a:ext cx="9144000" cy="292608"/>
          </a:xfrm>
          <a:prstGeom prst="rect">
            <a:avLst/>
          </a:prstGeom>
          <a:noFill/>
          <a:ln/>
        </p:spPr>
        <p:txBody>
          <a:bodyPr wrap="square" lIns="0" tIns="0" rIns="0" bIns="0" rtlCol="0" anchor="ctr"/>
          <a:lstStyle/>
          <a:p>
            <a:pPr indent="0" marL="0">
              <a:buNone/>
            </a:pPr>
            <a:r>
              <a:rPr lang="en-US" sz="1250" b="1" spc="200" kern="0" dirty="0">
                <a:solidFill>
                  <a:srgbClr val="C9A227"/>
                </a:solidFill>
                <a:latin typeface="Calibri" pitchFamily="34" charset="0"/>
                <a:ea typeface="Calibri" pitchFamily="34" charset="-122"/>
                <a:cs typeface="Calibri" pitchFamily="34" charset="-120"/>
              </a:rPr>
              <a:t>RESEARCH METHOD</a:t>
            </a:r>
            <a:endParaRPr lang="en-US" sz="1250" dirty="0"/>
          </a:p>
        </p:txBody>
      </p:sp>
      <p:sp>
        <p:nvSpPr>
          <p:cNvPr id="4" name="Text 2"/>
          <p:cNvSpPr txBox="1"/>
          <p:nvPr/>
        </p:nvSpPr>
        <p:spPr>
          <a:xfrm>
            <a:off x="502920" y="658368"/>
            <a:ext cx="11155680" cy="685800"/>
          </a:xfrm>
          <a:prstGeom prst="rect">
            <a:avLst/>
          </a:prstGeom>
          <a:noFill/>
          <a:ln/>
        </p:spPr>
        <p:txBody>
          <a:bodyPr wrap="square" lIns="0" tIns="0" rIns="0" bIns="0" rtlCol="0" anchor="ctr"/>
          <a:lstStyle/>
          <a:p>
            <a:pPr indent="0" marL="0">
              <a:buNone/>
            </a:pPr>
            <a:r>
              <a:rPr lang="en-US" sz="3000" b="1" dirty="0">
                <a:solidFill>
                  <a:srgbClr val="F4F6FA"/>
                </a:solidFill>
                <a:latin typeface="Cambria" pitchFamily="34" charset="0"/>
                <a:ea typeface="Cambria" pitchFamily="34" charset="-122"/>
                <a:cs typeface="Cambria" pitchFamily="34" charset="-120"/>
              </a:rPr>
              <a:t>Experimental Methodology: Overall Workflow</a:t>
            </a:r>
            <a:endParaRPr lang="en-US" sz="3000" dirty="0"/>
          </a:p>
        </p:txBody>
      </p:sp>
      <p:sp>
        <p:nvSpPr>
          <p:cNvPr id="5" name="Shape 3"/>
          <p:cNvSpPr/>
          <p:nvPr/>
        </p:nvSpPr>
        <p:spPr>
          <a:xfrm>
            <a:off x="502920" y="2103120"/>
            <a:ext cx="1920240" cy="1874520"/>
          </a:xfrm>
          <a:prstGeom prst="roundRect">
            <a:avLst>
              <a:gd name="adj" fmla="val 3902"/>
            </a:avLst>
          </a:prstGeom>
          <a:solidFill>
            <a:srgbClr val="17223A"/>
          </a:solidFill>
          <a:ln w="12700">
            <a:solidFill>
              <a:srgbClr val="2B3B58"/>
            </a:solidFill>
            <a:prstDash val="solid"/>
          </a:ln>
          <a:effectLst>
            <a:outerShdw sx="100000" sy="100000" kx="0" ky="0" algn="bl" rotWithShape="0" blurRad="101600" dist="38100" dir="5400000">
              <a:srgbClr val="000000">
                <a:alpha val="35000"/>
              </a:srgbClr>
            </a:outerShdw>
          </a:effectLst>
        </p:spPr>
      </p:sp>
      <p:sp>
        <p:nvSpPr>
          <p:cNvPr id="6" name="Shape 4"/>
          <p:cNvSpPr/>
          <p:nvPr/>
        </p:nvSpPr>
        <p:spPr>
          <a:xfrm>
            <a:off x="1207008" y="2267712"/>
            <a:ext cx="512064" cy="512064"/>
          </a:xfrm>
          <a:prstGeom prst="ellipse">
            <a:avLst/>
          </a:prstGeom>
          <a:solidFill>
            <a:srgbClr val="1A2740"/>
          </a:solidFill>
          <a:ln w="15875">
            <a:solidFill>
              <a:srgbClr val="C9A227"/>
            </a:solidFill>
            <a:prstDash val="solid"/>
          </a:ln>
        </p:spPr>
      </p:sp>
      <p:sp>
        <p:nvSpPr>
          <p:cNvPr id="7" name="Text 5"/>
          <p:cNvSpPr txBox="1"/>
          <p:nvPr/>
        </p:nvSpPr>
        <p:spPr>
          <a:xfrm>
            <a:off x="1207008" y="2267712"/>
            <a:ext cx="512064" cy="512064"/>
          </a:xfrm>
          <a:prstGeom prst="rect">
            <a:avLst/>
          </a:prstGeom>
          <a:noFill/>
          <a:ln/>
        </p:spPr>
        <p:txBody>
          <a:bodyPr wrap="square" lIns="0" tIns="0" rIns="0" bIns="0" rtlCol="0" anchor="ctr"/>
          <a:lstStyle/>
          <a:p>
            <a:pPr algn="ctr" indent="0" marL="0">
              <a:buNone/>
            </a:pPr>
            <a:r>
              <a:rPr lang="en-US" sz="1500" b="1" dirty="0">
                <a:solidFill>
                  <a:srgbClr val="C9A227"/>
                </a:solidFill>
                <a:latin typeface="Cambria" pitchFamily="34" charset="0"/>
                <a:ea typeface="Cambria" pitchFamily="34" charset="-122"/>
                <a:cs typeface="Cambria" pitchFamily="34" charset="-120"/>
              </a:rPr>
              <a:t>1</a:t>
            </a:r>
            <a:endParaRPr lang="en-US" sz="1500" dirty="0"/>
          </a:p>
        </p:txBody>
      </p:sp>
      <p:sp>
        <p:nvSpPr>
          <p:cNvPr id="8" name="Text 6"/>
          <p:cNvSpPr txBox="1"/>
          <p:nvPr/>
        </p:nvSpPr>
        <p:spPr>
          <a:xfrm>
            <a:off x="594360" y="2880360"/>
            <a:ext cx="1737360" cy="594360"/>
          </a:xfrm>
          <a:prstGeom prst="rect">
            <a:avLst/>
          </a:prstGeom>
          <a:noFill/>
          <a:ln/>
        </p:spPr>
        <p:txBody>
          <a:bodyPr wrap="square" lIns="0" tIns="0" rIns="0" bIns="0" rtlCol="0" anchor="t"/>
          <a:lstStyle/>
          <a:p>
            <a:pPr algn="ctr" indent="0" marL="0">
              <a:buNone/>
            </a:pPr>
            <a:r>
              <a:rPr lang="en-US" sz="1250" b="1" dirty="0">
                <a:solidFill>
                  <a:srgbClr val="F4F6FA"/>
                </a:solidFill>
                <a:latin typeface="Calibri" pitchFamily="34" charset="0"/>
                <a:ea typeface="Calibri" pitchFamily="34" charset="-122"/>
                <a:cs typeface="Calibri" pitchFamily="34" charset="-120"/>
              </a:rPr>
              <a:t>150 OSS</a:t>
            </a:r>
            <a:endParaRPr lang="en-US" sz="1250" dirty="0"/>
          </a:p>
          <a:p>
            <a:pPr algn="ctr" indent="0" marL="0">
              <a:buNone/>
            </a:pPr>
            <a:r>
              <a:rPr lang="en-US" sz="1250" b="1" dirty="0">
                <a:solidFill>
                  <a:srgbClr val="F4F6FA"/>
                </a:solidFill>
                <a:latin typeface="Calibri" pitchFamily="34" charset="0"/>
                <a:ea typeface="Calibri" pitchFamily="34" charset="-122"/>
                <a:cs typeface="Calibri" pitchFamily="34" charset="-120"/>
              </a:rPr>
              <a:t>Issue Titles</a:t>
            </a:r>
            <a:endParaRPr lang="en-US" sz="1250" dirty="0"/>
          </a:p>
        </p:txBody>
      </p:sp>
      <p:sp>
        <p:nvSpPr>
          <p:cNvPr id="9" name="Text 7"/>
          <p:cNvSpPr txBox="1"/>
          <p:nvPr/>
        </p:nvSpPr>
        <p:spPr>
          <a:xfrm>
            <a:off x="594360" y="3456432"/>
            <a:ext cx="1737360" cy="457200"/>
          </a:xfrm>
          <a:prstGeom prst="rect">
            <a:avLst/>
          </a:prstGeom>
          <a:noFill/>
          <a:ln/>
        </p:spPr>
        <p:txBody>
          <a:bodyPr wrap="square" lIns="0" tIns="0" rIns="0" bIns="0" rtlCol="0" anchor="t"/>
          <a:lstStyle/>
          <a:p>
            <a:pPr algn="ctr" indent="0" marL="0">
              <a:buNone/>
            </a:pPr>
            <a:r>
              <a:rPr lang="en-US" sz="950" dirty="0">
                <a:solidFill>
                  <a:srgbClr val="9FB0C7"/>
                </a:solidFill>
                <a:latin typeface="Calibri" pitchFamily="34" charset="0"/>
                <a:ea typeface="Calibri" pitchFamily="34" charset="-122"/>
                <a:cs typeface="Calibri" pitchFamily="34" charset="-120"/>
              </a:rPr>
              <a:t>GitHub feature requests, 5 repos</a:t>
            </a:r>
            <a:endParaRPr lang="en-US" sz="950" dirty="0"/>
          </a:p>
        </p:txBody>
      </p:sp>
      <p:sp>
        <p:nvSpPr>
          <p:cNvPr id="10" name="Text 8"/>
          <p:cNvSpPr txBox="1"/>
          <p:nvPr/>
        </p:nvSpPr>
        <p:spPr>
          <a:xfrm>
            <a:off x="2423160" y="2724912"/>
            <a:ext cx="347472" cy="548640"/>
          </a:xfrm>
          <a:prstGeom prst="rect">
            <a:avLst/>
          </a:prstGeom>
          <a:noFill/>
          <a:ln/>
        </p:spPr>
        <p:txBody>
          <a:bodyPr wrap="square" lIns="0" tIns="0" rIns="0" bIns="0" rtlCol="0" anchor="ctr"/>
          <a:lstStyle/>
          <a:p>
            <a:pPr algn="ctr" indent="0" marL="0">
              <a:buNone/>
            </a:pPr>
            <a:r>
              <a:rPr lang="en-US" sz="2000" b="1" dirty="0">
                <a:solidFill>
                  <a:srgbClr val="C9A227"/>
                </a:solidFill>
                <a:latin typeface="Calibri" pitchFamily="34" charset="0"/>
                <a:ea typeface="Calibri" pitchFamily="34" charset="-122"/>
                <a:cs typeface="Calibri" pitchFamily="34" charset="-120"/>
              </a:rPr>
              <a:t>→</a:t>
            </a:r>
            <a:endParaRPr lang="en-US" sz="2000" dirty="0"/>
          </a:p>
        </p:txBody>
      </p:sp>
      <p:sp>
        <p:nvSpPr>
          <p:cNvPr id="11" name="Shape 9"/>
          <p:cNvSpPr/>
          <p:nvPr/>
        </p:nvSpPr>
        <p:spPr>
          <a:xfrm>
            <a:off x="2770632" y="2103120"/>
            <a:ext cx="1920240" cy="1874520"/>
          </a:xfrm>
          <a:prstGeom prst="roundRect">
            <a:avLst>
              <a:gd name="adj" fmla="val 3902"/>
            </a:avLst>
          </a:prstGeom>
          <a:solidFill>
            <a:srgbClr val="1D2C48"/>
          </a:solidFill>
          <a:ln w="12700">
            <a:solidFill>
              <a:srgbClr val="2B3B58"/>
            </a:solidFill>
            <a:prstDash val="solid"/>
          </a:ln>
          <a:effectLst>
            <a:outerShdw sx="100000" sy="100000" kx="0" ky="0" algn="bl" rotWithShape="0" blurRad="101600" dist="38100" dir="5400000">
              <a:srgbClr val="000000">
                <a:alpha val="35000"/>
              </a:srgbClr>
            </a:outerShdw>
          </a:effectLst>
        </p:spPr>
      </p:sp>
      <p:sp>
        <p:nvSpPr>
          <p:cNvPr id="12" name="Shape 10"/>
          <p:cNvSpPr/>
          <p:nvPr/>
        </p:nvSpPr>
        <p:spPr>
          <a:xfrm>
            <a:off x="3474720" y="2267712"/>
            <a:ext cx="512064" cy="512064"/>
          </a:xfrm>
          <a:prstGeom prst="ellipse">
            <a:avLst/>
          </a:prstGeom>
          <a:solidFill>
            <a:srgbClr val="1A2740"/>
          </a:solidFill>
          <a:ln w="15875">
            <a:solidFill>
              <a:srgbClr val="C9A227"/>
            </a:solidFill>
            <a:prstDash val="solid"/>
          </a:ln>
        </p:spPr>
      </p:sp>
      <p:sp>
        <p:nvSpPr>
          <p:cNvPr id="13" name="Text 11"/>
          <p:cNvSpPr txBox="1"/>
          <p:nvPr/>
        </p:nvSpPr>
        <p:spPr>
          <a:xfrm>
            <a:off x="3474720" y="2267712"/>
            <a:ext cx="512064" cy="512064"/>
          </a:xfrm>
          <a:prstGeom prst="rect">
            <a:avLst/>
          </a:prstGeom>
          <a:noFill/>
          <a:ln/>
        </p:spPr>
        <p:txBody>
          <a:bodyPr wrap="square" lIns="0" tIns="0" rIns="0" bIns="0" rtlCol="0" anchor="ctr"/>
          <a:lstStyle/>
          <a:p>
            <a:pPr algn="ctr" indent="0" marL="0">
              <a:buNone/>
            </a:pPr>
            <a:r>
              <a:rPr lang="en-US" sz="1500" b="1" dirty="0">
                <a:solidFill>
                  <a:srgbClr val="C9A227"/>
                </a:solidFill>
                <a:latin typeface="Cambria" pitchFamily="34" charset="0"/>
                <a:ea typeface="Cambria" pitchFamily="34" charset="-122"/>
                <a:cs typeface="Cambria" pitchFamily="34" charset="-120"/>
              </a:rPr>
              <a:t>2</a:t>
            </a:r>
            <a:endParaRPr lang="en-US" sz="1500" dirty="0"/>
          </a:p>
        </p:txBody>
      </p:sp>
      <p:sp>
        <p:nvSpPr>
          <p:cNvPr id="14" name="Text 12"/>
          <p:cNvSpPr txBox="1"/>
          <p:nvPr/>
        </p:nvSpPr>
        <p:spPr>
          <a:xfrm>
            <a:off x="2862072" y="2880360"/>
            <a:ext cx="1737360" cy="594360"/>
          </a:xfrm>
          <a:prstGeom prst="rect">
            <a:avLst/>
          </a:prstGeom>
          <a:noFill/>
          <a:ln/>
        </p:spPr>
        <p:txBody>
          <a:bodyPr wrap="square" lIns="0" tIns="0" rIns="0" bIns="0" rtlCol="0" anchor="t"/>
          <a:lstStyle/>
          <a:p>
            <a:pPr algn="ctr" indent="0" marL="0">
              <a:buNone/>
            </a:pPr>
            <a:r>
              <a:rPr lang="en-US" sz="1250" b="1" dirty="0">
                <a:solidFill>
                  <a:srgbClr val="F4F6FA"/>
                </a:solidFill>
                <a:latin typeface="Calibri" pitchFamily="34" charset="0"/>
                <a:ea typeface="Calibri" pitchFamily="34" charset="-122"/>
                <a:cs typeface="Calibri" pitchFamily="34" charset="-120"/>
              </a:rPr>
              <a:t>2 LLMs × 3</a:t>
            </a:r>
            <a:endParaRPr lang="en-US" sz="1250" dirty="0"/>
          </a:p>
          <a:p>
            <a:pPr algn="ctr" indent="0" marL="0">
              <a:buNone/>
            </a:pPr>
            <a:r>
              <a:rPr lang="en-US" sz="1250" b="1" dirty="0">
                <a:solidFill>
                  <a:srgbClr val="F4F6FA"/>
                </a:solidFill>
                <a:latin typeface="Calibri" pitchFamily="34" charset="0"/>
                <a:ea typeface="Calibri" pitchFamily="34" charset="-122"/>
                <a:cs typeface="Calibri" pitchFamily="34" charset="-120"/>
              </a:rPr>
              <a:t>Prompt Styles</a:t>
            </a:r>
            <a:endParaRPr lang="en-US" sz="1250" dirty="0"/>
          </a:p>
        </p:txBody>
      </p:sp>
      <p:sp>
        <p:nvSpPr>
          <p:cNvPr id="15" name="Text 13"/>
          <p:cNvSpPr txBox="1"/>
          <p:nvPr/>
        </p:nvSpPr>
        <p:spPr>
          <a:xfrm>
            <a:off x="2862072" y="3456432"/>
            <a:ext cx="1737360" cy="457200"/>
          </a:xfrm>
          <a:prstGeom prst="rect">
            <a:avLst/>
          </a:prstGeom>
          <a:noFill/>
          <a:ln/>
        </p:spPr>
        <p:txBody>
          <a:bodyPr wrap="square" lIns="0" tIns="0" rIns="0" bIns="0" rtlCol="0" anchor="t"/>
          <a:lstStyle/>
          <a:p>
            <a:pPr algn="ctr" indent="0" marL="0">
              <a:buNone/>
            </a:pPr>
            <a:r>
              <a:rPr lang="en-US" sz="950" dirty="0">
                <a:solidFill>
                  <a:srgbClr val="9FB0C7"/>
                </a:solidFill>
                <a:latin typeface="Calibri" pitchFamily="34" charset="0"/>
                <a:ea typeface="Calibri" pitchFamily="34" charset="-122"/>
                <a:cs typeface="Calibri" pitchFamily="34" charset="-120"/>
              </a:rPr>
              <a:t>o3-mini &amp; DeepSeek R1</a:t>
            </a:r>
            <a:endParaRPr lang="en-US" sz="950" dirty="0"/>
          </a:p>
        </p:txBody>
      </p:sp>
      <p:sp>
        <p:nvSpPr>
          <p:cNvPr id="16" name="Text 14"/>
          <p:cNvSpPr txBox="1"/>
          <p:nvPr/>
        </p:nvSpPr>
        <p:spPr>
          <a:xfrm>
            <a:off x="4690872" y="2724912"/>
            <a:ext cx="347472" cy="548640"/>
          </a:xfrm>
          <a:prstGeom prst="rect">
            <a:avLst/>
          </a:prstGeom>
          <a:noFill/>
          <a:ln/>
        </p:spPr>
        <p:txBody>
          <a:bodyPr wrap="square" lIns="0" tIns="0" rIns="0" bIns="0" rtlCol="0" anchor="ctr"/>
          <a:lstStyle/>
          <a:p>
            <a:pPr algn="ctr" indent="0" marL="0">
              <a:buNone/>
            </a:pPr>
            <a:r>
              <a:rPr lang="en-US" sz="2000" b="1" dirty="0">
                <a:solidFill>
                  <a:srgbClr val="C9A227"/>
                </a:solidFill>
                <a:latin typeface="Calibri" pitchFamily="34" charset="0"/>
                <a:ea typeface="Calibri" pitchFamily="34" charset="-122"/>
                <a:cs typeface="Calibri" pitchFamily="34" charset="-120"/>
              </a:rPr>
              <a:t>→</a:t>
            </a:r>
            <a:endParaRPr lang="en-US" sz="2000" dirty="0"/>
          </a:p>
        </p:txBody>
      </p:sp>
      <p:sp>
        <p:nvSpPr>
          <p:cNvPr id="17" name="Shape 15"/>
          <p:cNvSpPr/>
          <p:nvPr/>
        </p:nvSpPr>
        <p:spPr>
          <a:xfrm>
            <a:off x="5038344" y="2103120"/>
            <a:ext cx="1920240" cy="1874520"/>
          </a:xfrm>
          <a:prstGeom prst="roundRect">
            <a:avLst>
              <a:gd name="adj" fmla="val 3902"/>
            </a:avLst>
          </a:prstGeom>
          <a:solidFill>
            <a:srgbClr val="17223A"/>
          </a:solidFill>
          <a:ln w="12700">
            <a:solidFill>
              <a:srgbClr val="2B3B58"/>
            </a:solidFill>
            <a:prstDash val="solid"/>
          </a:ln>
          <a:effectLst>
            <a:outerShdw sx="100000" sy="100000" kx="0" ky="0" algn="bl" rotWithShape="0" blurRad="101600" dist="38100" dir="5400000">
              <a:srgbClr val="000000">
                <a:alpha val="35000"/>
              </a:srgbClr>
            </a:outerShdw>
          </a:effectLst>
        </p:spPr>
      </p:sp>
      <p:sp>
        <p:nvSpPr>
          <p:cNvPr id="18" name="Shape 16"/>
          <p:cNvSpPr/>
          <p:nvPr/>
        </p:nvSpPr>
        <p:spPr>
          <a:xfrm>
            <a:off x="5742432" y="2267712"/>
            <a:ext cx="512064" cy="512064"/>
          </a:xfrm>
          <a:prstGeom prst="ellipse">
            <a:avLst/>
          </a:prstGeom>
          <a:solidFill>
            <a:srgbClr val="1A2740"/>
          </a:solidFill>
          <a:ln w="15875">
            <a:solidFill>
              <a:srgbClr val="C9A227"/>
            </a:solidFill>
            <a:prstDash val="solid"/>
          </a:ln>
        </p:spPr>
      </p:sp>
      <p:sp>
        <p:nvSpPr>
          <p:cNvPr id="19" name="Text 17"/>
          <p:cNvSpPr txBox="1"/>
          <p:nvPr/>
        </p:nvSpPr>
        <p:spPr>
          <a:xfrm>
            <a:off x="5742432" y="2267712"/>
            <a:ext cx="512064" cy="512064"/>
          </a:xfrm>
          <a:prstGeom prst="rect">
            <a:avLst/>
          </a:prstGeom>
          <a:noFill/>
          <a:ln/>
        </p:spPr>
        <p:txBody>
          <a:bodyPr wrap="square" lIns="0" tIns="0" rIns="0" bIns="0" rtlCol="0" anchor="ctr"/>
          <a:lstStyle/>
          <a:p>
            <a:pPr algn="ctr" indent="0" marL="0">
              <a:buNone/>
            </a:pPr>
            <a:r>
              <a:rPr lang="en-US" sz="1500" b="1" dirty="0">
                <a:solidFill>
                  <a:srgbClr val="C9A227"/>
                </a:solidFill>
                <a:latin typeface="Cambria" pitchFamily="34" charset="0"/>
                <a:ea typeface="Cambria" pitchFamily="34" charset="-122"/>
                <a:cs typeface="Cambria" pitchFamily="34" charset="-120"/>
              </a:rPr>
              <a:t>3</a:t>
            </a:r>
            <a:endParaRPr lang="en-US" sz="1500" dirty="0"/>
          </a:p>
        </p:txBody>
      </p:sp>
      <p:sp>
        <p:nvSpPr>
          <p:cNvPr id="20" name="Text 18"/>
          <p:cNvSpPr txBox="1"/>
          <p:nvPr/>
        </p:nvSpPr>
        <p:spPr>
          <a:xfrm>
            <a:off x="5129784" y="2880360"/>
            <a:ext cx="1737360" cy="594360"/>
          </a:xfrm>
          <a:prstGeom prst="rect">
            <a:avLst/>
          </a:prstGeom>
          <a:noFill/>
          <a:ln/>
        </p:spPr>
        <p:txBody>
          <a:bodyPr wrap="square" lIns="0" tIns="0" rIns="0" bIns="0" rtlCol="0" anchor="t"/>
          <a:lstStyle/>
          <a:p>
            <a:pPr algn="ctr" indent="0" marL="0">
              <a:buNone/>
            </a:pPr>
            <a:r>
              <a:rPr lang="en-US" sz="1250" b="1" dirty="0">
                <a:solidFill>
                  <a:srgbClr val="F4F6FA"/>
                </a:solidFill>
                <a:latin typeface="Calibri" pitchFamily="34" charset="0"/>
                <a:ea typeface="Calibri" pitchFamily="34" charset="-122"/>
                <a:cs typeface="Calibri" pitchFamily="34" charset="-120"/>
              </a:rPr>
              <a:t>900 Generated</a:t>
            </a:r>
            <a:endParaRPr lang="en-US" sz="1250" dirty="0"/>
          </a:p>
          <a:p>
            <a:pPr algn="ctr" indent="0" marL="0">
              <a:buNone/>
            </a:pPr>
            <a:r>
              <a:rPr lang="en-US" sz="1250" b="1" dirty="0">
                <a:solidFill>
                  <a:srgbClr val="F4F6FA"/>
                </a:solidFill>
                <a:latin typeface="Calibri" pitchFamily="34" charset="0"/>
                <a:ea typeface="Calibri" pitchFamily="34" charset="-122"/>
                <a:cs typeface="Calibri" pitchFamily="34" charset="-120"/>
              </a:rPr>
              <a:t>Requirements</a:t>
            </a:r>
            <a:endParaRPr lang="en-US" sz="1250" dirty="0"/>
          </a:p>
        </p:txBody>
      </p:sp>
      <p:sp>
        <p:nvSpPr>
          <p:cNvPr id="21" name="Text 19"/>
          <p:cNvSpPr txBox="1"/>
          <p:nvPr/>
        </p:nvSpPr>
        <p:spPr>
          <a:xfrm>
            <a:off x="5129784" y="3456432"/>
            <a:ext cx="1737360" cy="457200"/>
          </a:xfrm>
          <a:prstGeom prst="rect">
            <a:avLst/>
          </a:prstGeom>
          <a:noFill/>
          <a:ln/>
        </p:spPr>
        <p:txBody>
          <a:bodyPr wrap="square" lIns="0" tIns="0" rIns="0" bIns="0" rtlCol="0" anchor="t"/>
          <a:lstStyle/>
          <a:p>
            <a:pPr algn="ctr" indent="0" marL="0">
              <a:buNone/>
            </a:pPr>
            <a:r>
              <a:rPr lang="en-US" sz="950" dirty="0">
                <a:solidFill>
                  <a:srgbClr val="9FB0C7"/>
                </a:solidFill>
                <a:latin typeface="Calibri" pitchFamily="34" charset="0"/>
                <a:ea typeface="Calibri" pitchFamily="34" charset="-122"/>
                <a:cs typeface="Calibri" pitchFamily="34" charset="-120"/>
              </a:rPr>
              <a:t>One per LLM × prompt × title</a:t>
            </a:r>
            <a:endParaRPr lang="en-US" sz="950" dirty="0"/>
          </a:p>
        </p:txBody>
      </p:sp>
      <p:sp>
        <p:nvSpPr>
          <p:cNvPr id="22" name="Text 20"/>
          <p:cNvSpPr txBox="1"/>
          <p:nvPr/>
        </p:nvSpPr>
        <p:spPr>
          <a:xfrm>
            <a:off x="6958584" y="2724912"/>
            <a:ext cx="347472" cy="548640"/>
          </a:xfrm>
          <a:prstGeom prst="rect">
            <a:avLst/>
          </a:prstGeom>
          <a:noFill/>
          <a:ln/>
        </p:spPr>
        <p:txBody>
          <a:bodyPr wrap="square" lIns="0" tIns="0" rIns="0" bIns="0" rtlCol="0" anchor="ctr"/>
          <a:lstStyle/>
          <a:p>
            <a:pPr algn="ctr" indent="0" marL="0">
              <a:buNone/>
            </a:pPr>
            <a:r>
              <a:rPr lang="en-US" sz="2000" b="1" dirty="0">
                <a:solidFill>
                  <a:srgbClr val="C9A227"/>
                </a:solidFill>
                <a:latin typeface="Calibri" pitchFamily="34" charset="0"/>
                <a:ea typeface="Calibri" pitchFamily="34" charset="-122"/>
                <a:cs typeface="Calibri" pitchFamily="34" charset="-120"/>
              </a:rPr>
              <a:t>→</a:t>
            </a:r>
            <a:endParaRPr lang="en-US" sz="2000" dirty="0"/>
          </a:p>
        </p:txBody>
      </p:sp>
      <p:sp>
        <p:nvSpPr>
          <p:cNvPr id="23" name="Shape 21"/>
          <p:cNvSpPr/>
          <p:nvPr/>
        </p:nvSpPr>
        <p:spPr>
          <a:xfrm>
            <a:off x="7306056" y="2103120"/>
            <a:ext cx="1920240" cy="1874520"/>
          </a:xfrm>
          <a:prstGeom prst="roundRect">
            <a:avLst>
              <a:gd name="adj" fmla="val 3902"/>
            </a:avLst>
          </a:prstGeom>
          <a:solidFill>
            <a:srgbClr val="1D2C48"/>
          </a:solidFill>
          <a:ln w="12700">
            <a:solidFill>
              <a:srgbClr val="2B3B58"/>
            </a:solidFill>
            <a:prstDash val="solid"/>
          </a:ln>
          <a:effectLst>
            <a:outerShdw sx="100000" sy="100000" kx="0" ky="0" algn="bl" rotWithShape="0" blurRad="101600" dist="38100" dir="5400000">
              <a:srgbClr val="000000">
                <a:alpha val="35000"/>
              </a:srgbClr>
            </a:outerShdw>
          </a:effectLst>
        </p:spPr>
      </p:sp>
      <p:sp>
        <p:nvSpPr>
          <p:cNvPr id="24" name="Shape 22"/>
          <p:cNvSpPr/>
          <p:nvPr/>
        </p:nvSpPr>
        <p:spPr>
          <a:xfrm>
            <a:off x="8010144" y="2267712"/>
            <a:ext cx="512064" cy="512064"/>
          </a:xfrm>
          <a:prstGeom prst="ellipse">
            <a:avLst/>
          </a:prstGeom>
          <a:solidFill>
            <a:srgbClr val="1A2740"/>
          </a:solidFill>
          <a:ln w="15875">
            <a:solidFill>
              <a:srgbClr val="C9A227"/>
            </a:solidFill>
            <a:prstDash val="solid"/>
          </a:ln>
        </p:spPr>
      </p:sp>
      <p:sp>
        <p:nvSpPr>
          <p:cNvPr id="25" name="Text 23"/>
          <p:cNvSpPr txBox="1"/>
          <p:nvPr/>
        </p:nvSpPr>
        <p:spPr>
          <a:xfrm>
            <a:off x="8010144" y="2267712"/>
            <a:ext cx="512064" cy="512064"/>
          </a:xfrm>
          <a:prstGeom prst="rect">
            <a:avLst/>
          </a:prstGeom>
          <a:noFill/>
          <a:ln/>
        </p:spPr>
        <p:txBody>
          <a:bodyPr wrap="square" lIns="0" tIns="0" rIns="0" bIns="0" rtlCol="0" anchor="ctr"/>
          <a:lstStyle/>
          <a:p>
            <a:pPr algn="ctr" indent="0" marL="0">
              <a:buNone/>
            </a:pPr>
            <a:r>
              <a:rPr lang="en-US" sz="1500" b="1" dirty="0">
                <a:solidFill>
                  <a:srgbClr val="C9A227"/>
                </a:solidFill>
                <a:latin typeface="Cambria" pitchFamily="34" charset="0"/>
                <a:ea typeface="Cambria" pitchFamily="34" charset="-122"/>
                <a:cs typeface="Cambria" pitchFamily="34" charset="-120"/>
              </a:rPr>
              <a:t>4</a:t>
            </a:r>
            <a:endParaRPr lang="en-US" sz="1500" dirty="0"/>
          </a:p>
        </p:txBody>
      </p:sp>
      <p:sp>
        <p:nvSpPr>
          <p:cNvPr id="26" name="Text 24"/>
          <p:cNvSpPr txBox="1"/>
          <p:nvPr/>
        </p:nvSpPr>
        <p:spPr>
          <a:xfrm>
            <a:off x="7397496" y="2880360"/>
            <a:ext cx="1737360" cy="594360"/>
          </a:xfrm>
          <a:prstGeom prst="rect">
            <a:avLst/>
          </a:prstGeom>
          <a:noFill/>
          <a:ln/>
        </p:spPr>
        <p:txBody>
          <a:bodyPr wrap="square" lIns="0" tIns="0" rIns="0" bIns="0" rtlCol="0" anchor="t"/>
          <a:lstStyle/>
          <a:p>
            <a:pPr algn="ctr" indent="0" marL="0">
              <a:buNone/>
            </a:pPr>
            <a:r>
              <a:rPr lang="en-US" sz="1250" b="1" dirty="0">
                <a:solidFill>
                  <a:srgbClr val="F4F6FA"/>
                </a:solidFill>
                <a:latin typeface="Calibri" pitchFamily="34" charset="0"/>
                <a:ea typeface="Calibri" pitchFamily="34" charset="-122"/>
                <a:cs typeface="Calibri" pitchFamily="34" charset="-120"/>
              </a:rPr>
              <a:t>Qwen QwQ-32B</a:t>
            </a:r>
            <a:endParaRPr lang="en-US" sz="1250" dirty="0"/>
          </a:p>
          <a:p>
            <a:pPr algn="ctr" indent="0" marL="0">
              <a:buNone/>
            </a:pPr>
            <a:r>
              <a:rPr lang="en-US" sz="1250" b="1" dirty="0">
                <a:solidFill>
                  <a:srgbClr val="F4F6FA"/>
                </a:solidFill>
                <a:latin typeface="Calibri" pitchFamily="34" charset="0"/>
                <a:ea typeface="Calibri" pitchFamily="34" charset="-122"/>
                <a:cs typeface="Calibri" pitchFamily="34" charset="-120"/>
              </a:rPr>
              <a:t>Evaluator</a:t>
            </a:r>
            <a:endParaRPr lang="en-US" sz="1250" dirty="0"/>
          </a:p>
        </p:txBody>
      </p:sp>
      <p:sp>
        <p:nvSpPr>
          <p:cNvPr id="27" name="Text 25"/>
          <p:cNvSpPr txBox="1"/>
          <p:nvPr/>
        </p:nvSpPr>
        <p:spPr>
          <a:xfrm>
            <a:off x="7397496" y="3456432"/>
            <a:ext cx="1737360" cy="457200"/>
          </a:xfrm>
          <a:prstGeom prst="rect">
            <a:avLst/>
          </a:prstGeom>
          <a:noFill/>
          <a:ln/>
        </p:spPr>
        <p:txBody>
          <a:bodyPr wrap="square" lIns="0" tIns="0" rIns="0" bIns="0" rtlCol="0" anchor="t"/>
          <a:lstStyle/>
          <a:p>
            <a:pPr algn="ctr" indent="0" marL="0">
              <a:buNone/>
            </a:pPr>
            <a:r>
              <a:rPr lang="en-US" sz="950" dirty="0">
                <a:solidFill>
                  <a:srgbClr val="9FB0C7"/>
                </a:solidFill>
                <a:latin typeface="Calibri" pitchFamily="34" charset="0"/>
                <a:ea typeface="Calibri" pitchFamily="34" charset="-122"/>
                <a:cs typeface="Calibri" pitchFamily="34" charset="-120"/>
              </a:rPr>
              <a:t>LLM-as-a-Judge scoring</a:t>
            </a:r>
            <a:endParaRPr lang="en-US" sz="950" dirty="0"/>
          </a:p>
        </p:txBody>
      </p:sp>
      <p:sp>
        <p:nvSpPr>
          <p:cNvPr id="28" name="Text 26"/>
          <p:cNvSpPr txBox="1"/>
          <p:nvPr/>
        </p:nvSpPr>
        <p:spPr>
          <a:xfrm>
            <a:off x="9226296" y="2724912"/>
            <a:ext cx="347472" cy="548640"/>
          </a:xfrm>
          <a:prstGeom prst="rect">
            <a:avLst/>
          </a:prstGeom>
          <a:noFill/>
          <a:ln/>
        </p:spPr>
        <p:txBody>
          <a:bodyPr wrap="square" lIns="0" tIns="0" rIns="0" bIns="0" rtlCol="0" anchor="ctr"/>
          <a:lstStyle/>
          <a:p>
            <a:pPr algn="ctr" indent="0" marL="0">
              <a:buNone/>
            </a:pPr>
            <a:r>
              <a:rPr lang="en-US" sz="2000" b="1" dirty="0">
                <a:solidFill>
                  <a:srgbClr val="C9A227"/>
                </a:solidFill>
                <a:latin typeface="Calibri" pitchFamily="34" charset="0"/>
                <a:ea typeface="Calibri" pitchFamily="34" charset="-122"/>
                <a:cs typeface="Calibri" pitchFamily="34" charset="-120"/>
              </a:rPr>
              <a:t>→</a:t>
            </a:r>
            <a:endParaRPr lang="en-US" sz="2000" dirty="0"/>
          </a:p>
        </p:txBody>
      </p:sp>
      <p:sp>
        <p:nvSpPr>
          <p:cNvPr id="29" name="Shape 27"/>
          <p:cNvSpPr/>
          <p:nvPr/>
        </p:nvSpPr>
        <p:spPr>
          <a:xfrm>
            <a:off x="9573768" y="2103120"/>
            <a:ext cx="1920240" cy="1874520"/>
          </a:xfrm>
          <a:prstGeom prst="roundRect">
            <a:avLst>
              <a:gd name="adj" fmla="val 3902"/>
            </a:avLst>
          </a:prstGeom>
          <a:solidFill>
            <a:srgbClr val="17223A"/>
          </a:solidFill>
          <a:ln w="12700">
            <a:solidFill>
              <a:srgbClr val="2B3B58"/>
            </a:solidFill>
            <a:prstDash val="solid"/>
          </a:ln>
          <a:effectLst>
            <a:outerShdw sx="100000" sy="100000" kx="0" ky="0" algn="bl" rotWithShape="0" blurRad="101600" dist="38100" dir="5400000">
              <a:srgbClr val="000000">
                <a:alpha val="35000"/>
              </a:srgbClr>
            </a:outerShdw>
          </a:effectLst>
        </p:spPr>
      </p:sp>
      <p:sp>
        <p:nvSpPr>
          <p:cNvPr id="30" name="Shape 28"/>
          <p:cNvSpPr/>
          <p:nvPr/>
        </p:nvSpPr>
        <p:spPr>
          <a:xfrm>
            <a:off x="10277856" y="2267712"/>
            <a:ext cx="512064" cy="512064"/>
          </a:xfrm>
          <a:prstGeom prst="ellipse">
            <a:avLst/>
          </a:prstGeom>
          <a:solidFill>
            <a:srgbClr val="1A2740"/>
          </a:solidFill>
          <a:ln w="15875">
            <a:solidFill>
              <a:srgbClr val="C9A227"/>
            </a:solidFill>
            <a:prstDash val="solid"/>
          </a:ln>
        </p:spPr>
      </p:sp>
      <p:sp>
        <p:nvSpPr>
          <p:cNvPr id="31" name="Text 29"/>
          <p:cNvSpPr txBox="1"/>
          <p:nvPr/>
        </p:nvSpPr>
        <p:spPr>
          <a:xfrm>
            <a:off x="10277856" y="2267712"/>
            <a:ext cx="512064" cy="512064"/>
          </a:xfrm>
          <a:prstGeom prst="rect">
            <a:avLst/>
          </a:prstGeom>
          <a:noFill/>
          <a:ln/>
        </p:spPr>
        <p:txBody>
          <a:bodyPr wrap="square" lIns="0" tIns="0" rIns="0" bIns="0" rtlCol="0" anchor="ctr"/>
          <a:lstStyle/>
          <a:p>
            <a:pPr algn="ctr" indent="0" marL="0">
              <a:buNone/>
            </a:pPr>
            <a:r>
              <a:rPr lang="en-US" sz="1500" b="1" dirty="0">
                <a:solidFill>
                  <a:srgbClr val="C9A227"/>
                </a:solidFill>
                <a:latin typeface="Cambria" pitchFamily="34" charset="0"/>
                <a:ea typeface="Cambria" pitchFamily="34" charset="-122"/>
                <a:cs typeface="Cambria" pitchFamily="34" charset="-120"/>
              </a:rPr>
              <a:t>5</a:t>
            </a:r>
            <a:endParaRPr lang="en-US" sz="1500" dirty="0"/>
          </a:p>
        </p:txBody>
      </p:sp>
      <p:sp>
        <p:nvSpPr>
          <p:cNvPr id="32" name="Text 30"/>
          <p:cNvSpPr txBox="1"/>
          <p:nvPr/>
        </p:nvSpPr>
        <p:spPr>
          <a:xfrm>
            <a:off x="9665208" y="2880360"/>
            <a:ext cx="1737360" cy="594360"/>
          </a:xfrm>
          <a:prstGeom prst="rect">
            <a:avLst/>
          </a:prstGeom>
          <a:noFill/>
          <a:ln/>
        </p:spPr>
        <p:txBody>
          <a:bodyPr wrap="square" lIns="0" tIns="0" rIns="0" bIns="0" rtlCol="0" anchor="t"/>
          <a:lstStyle/>
          <a:p>
            <a:pPr algn="ctr" indent="0" marL="0">
              <a:buNone/>
            </a:pPr>
            <a:r>
              <a:rPr lang="en-US" sz="1250" b="1" dirty="0">
                <a:solidFill>
                  <a:srgbClr val="F4F6FA"/>
                </a:solidFill>
                <a:latin typeface="Calibri" pitchFamily="34" charset="0"/>
                <a:ea typeface="Calibri" pitchFamily="34" charset="-122"/>
                <a:cs typeface="Calibri" pitchFamily="34" charset="-120"/>
              </a:rPr>
              <a:t>Unambiguity /</a:t>
            </a:r>
            <a:endParaRPr lang="en-US" sz="1250" dirty="0"/>
          </a:p>
          <a:p>
            <a:pPr algn="ctr" indent="0" marL="0">
              <a:buNone/>
            </a:pPr>
            <a:r>
              <a:rPr lang="en-US" sz="1250" b="1" dirty="0">
                <a:solidFill>
                  <a:srgbClr val="F4F6FA"/>
                </a:solidFill>
                <a:latin typeface="Calibri" pitchFamily="34" charset="0"/>
                <a:ea typeface="Calibri" pitchFamily="34" charset="-122"/>
                <a:cs typeface="Calibri" pitchFamily="34" charset="-120"/>
              </a:rPr>
              <a:t>Verifiability / Singularity</a:t>
            </a:r>
            <a:endParaRPr lang="en-US" sz="1250" dirty="0"/>
          </a:p>
        </p:txBody>
      </p:sp>
      <p:sp>
        <p:nvSpPr>
          <p:cNvPr id="33" name="Text 31"/>
          <p:cNvSpPr txBox="1"/>
          <p:nvPr/>
        </p:nvSpPr>
        <p:spPr>
          <a:xfrm>
            <a:off x="9665208" y="3456432"/>
            <a:ext cx="1737360" cy="457200"/>
          </a:xfrm>
          <a:prstGeom prst="rect">
            <a:avLst/>
          </a:prstGeom>
          <a:noFill/>
          <a:ln/>
        </p:spPr>
        <p:txBody>
          <a:bodyPr wrap="square" lIns="0" tIns="0" rIns="0" bIns="0" rtlCol="0" anchor="t"/>
          <a:lstStyle/>
          <a:p>
            <a:pPr algn="ctr" indent="0" marL="0">
              <a:buNone/>
            </a:pPr>
            <a:r>
              <a:rPr lang="en-US" sz="950" dirty="0">
                <a:solidFill>
                  <a:srgbClr val="9FB0C7"/>
                </a:solidFill>
                <a:latin typeface="Calibri" pitchFamily="34" charset="0"/>
                <a:ea typeface="Calibri" pitchFamily="34" charset="-122"/>
                <a:cs typeface="Calibri" pitchFamily="34" charset="-120"/>
              </a:rPr>
              <a:t>Statistical + qualitative analysis</a:t>
            </a:r>
            <a:endParaRPr lang="en-US" sz="950" dirty="0"/>
          </a:p>
        </p:txBody>
      </p:sp>
      <p:sp>
        <p:nvSpPr>
          <p:cNvPr id="34" name="Shape 32"/>
          <p:cNvSpPr/>
          <p:nvPr/>
        </p:nvSpPr>
        <p:spPr>
          <a:xfrm>
            <a:off x="502920" y="4434840"/>
            <a:ext cx="11155680" cy="1600200"/>
          </a:xfrm>
          <a:prstGeom prst="roundRect">
            <a:avLst>
              <a:gd name="adj" fmla="val 4571"/>
            </a:avLst>
          </a:prstGeom>
          <a:solidFill>
            <a:srgbClr val="1D2C48"/>
          </a:solidFill>
          <a:ln w="12700">
            <a:solidFill>
              <a:srgbClr val="2B3B58"/>
            </a:solidFill>
            <a:prstDash val="solid"/>
          </a:ln>
          <a:effectLst>
            <a:outerShdw sx="100000" sy="100000" kx="0" ky="0" algn="bl" rotWithShape="0" blurRad="101600" dist="38100" dir="5400000">
              <a:srgbClr val="000000">
                <a:alpha val="35000"/>
              </a:srgbClr>
            </a:outerShdw>
          </a:effectLst>
        </p:spPr>
      </p:sp>
      <p:sp>
        <p:nvSpPr>
          <p:cNvPr id="35" name="Text 33"/>
          <p:cNvSpPr txBox="1"/>
          <p:nvPr/>
        </p:nvSpPr>
        <p:spPr>
          <a:xfrm>
            <a:off x="822960" y="4590288"/>
            <a:ext cx="10515600" cy="1371600"/>
          </a:xfrm>
          <a:prstGeom prst="rect">
            <a:avLst/>
          </a:prstGeom>
          <a:noFill/>
          <a:ln/>
        </p:spPr>
        <p:txBody>
          <a:bodyPr wrap="square" lIns="0" tIns="0" rIns="0" bIns="0" rtlCol="0" anchor="t"/>
          <a:lstStyle/>
          <a:p>
            <a:pPr marL="228600" indent="-228600">
              <a:spcAft>
                <a:spcPts val="600"/>
              </a:spcAft>
              <a:buSzPct val="100000"/>
              <a:buChar char="•"/>
            </a:pPr>
            <a:r>
              <a:rPr lang="en-US" sz="1250" dirty="0">
                <a:solidFill>
                  <a:srgbClr val="F4F6FA"/>
                </a:solidFill>
                <a:latin typeface="Calibri" pitchFamily="34" charset="0"/>
                <a:ea typeface="Calibri" pitchFamily="34" charset="-122"/>
                <a:cs typeface="Calibri" pitchFamily="34" charset="-120"/>
              </a:rPr>
              <a:t>Step 1 — Extraction: issue titles pulled via the GitHub API and structured into a standardized dataset.</a:t>
            </a:r>
            <a:endParaRPr lang="en-US" sz="1250" dirty="0"/>
          </a:p>
          <a:p>
            <a:pPr marL="228600" indent="-228600">
              <a:spcAft>
                <a:spcPts val="600"/>
              </a:spcAft>
              <a:buSzPct val="100000"/>
              <a:buChar char="•"/>
            </a:pPr>
            <a:r>
              <a:rPr lang="en-US" sz="1250" dirty="0">
                <a:solidFill>
                  <a:srgbClr val="F4F6FA"/>
                </a:solidFill>
                <a:latin typeface="Calibri" pitchFamily="34" charset="0"/>
                <a:ea typeface="Calibri" pitchFamily="34" charset="-122"/>
                <a:cs typeface="Calibri" pitchFamily="34" charset="-120"/>
              </a:rPr>
              <a:t>Step 2 — Generation: each title is paired with every LLM × prompt-style combination (temperature 1.0, seed 42).</a:t>
            </a:r>
            <a:endParaRPr lang="en-US" sz="1250" dirty="0"/>
          </a:p>
          <a:p>
            <a:pPr marL="228600" indent="-228600">
              <a:spcAft>
                <a:spcPts val="600"/>
              </a:spcAft>
              <a:buSzPct val="100000"/>
              <a:buChar char="•"/>
            </a:pPr>
            <a:r>
              <a:rPr lang="en-US" sz="1250" dirty="0">
                <a:solidFill>
                  <a:srgbClr val="F4F6FA"/>
                </a:solidFill>
                <a:latin typeface="Calibri" pitchFamily="34" charset="0"/>
                <a:ea typeface="Calibri" pitchFamily="34" charset="-122"/>
                <a:cs typeface="Calibri" pitchFamily="34" charset="-120"/>
              </a:rPr>
              <a:t>Step 3 — Evaluation: an independent judge LLM rates every requirement on three ISO/IEC/IEEE 29148:2018 attributes.</a:t>
            </a:r>
            <a:endParaRPr lang="en-US" sz="1250" dirty="0"/>
          </a:p>
        </p:txBody>
      </p:sp>
      <p:sp>
        <p:nvSpPr>
          <p:cNvPr id="36" name="Text 34"/>
          <p:cNvSpPr txBox="1"/>
          <p:nvPr/>
        </p:nvSpPr>
        <p:spPr>
          <a:xfrm>
            <a:off x="502920" y="6547104"/>
            <a:ext cx="7772400" cy="256032"/>
          </a:xfrm>
          <a:prstGeom prst="rect">
            <a:avLst/>
          </a:prstGeom>
          <a:noFill/>
          <a:ln/>
        </p:spPr>
        <p:txBody>
          <a:bodyPr wrap="square" lIns="0" tIns="0" rIns="0" bIns="0" rtlCol="0" anchor="ctr"/>
          <a:lstStyle/>
          <a:p>
            <a:pPr algn="l" indent="0" marL="0">
              <a:buNone/>
            </a:pPr>
            <a:r>
              <a:rPr lang="en-US" sz="900" dirty="0">
                <a:solidFill>
                  <a:srgbClr val="748199"/>
                </a:solidFill>
                <a:latin typeface="Calibri" pitchFamily="34" charset="0"/>
                <a:ea typeface="Calibri" pitchFamily="34" charset="-122"/>
                <a:cs typeface="Calibri" pitchFamily="34" charset="-120"/>
              </a:rPr>
              <a:t>Requirements Engineering (2026) 31:7  •  Paiva, Canedo &amp; Rocha Filho</a:t>
            </a:r>
            <a:endParaRPr lang="en-US" sz="900" dirty="0"/>
          </a:p>
        </p:txBody>
      </p:sp>
      <p:sp>
        <p:nvSpPr>
          <p:cNvPr id="37" name="Text 35"/>
          <p:cNvSpPr txBox="1"/>
          <p:nvPr/>
        </p:nvSpPr>
        <p:spPr>
          <a:xfrm>
            <a:off x="10972800" y="6547104"/>
            <a:ext cx="731520" cy="256032"/>
          </a:xfrm>
          <a:prstGeom prst="rect">
            <a:avLst/>
          </a:prstGeom>
          <a:noFill/>
          <a:ln/>
        </p:spPr>
        <p:txBody>
          <a:bodyPr wrap="square" lIns="0" tIns="0" rIns="0" bIns="0" rtlCol="0" anchor="ctr"/>
          <a:lstStyle/>
          <a:p>
            <a:pPr algn="r" indent="0" marL="0">
              <a:buNone/>
            </a:pPr>
            <a:r>
              <a:rPr lang="en-US" sz="900" dirty="0">
                <a:solidFill>
                  <a:srgbClr val="748199"/>
                </a:solidFill>
                <a:latin typeface="Calibri" pitchFamily="34" charset="0"/>
                <a:ea typeface="Calibri" pitchFamily="34" charset="-122"/>
                <a:cs typeface="Calibri" pitchFamily="34" charset="-120"/>
              </a:rPr>
              <a:t>06 / 20</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321"/>
        </a:solidFill>
      </p:bgPr>
    </p:bg>
    <p:spTree>
      <p:nvGrpSpPr>
        <p:cNvPr id="1" name=""/>
        <p:cNvGrpSpPr/>
        <p:nvPr/>
      </p:nvGrpSpPr>
      <p:grpSpPr>
        <a:xfrm>
          <a:off x="0" y="0"/>
          <a:ext cx="0" cy="0"/>
          <a:chOff x="0" y="0"/>
          <a:chExt cx="0" cy="0"/>
        </a:xfrm>
      </p:grpSpPr>
      <p:sp>
        <p:nvSpPr>
          <p:cNvPr id="2" name="Shape 0"/>
          <p:cNvSpPr/>
          <p:nvPr/>
        </p:nvSpPr>
        <p:spPr>
          <a:xfrm>
            <a:off x="502920" y="457200"/>
            <a:ext cx="128016" cy="128016"/>
          </a:xfrm>
          <a:prstGeom prst="rect">
            <a:avLst/>
          </a:prstGeom>
          <a:solidFill>
            <a:srgbClr val="C9A227"/>
          </a:solidFill>
          <a:ln/>
        </p:spPr>
      </p:sp>
      <p:sp>
        <p:nvSpPr>
          <p:cNvPr id="3" name="Text 1"/>
          <p:cNvSpPr txBox="1"/>
          <p:nvPr/>
        </p:nvSpPr>
        <p:spPr>
          <a:xfrm>
            <a:off x="749808" y="347472"/>
            <a:ext cx="9144000" cy="292608"/>
          </a:xfrm>
          <a:prstGeom prst="rect">
            <a:avLst/>
          </a:prstGeom>
          <a:noFill/>
          <a:ln/>
        </p:spPr>
        <p:txBody>
          <a:bodyPr wrap="square" lIns="0" tIns="0" rIns="0" bIns="0" rtlCol="0" anchor="ctr"/>
          <a:lstStyle/>
          <a:p>
            <a:pPr indent="0" marL="0">
              <a:buNone/>
            </a:pPr>
            <a:r>
              <a:rPr lang="en-US" sz="1250" b="1" spc="200" kern="0" dirty="0">
                <a:solidFill>
                  <a:srgbClr val="C9A227"/>
                </a:solidFill>
                <a:latin typeface="Calibri" pitchFamily="34" charset="0"/>
                <a:ea typeface="Calibri" pitchFamily="34" charset="-122"/>
                <a:cs typeface="Calibri" pitchFamily="34" charset="-120"/>
              </a:rPr>
              <a:t>RESEARCH METHOD</a:t>
            </a:r>
            <a:endParaRPr lang="en-US" sz="1250" dirty="0"/>
          </a:p>
        </p:txBody>
      </p:sp>
      <p:sp>
        <p:nvSpPr>
          <p:cNvPr id="4" name="Text 2"/>
          <p:cNvSpPr txBox="1"/>
          <p:nvPr/>
        </p:nvSpPr>
        <p:spPr>
          <a:xfrm>
            <a:off x="502920" y="658368"/>
            <a:ext cx="11155680" cy="685800"/>
          </a:xfrm>
          <a:prstGeom prst="rect">
            <a:avLst/>
          </a:prstGeom>
          <a:noFill/>
          <a:ln/>
        </p:spPr>
        <p:txBody>
          <a:bodyPr wrap="square" lIns="0" tIns="0" rIns="0" bIns="0" rtlCol="0" anchor="ctr"/>
          <a:lstStyle/>
          <a:p>
            <a:pPr indent="0" marL="0">
              <a:buNone/>
            </a:pPr>
            <a:r>
              <a:rPr lang="en-US" sz="3000" b="1" dirty="0">
                <a:solidFill>
                  <a:srgbClr val="F4F6FA"/>
                </a:solidFill>
                <a:latin typeface="Cambria" pitchFamily="34" charset="0"/>
                <a:ea typeface="Cambria" pitchFamily="34" charset="-122"/>
                <a:cs typeface="Cambria" pitchFamily="34" charset="-120"/>
              </a:rPr>
              <a:t>LLMs and Prompt Engineering Strategies</a:t>
            </a:r>
            <a:endParaRPr lang="en-US" sz="3000" dirty="0"/>
          </a:p>
        </p:txBody>
      </p:sp>
      <p:sp>
        <p:nvSpPr>
          <p:cNvPr id="5" name="Text 3"/>
          <p:cNvSpPr txBox="1"/>
          <p:nvPr/>
        </p:nvSpPr>
        <p:spPr>
          <a:xfrm>
            <a:off x="502920" y="1600200"/>
            <a:ext cx="5394960" cy="4572000"/>
          </a:xfrm>
          <a:prstGeom prst="rect">
            <a:avLst/>
          </a:prstGeom>
          <a:noFill/>
          <a:ln/>
        </p:spPr>
        <p:txBody>
          <a:bodyPr wrap="square" lIns="0" tIns="0" rIns="0" bIns="0" rtlCol="0" anchor="t"/>
          <a:lstStyle/>
          <a:p>
            <a:pPr marL="228600" indent="-228600">
              <a:spcAft>
                <a:spcPts val="1200"/>
              </a:spcAft>
              <a:buSzPct val="100000"/>
              <a:buChar char="•"/>
            </a:pPr>
            <a:r>
              <a:rPr lang="en-US" sz="1350" dirty="0">
                <a:solidFill>
                  <a:srgbClr val="F4F6FA"/>
                </a:solidFill>
                <a:latin typeface="Calibri" pitchFamily="34" charset="0"/>
                <a:ea typeface="Calibri" pitchFamily="34" charset="-122"/>
                <a:cs typeface="Calibri" pitchFamily="34" charset="-120"/>
              </a:rPr>
              <a:t>OpenAI o3-mini — cost-effective closed-source reasoning model (&lt;10% the cost of OpenAI o1).</a:t>
            </a:r>
            <a:endParaRPr lang="en-US" sz="1350" dirty="0"/>
          </a:p>
          <a:p>
            <a:pPr marL="228600" indent="-228600">
              <a:spcAft>
                <a:spcPts val="1200"/>
              </a:spcAft>
              <a:buSzPct val="100000"/>
              <a:buChar char="•"/>
            </a:pPr>
            <a:r>
              <a:rPr lang="en-US" sz="1350" dirty="0">
                <a:solidFill>
                  <a:srgbClr val="F4F6FA"/>
                </a:solidFill>
                <a:latin typeface="Calibri" pitchFamily="34" charset="0"/>
                <a:ea typeface="Calibri" pitchFamily="34" charset="-122"/>
                <a:cs typeface="Calibri" pitchFamily="34" charset="-120"/>
              </a:rPr>
              <a:t>DeepSeek-R1-Distill-Llama-70B — the most cost-effective open-source reasoning model of its class.</a:t>
            </a:r>
            <a:endParaRPr lang="en-US" sz="1350" dirty="0"/>
          </a:p>
          <a:p>
            <a:pPr marL="228600" indent="-228600">
              <a:spcAft>
                <a:spcPts val="1200"/>
              </a:spcAft>
              <a:buSzPct val="100000"/>
              <a:buChar char="•"/>
            </a:pPr>
            <a:r>
              <a:rPr lang="en-US" sz="1350" dirty="0">
                <a:solidFill>
                  <a:srgbClr val="F4F6FA"/>
                </a:solidFill>
                <a:latin typeface="Calibri" pitchFamily="34" charset="0"/>
                <a:ea typeface="Calibri" pitchFamily="34" charset="-122"/>
                <a:cs typeface="Calibri" pitchFamily="34" charset="-120"/>
              </a:rPr>
              <a:t>Naive (zero-shot) — issue title fed directly, no examples or persona.</a:t>
            </a:r>
            <a:endParaRPr lang="en-US" sz="1350" dirty="0"/>
          </a:p>
          <a:p>
            <a:pPr marL="228600" indent="-228600">
              <a:spcAft>
                <a:spcPts val="1200"/>
              </a:spcAft>
              <a:buSzPct val="100000"/>
              <a:buChar char="•"/>
            </a:pPr>
            <a:r>
              <a:rPr lang="en-US" sz="1350" dirty="0">
                <a:solidFill>
                  <a:srgbClr val="F4F6FA"/>
                </a:solidFill>
                <a:latin typeface="Calibri" pitchFamily="34" charset="0"/>
                <a:ea typeface="Calibri" pitchFamily="34" charset="-122"/>
                <a:cs typeface="Calibri" pitchFamily="34" charset="-120"/>
              </a:rPr>
              <a:t>Few-shot — three worked examples of feature-request → requirement precede the title.</a:t>
            </a:r>
            <a:endParaRPr lang="en-US" sz="1350" dirty="0"/>
          </a:p>
          <a:p>
            <a:pPr marL="228600" indent="-228600">
              <a:spcAft>
                <a:spcPts val="1200"/>
              </a:spcAft>
              <a:buSzPct val="100000"/>
              <a:buChar char="•"/>
            </a:pPr>
            <a:r>
              <a:rPr lang="en-US" sz="1350" dirty="0">
                <a:solidFill>
                  <a:srgbClr val="F4F6FA"/>
                </a:solidFill>
                <a:latin typeface="Calibri" pitchFamily="34" charset="0"/>
                <a:ea typeface="Calibri" pitchFamily="34" charset="-122"/>
                <a:cs typeface="Calibri" pitchFamily="34" charset="-120"/>
              </a:rPr>
              <a:t>Expert Identity — model is primed as a “Software Requirements Engineer with deep expertise.”</a:t>
            </a:r>
            <a:endParaRPr lang="en-US" sz="1350" dirty="0"/>
          </a:p>
        </p:txBody>
      </p:sp>
      <p:sp>
        <p:nvSpPr>
          <p:cNvPr id="6" name="Text 4"/>
          <p:cNvSpPr txBox="1"/>
          <p:nvPr/>
        </p:nvSpPr>
        <p:spPr>
          <a:xfrm>
            <a:off x="6172200" y="1600200"/>
            <a:ext cx="5486400" cy="274320"/>
          </a:xfrm>
          <a:prstGeom prst="rect">
            <a:avLst/>
          </a:prstGeom>
          <a:noFill/>
          <a:ln/>
        </p:spPr>
        <p:txBody>
          <a:bodyPr wrap="square" lIns="0" tIns="0" rIns="0" bIns="0" rtlCol="0" anchor="ctr"/>
          <a:lstStyle/>
          <a:p>
            <a:pPr indent="0" marL="0">
              <a:buNone/>
            </a:pPr>
            <a:r>
              <a:rPr lang="en-US" sz="1100" b="1" spc="100" kern="0" dirty="0">
                <a:solidFill>
                  <a:srgbClr val="C9A227"/>
                </a:solidFill>
                <a:latin typeface="Calibri" pitchFamily="34" charset="0"/>
                <a:ea typeface="Calibri" pitchFamily="34" charset="-122"/>
                <a:cs typeface="Calibri" pitchFamily="34" charset="-120"/>
              </a:rPr>
              <a:t>EXPERIMENTAL MATRIX — 150 TITLES × EACH CELL</a:t>
            </a:r>
            <a:endParaRPr lang="en-US" sz="1100" dirty="0"/>
          </a:p>
        </p:txBody>
      </p:sp>
      <p:sp>
        <p:nvSpPr>
          <p:cNvPr id="7" name="Text 5"/>
          <p:cNvSpPr txBox="1"/>
          <p:nvPr/>
        </p:nvSpPr>
        <p:spPr>
          <a:xfrm>
            <a:off x="7086600" y="2011680"/>
            <a:ext cx="1572768" cy="365760"/>
          </a:xfrm>
          <a:prstGeom prst="rect">
            <a:avLst/>
          </a:prstGeom>
          <a:noFill/>
          <a:ln/>
        </p:spPr>
        <p:txBody>
          <a:bodyPr wrap="square" lIns="0" tIns="0" rIns="0" bIns="0" rtlCol="0" anchor="ctr"/>
          <a:lstStyle/>
          <a:p>
            <a:pPr algn="ctr" indent="0" marL="0">
              <a:buNone/>
            </a:pPr>
            <a:r>
              <a:rPr lang="en-US" sz="1100" b="1" dirty="0">
                <a:solidFill>
                  <a:srgbClr val="9FB0C7"/>
                </a:solidFill>
                <a:latin typeface="Calibri" pitchFamily="34" charset="0"/>
                <a:ea typeface="Calibri" pitchFamily="34" charset="-122"/>
                <a:cs typeface="Calibri" pitchFamily="34" charset="-120"/>
              </a:rPr>
              <a:t>Naive</a:t>
            </a:r>
            <a:endParaRPr lang="en-US" sz="1100" dirty="0"/>
          </a:p>
        </p:txBody>
      </p:sp>
      <p:sp>
        <p:nvSpPr>
          <p:cNvPr id="8" name="Text 6"/>
          <p:cNvSpPr txBox="1"/>
          <p:nvPr/>
        </p:nvSpPr>
        <p:spPr>
          <a:xfrm>
            <a:off x="8714232" y="2011680"/>
            <a:ext cx="1572768" cy="365760"/>
          </a:xfrm>
          <a:prstGeom prst="rect">
            <a:avLst/>
          </a:prstGeom>
          <a:noFill/>
          <a:ln/>
        </p:spPr>
        <p:txBody>
          <a:bodyPr wrap="square" lIns="0" tIns="0" rIns="0" bIns="0" rtlCol="0" anchor="ctr"/>
          <a:lstStyle/>
          <a:p>
            <a:pPr algn="ctr" indent="0" marL="0">
              <a:buNone/>
            </a:pPr>
            <a:r>
              <a:rPr lang="en-US" sz="1100" b="1" dirty="0">
                <a:solidFill>
                  <a:srgbClr val="9FB0C7"/>
                </a:solidFill>
                <a:latin typeface="Calibri" pitchFamily="34" charset="0"/>
                <a:ea typeface="Calibri" pitchFamily="34" charset="-122"/>
                <a:cs typeface="Calibri" pitchFamily="34" charset="-120"/>
              </a:rPr>
              <a:t>Few-shot</a:t>
            </a:r>
            <a:endParaRPr lang="en-US" sz="1100" dirty="0"/>
          </a:p>
        </p:txBody>
      </p:sp>
      <p:sp>
        <p:nvSpPr>
          <p:cNvPr id="9" name="Text 7"/>
          <p:cNvSpPr txBox="1"/>
          <p:nvPr/>
        </p:nvSpPr>
        <p:spPr>
          <a:xfrm>
            <a:off x="10341864" y="2011680"/>
            <a:ext cx="1572768" cy="365760"/>
          </a:xfrm>
          <a:prstGeom prst="rect">
            <a:avLst/>
          </a:prstGeom>
          <a:noFill/>
          <a:ln/>
        </p:spPr>
        <p:txBody>
          <a:bodyPr wrap="square" lIns="0" tIns="0" rIns="0" bIns="0" rtlCol="0" anchor="ctr"/>
          <a:lstStyle/>
          <a:p>
            <a:pPr algn="ctr" indent="0" marL="0">
              <a:buNone/>
            </a:pPr>
            <a:r>
              <a:rPr lang="en-US" sz="1100" b="1" dirty="0">
                <a:solidFill>
                  <a:srgbClr val="9FB0C7"/>
                </a:solidFill>
                <a:latin typeface="Calibri" pitchFamily="34" charset="0"/>
                <a:ea typeface="Calibri" pitchFamily="34" charset="-122"/>
                <a:cs typeface="Calibri" pitchFamily="34" charset="-120"/>
              </a:rPr>
              <a:t>Expert Identity</a:t>
            </a:r>
            <a:endParaRPr lang="en-US" sz="1100" dirty="0"/>
          </a:p>
        </p:txBody>
      </p:sp>
      <p:sp>
        <p:nvSpPr>
          <p:cNvPr id="10" name="Text 8"/>
          <p:cNvSpPr txBox="1"/>
          <p:nvPr/>
        </p:nvSpPr>
        <p:spPr>
          <a:xfrm>
            <a:off x="6035040" y="2423160"/>
            <a:ext cx="960120" cy="1143000"/>
          </a:xfrm>
          <a:prstGeom prst="rect">
            <a:avLst/>
          </a:prstGeom>
          <a:noFill/>
          <a:ln/>
        </p:spPr>
        <p:txBody>
          <a:bodyPr wrap="square" lIns="0" tIns="0" rIns="0" bIns="0" rtlCol="0" anchor="ctr"/>
          <a:lstStyle/>
          <a:p>
            <a:pPr indent="0" marL="0">
              <a:buNone/>
            </a:pPr>
            <a:r>
              <a:rPr lang="en-US" sz="1150" b="1" dirty="0">
                <a:solidFill>
                  <a:srgbClr val="F4F6FA"/>
                </a:solidFill>
                <a:latin typeface="Calibri" pitchFamily="34" charset="0"/>
                <a:ea typeface="Calibri" pitchFamily="34" charset="-122"/>
                <a:cs typeface="Calibri" pitchFamily="34" charset="-120"/>
              </a:rPr>
              <a:t>o3-mini</a:t>
            </a:r>
            <a:endParaRPr lang="en-US" sz="1150" dirty="0"/>
          </a:p>
        </p:txBody>
      </p:sp>
      <p:sp>
        <p:nvSpPr>
          <p:cNvPr id="11" name="Shape 9"/>
          <p:cNvSpPr/>
          <p:nvPr/>
        </p:nvSpPr>
        <p:spPr>
          <a:xfrm>
            <a:off x="7086600" y="2423160"/>
            <a:ext cx="1517904" cy="1124712"/>
          </a:xfrm>
          <a:prstGeom prst="roundRect">
            <a:avLst>
              <a:gd name="adj" fmla="val 4878"/>
            </a:avLst>
          </a:prstGeom>
          <a:solidFill>
            <a:srgbClr val="17223A"/>
          </a:solidFill>
          <a:ln w="12700">
            <a:solidFill>
              <a:srgbClr val="2B3B58"/>
            </a:solidFill>
            <a:prstDash val="solid"/>
          </a:ln>
        </p:spPr>
      </p:sp>
      <p:sp>
        <p:nvSpPr>
          <p:cNvPr id="12" name="Text 10"/>
          <p:cNvSpPr txBox="1"/>
          <p:nvPr/>
        </p:nvSpPr>
        <p:spPr>
          <a:xfrm>
            <a:off x="7086600" y="2532888"/>
            <a:ext cx="1517904" cy="502920"/>
          </a:xfrm>
          <a:prstGeom prst="rect">
            <a:avLst/>
          </a:prstGeom>
          <a:noFill/>
          <a:ln/>
        </p:spPr>
        <p:txBody>
          <a:bodyPr wrap="square" lIns="0" tIns="0" rIns="0" bIns="0" rtlCol="0" anchor="ctr"/>
          <a:lstStyle/>
          <a:p>
            <a:pPr algn="ctr" indent="0" marL="0">
              <a:buNone/>
            </a:pPr>
            <a:r>
              <a:rPr lang="en-US" sz="2200" b="1" dirty="0">
                <a:solidFill>
                  <a:srgbClr val="C9A227"/>
                </a:solidFill>
                <a:latin typeface="Cambria" pitchFamily="34" charset="0"/>
                <a:ea typeface="Cambria" pitchFamily="34" charset="-122"/>
                <a:cs typeface="Cambria" pitchFamily="34" charset="-120"/>
              </a:rPr>
              <a:t>150</a:t>
            </a:r>
            <a:endParaRPr lang="en-US" sz="2200" dirty="0"/>
          </a:p>
        </p:txBody>
      </p:sp>
      <p:sp>
        <p:nvSpPr>
          <p:cNvPr id="13" name="Text 11"/>
          <p:cNvSpPr txBox="1"/>
          <p:nvPr/>
        </p:nvSpPr>
        <p:spPr>
          <a:xfrm>
            <a:off x="7086600" y="3044952"/>
            <a:ext cx="1517904" cy="320040"/>
          </a:xfrm>
          <a:prstGeom prst="rect">
            <a:avLst/>
          </a:prstGeom>
          <a:noFill/>
          <a:ln/>
        </p:spPr>
        <p:txBody>
          <a:bodyPr wrap="square" lIns="0" tIns="0" rIns="0" bIns="0" rtlCol="0" anchor="ctr"/>
          <a:lstStyle/>
          <a:p>
            <a:pPr algn="ctr" indent="0" marL="0">
              <a:buNone/>
            </a:pPr>
            <a:r>
              <a:rPr lang="en-US" sz="950" dirty="0">
                <a:solidFill>
                  <a:srgbClr val="9FB0C7"/>
                </a:solidFill>
                <a:latin typeface="Calibri" pitchFamily="34" charset="0"/>
                <a:ea typeface="Calibri" pitchFamily="34" charset="-122"/>
                <a:cs typeface="Calibri" pitchFamily="34" charset="-120"/>
              </a:rPr>
              <a:t>requirements</a:t>
            </a:r>
            <a:endParaRPr lang="en-US" sz="950" dirty="0"/>
          </a:p>
        </p:txBody>
      </p:sp>
      <p:sp>
        <p:nvSpPr>
          <p:cNvPr id="14" name="Shape 12"/>
          <p:cNvSpPr/>
          <p:nvPr/>
        </p:nvSpPr>
        <p:spPr>
          <a:xfrm>
            <a:off x="8714232" y="2423160"/>
            <a:ext cx="1517904" cy="1124712"/>
          </a:xfrm>
          <a:prstGeom prst="roundRect">
            <a:avLst>
              <a:gd name="adj" fmla="val 4878"/>
            </a:avLst>
          </a:prstGeom>
          <a:solidFill>
            <a:srgbClr val="1D2C48"/>
          </a:solidFill>
          <a:ln w="12700">
            <a:solidFill>
              <a:srgbClr val="2B3B58"/>
            </a:solidFill>
            <a:prstDash val="solid"/>
          </a:ln>
        </p:spPr>
      </p:sp>
      <p:sp>
        <p:nvSpPr>
          <p:cNvPr id="15" name="Text 13"/>
          <p:cNvSpPr txBox="1"/>
          <p:nvPr/>
        </p:nvSpPr>
        <p:spPr>
          <a:xfrm>
            <a:off x="8714232" y="2532888"/>
            <a:ext cx="1517904" cy="502920"/>
          </a:xfrm>
          <a:prstGeom prst="rect">
            <a:avLst/>
          </a:prstGeom>
          <a:noFill/>
          <a:ln/>
        </p:spPr>
        <p:txBody>
          <a:bodyPr wrap="square" lIns="0" tIns="0" rIns="0" bIns="0" rtlCol="0" anchor="ctr"/>
          <a:lstStyle/>
          <a:p>
            <a:pPr algn="ctr" indent="0" marL="0">
              <a:buNone/>
            </a:pPr>
            <a:r>
              <a:rPr lang="en-US" sz="2200" b="1" dirty="0">
                <a:solidFill>
                  <a:srgbClr val="C9A227"/>
                </a:solidFill>
                <a:latin typeface="Cambria" pitchFamily="34" charset="0"/>
                <a:ea typeface="Cambria" pitchFamily="34" charset="-122"/>
                <a:cs typeface="Cambria" pitchFamily="34" charset="-120"/>
              </a:rPr>
              <a:t>150</a:t>
            </a:r>
            <a:endParaRPr lang="en-US" sz="2200" dirty="0"/>
          </a:p>
        </p:txBody>
      </p:sp>
      <p:sp>
        <p:nvSpPr>
          <p:cNvPr id="16" name="Text 14"/>
          <p:cNvSpPr txBox="1"/>
          <p:nvPr/>
        </p:nvSpPr>
        <p:spPr>
          <a:xfrm>
            <a:off x="8714232" y="3044952"/>
            <a:ext cx="1517904" cy="320040"/>
          </a:xfrm>
          <a:prstGeom prst="rect">
            <a:avLst/>
          </a:prstGeom>
          <a:noFill/>
          <a:ln/>
        </p:spPr>
        <p:txBody>
          <a:bodyPr wrap="square" lIns="0" tIns="0" rIns="0" bIns="0" rtlCol="0" anchor="ctr"/>
          <a:lstStyle/>
          <a:p>
            <a:pPr algn="ctr" indent="0" marL="0">
              <a:buNone/>
            </a:pPr>
            <a:r>
              <a:rPr lang="en-US" sz="950" dirty="0">
                <a:solidFill>
                  <a:srgbClr val="9FB0C7"/>
                </a:solidFill>
                <a:latin typeface="Calibri" pitchFamily="34" charset="0"/>
                <a:ea typeface="Calibri" pitchFamily="34" charset="-122"/>
                <a:cs typeface="Calibri" pitchFamily="34" charset="-120"/>
              </a:rPr>
              <a:t>requirements</a:t>
            </a:r>
            <a:endParaRPr lang="en-US" sz="950" dirty="0"/>
          </a:p>
        </p:txBody>
      </p:sp>
      <p:sp>
        <p:nvSpPr>
          <p:cNvPr id="17" name="Shape 15"/>
          <p:cNvSpPr/>
          <p:nvPr/>
        </p:nvSpPr>
        <p:spPr>
          <a:xfrm>
            <a:off x="10341864" y="2423160"/>
            <a:ext cx="1517904" cy="1124712"/>
          </a:xfrm>
          <a:prstGeom prst="roundRect">
            <a:avLst>
              <a:gd name="adj" fmla="val 4878"/>
            </a:avLst>
          </a:prstGeom>
          <a:solidFill>
            <a:srgbClr val="17223A"/>
          </a:solidFill>
          <a:ln w="12700">
            <a:solidFill>
              <a:srgbClr val="2B3B58"/>
            </a:solidFill>
            <a:prstDash val="solid"/>
          </a:ln>
        </p:spPr>
      </p:sp>
      <p:sp>
        <p:nvSpPr>
          <p:cNvPr id="18" name="Text 16"/>
          <p:cNvSpPr txBox="1"/>
          <p:nvPr/>
        </p:nvSpPr>
        <p:spPr>
          <a:xfrm>
            <a:off x="10341864" y="2532888"/>
            <a:ext cx="1517904" cy="502920"/>
          </a:xfrm>
          <a:prstGeom prst="rect">
            <a:avLst/>
          </a:prstGeom>
          <a:noFill/>
          <a:ln/>
        </p:spPr>
        <p:txBody>
          <a:bodyPr wrap="square" lIns="0" tIns="0" rIns="0" bIns="0" rtlCol="0" anchor="ctr"/>
          <a:lstStyle/>
          <a:p>
            <a:pPr algn="ctr" indent="0" marL="0">
              <a:buNone/>
            </a:pPr>
            <a:r>
              <a:rPr lang="en-US" sz="2200" b="1" dirty="0">
                <a:solidFill>
                  <a:srgbClr val="C9A227"/>
                </a:solidFill>
                <a:latin typeface="Cambria" pitchFamily="34" charset="0"/>
                <a:ea typeface="Cambria" pitchFamily="34" charset="-122"/>
                <a:cs typeface="Cambria" pitchFamily="34" charset="-120"/>
              </a:rPr>
              <a:t>150</a:t>
            </a:r>
            <a:endParaRPr lang="en-US" sz="2200" dirty="0"/>
          </a:p>
        </p:txBody>
      </p:sp>
      <p:sp>
        <p:nvSpPr>
          <p:cNvPr id="19" name="Text 17"/>
          <p:cNvSpPr txBox="1"/>
          <p:nvPr/>
        </p:nvSpPr>
        <p:spPr>
          <a:xfrm>
            <a:off x="10341864" y="3044952"/>
            <a:ext cx="1517904" cy="320040"/>
          </a:xfrm>
          <a:prstGeom prst="rect">
            <a:avLst/>
          </a:prstGeom>
          <a:noFill/>
          <a:ln/>
        </p:spPr>
        <p:txBody>
          <a:bodyPr wrap="square" lIns="0" tIns="0" rIns="0" bIns="0" rtlCol="0" anchor="ctr"/>
          <a:lstStyle/>
          <a:p>
            <a:pPr algn="ctr" indent="0" marL="0">
              <a:buNone/>
            </a:pPr>
            <a:r>
              <a:rPr lang="en-US" sz="950" dirty="0">
                <a:solidFill>
                  <a:srgbClr val="9FB0C7"/>
                </a:solidFill>
                <a:latin typeface="Calibri" pitchFamily="34" charset="0"/>
                <a:ea typeface="Calibri" pitchFamily="34" charset="-122"/>
                <a:cs typeface="Calibri" pitchFamily="34" charset="-120"/>
              </a:rPr>
              <a:t>requirements</a:t>
            </a:r>
            <a:endParaRPr lang="en-US" sz="950" dirty="0"/>
          </a:p>
        </p:txBody>
      </p:sp>
      <p:sp>
        <p:nvSpPr>
          <p:cNvPr id="20" name="Text 18"/>
          <p:cNvSpPr txBox="1"/>
          <p:nvPr/>
        </p:nvSpPr>
        <p:spPr>
          <a:xfrm>
            <a:off x="6035040" y="3657600"/>
            <a:ext cx="960120" cy="1143000"/>
          </a:xfrm>
          <a:prstGeom prst="rect">
            <a:avLst/>
          </a:prstGeom>
          <a:noFill/>
          <a:ln/>
        </p:spPr>
        <p:txBody>
          <a:bodyPr wrap="square" lIns="0" tIns="0" rIns="0" bIns="0" rtlCol="0" anchor="ctr"/>
          <a:lstStyle/>
          <a:p>
            <a:pPr indent="0" marL="0">
              <a:buNone/>
            </a:pPr>
            <a:r>
              <a:rPr lang="en-US" sz="1150" b="1" dirty="0">
                <a:solidFill>
                  <a:srgbClr val="F4F6FA"/>
                </a:solidFill>
                <a:latin typeface="Calibri" pitchFamily="34" charset="0"/>
                <a:ea typeface="Calibri" pitchFamily="34" charset="-122"/>
                <a:cs typeface="Calibri" pitchFamily="34" charset="-120"/>
              </a:rPr>
              <a:t>DeepSeek R1</a:t>
            </a:r>
            <a:endParaRPr lang="en-US" sz="1150" dirty="0"/>
          </a:p>
        </p:txBody>
      </p:sp>
      <p:sp>
        <p:nvSpPr>
          <p:cNvPr id="21" name="Shape 19"/>
          <p:cNvSpPr/>
          <p:nvPr/>
        </p:nvSpPr>
        <p:spPr>
          <a:xfrm>
            <a:off x="7086600" y="3657600"/>
            <a:ext cx="1517904" cy="1124712"/>
          </a:xfrm>
          <a:prstGeom prst="roundRect">
            <a:avLst>
              <a:gd name="adj" fmla="val 4878"/>
            </a:avLst>
          </a:prstGeom>
          <a:solidFill>
            <a:srgbClr val="1D2C48"/>
          </a:solidFill>
          <a:ln w="12700">
            <a:solidFill>
              <a:srgbClr val="2B3B58"/>
            </a:solidFill>
            <a:prstDash val="solid"/>
          </a:ln>
        </p:spPr>
      </p:sp>
      <p:sp>
        <p:nvSpPr>
          <p:cNvPr id="22" name="Text 20"/>
          <p:cNvSpPr txBox="1"/>
          <p:nvPr/>
        </p:nvSpPr>
        <p:spPr>
          <a:xfrm>
            <a:off x="7086600" y="3767328"/>
            <a:ext cx="1517904" cy="502920"/>
          </a:xfrm>
          <a:prstGeom prst="rect">
            <a:avLst/>
          </a:prstGeom>
          <a:noFill/>
          <a:ln/>
        </p:spPr>
        <p:txBody>
          <a:bodyPr wrap="square" lIns="0" tIns="0" rIns="0" bIns="0" rtlCol="0" anchor="ctr"/>
          <a:lstStyle/>
          <a:p>
            <a:pPr algn="ctr" indent="0" marL="0">
              <a:buNone/>
            </a:pPr>
            <a:r>
              <a:rPr lang="en-US" sz="2200" b="1" dirty="0">
                <a:solidFill>
                  <a:srgbClr val="C9A227"/>
                </a:solidFill>
                <a:latin typeface="Cambria" pitchFamily="34" charset="0"/>
                <a:ea typeface="Cambria" pitchFamily="34" charset="-122"/>
                <a:cs typeface="Cambria" pitchFamily="34" charset="-120"/>
              </a:rPr>
              <a:t>150</a:t>
            </a:r>
            <a:endParaRPr lang="en-US" sz="2200" dirty="0"/>
          </a:p>
        </p:txBody>
      </p:sp>
      <p:sp>
        <p:nvSpPr>
          <p:cNvPr id="23" name="Text 21"/>
          <p:cNvSpPr txBox="1"/>
          <p:nvPr/>
        </p:nvSpPr>
        <p:spPr>
          <a:xfrm>
            <a:off x="7086600" y="4279392"/>
            <a:ext cx="1517904" cy="320040"/>
          </a:xfrm>
          <a:prstGeom prst="rect">
            <a:avLst/>
          </a:prstGeom>
          <a:noFill/>
          <a:ln/>
        </p:spPr>
        <p:txBody>
          <a:bodyPr wrap="square" lIns="0" tIns="0" rIns="0" bIns="0" rtlCol="0" anchor="ctr"/>
          <a:lstStyle/>
          <a:p>
            <a:pPr algn="ctr" indent="0" marL="0">
              <a:buNone/>
            </a:pPr>
            <a:r>
              <a:rPr lang="en-US" sz="950" dirty="0">
                <a:solidFill>
                  <a:srgbClr val="9FB0C7"/>
                </a:solidFill>
                <a:latin typeface="Calibri" pitchFamily="34" charset="0"/>
                <a:ea typeface="Calibri" pitchFamily="34" charset="-122"/>
                <a:cs typeface="Calibri" pitchFamily="34" charset="-120"/>
              </a:rPr>
              <a:t>requirements</a:t>
            </a:r>
            <a:endParaRPr lang="en-US" sz="950" dirty="0"/>
          </a:p>
        </p:txBody>
      </p:sp>
      <p:sp>
        <p:nvSpPr>
          <p:cNvPr id="24" name="Shape 22"/>
          <p:cNvSpPr/>
          <p:nvPr/>
        </p:nvSpPr>
        <p:spPr>
          <a:xfrm>
            <a:off x="8714232" y="3657600"/>
            <a:ext cx="1517904" cy="1124712"/>
          </a:xfrm>
          <a:prstGeom prst="roundRect">
            <a:avLst>
              <a:gd name="adj" fmla="val 4878"/>
            </a:avLst>
          </a:prstGeom>
          <a:solidFill>
            <a:srgbClr val="17223A"/>
          </a:solidFill>
          <a:ln w="12700">
            <a:solidFill>
              <a:srgbClr val="2B3B58"/>
            </a:solidFill>
            <a:prstDash val="solid"/>
          </a:ln>
        </p:spPr>
      </p:sp>
      <p:sp>
        <p:nvSpPr>
          <p:cNvPr id="25" name="Text 23"/>
          <p:cNvSpPr txBox="1"/>
          <p:nvPr/>
        </p:nvSpPr>
        <p:spPr>
          <a:xfrm>
            <a:off x="8714232" y="3767328"/>
            <a:ext cx="1517904" cy="502920"/>
          </a:xfrm>
          <a:prstGeom prst="rect">
            <a:avLst/>
          </a:prstGeom>
          <a:noFill/>
          <a:ln/>
        </p:spPr>
        <p:txBody>
          <a:bodyPr wrap="square" lIns="0" tIns="0" rIns="0" bIns="0" rtlCol="0" anchor="ctr"/>
          <a:lstStyle/>
          <a:p>
            <a:pPr algn="ctr" indent="0" marL="0">
              <a:buNone/>
            </a:pPr>
            <a:r>
              <a:rPr lang="en-US" sz="2200" b="1" dirty="0">
                <a:solidFill>
                  <a:srgbClr val="C9A227"/>
                </a:solidFill>
                <a:latin typeface="Cambria" pitchFamily="34" charset="0"/>
                <a:ea typeface="Cambria" pitchFamily="34" charset="-122"/>
                <a:cs typeface="Cambria" pitchFamily="34" charset="-120"/>
              </a:rPr>
              <a:t>150</a:t>
            </a:r>
            <a:endParaRPr lang="en-US" sz="2200" dirty="0"/>
          </a:p>
        </p:txBody>
      </p:sp>
      <p:sp>
        <p:nvSpPr>
          <p:cNvPr id="26" name="Text 24"/>
          <p:cNvSpPr txBox="1"/>
          <p:nvPr/>
        </p:nvSpPr>
        <p:spPr>
          <a:xfrm>
            <a:off x="8714232" y="4279392"/>
            <a:ext cx="1517904" cy="320040"/>
          </a:xfrm>
          <a:prstGeom prst="rect">
            <a:avLst/>
          </a:prstGeom>
          <a:noFill/>
          <a:ln/>
        </p:spPr>
        <p:txBody>
          <a:bodyPr wrap="square" lIns="0" tIns="0" rIns="0" bIns="0" rtlCol="0" anchor="ctr"/>
          <a:lstStyle/>
          <a:p>
            <a:pPr algn="ctr" indent="0" marL="0">
              <a:buNone/>
            </a:pPr>
            <a:r>
              <a:rPr lang="en-US" sz="950" dirty="0">
                <a:solidFill>
                  <a:srgbClr val="9FB0C7"/>
                </a:solidFill>
                <a:latin typeface="Calibri" pitchFamily="34" charset="0"/>
                <a:ea typeface="Calibri" pitchFamily="34" charset="-122"/>
                <a:cs typeface="Calibri" pitchFamily="34" charset="-120"/>
              </a:rPr>
              <a:t>requirements</a:t>
            </a:r>
            <a:endParaRPr lang="en-US" sz="950" dirty="0"/>
          </a:p>
        </p:txBody>
      </p:sp>
      <p:sp>
        <p:nvSpPr>
          <p:cNvPr id="27" name="Shape 25"/>
          <p:cNvSpPr/>
          <p:nvPr/>
        </p:nvSpPr>
        <p:spPr>
          <a:xfrm>
            <a:off x="10341864" y="3657600"/>
            <a:ext cx="1517904" cy="1124712"/>
          </a:xfrm>
          <a:prstGeom prst="roundRect">
            <a:avLst>
              <a:gd name="adj" fmla="val 4878"/>
            </a:avLst>
          </a:prstGeom>
          <a:solidFill>
            <a:srgbClr val="1D2C48"/>
          </a:solidFill>
          <a:ln w="12700">
            <a:solidFill>
              <a:srgbClr val="2B3B58"/>
            </a:solidFill>
            <a:prstDash val="solid"/>
          </a:ln>
        </p:spPr>
      </p:sp>
      <p:sp>
        <p:nvSpPr>
          <p:cNvPr id="28" name="Text 26"/>
          <p:cNvSpPr txBox="1"/>
          <p:nvPr/>
        </p:nvSpPr>
        <p:spPr>
          <a:xfrm>
            <a:off x="10341864" y="3767328"/>
            <a:ext cx="1517904" cy="502920"/>
          </a:xfrm>
          <a:prstGeom prst="rect">
            <a:avLst/>
          </a:prstGeom>
          <a:noFill/>
          <a:ln/>
        </p:spPr>
        <p:txBody>
          <a:bodyPr wrap="square" lIns="0" tIns="0" rIns="0" bIns="0" rtlCol="0" anchor="ctr"/>
          <a:lstStyle/>
          <a:p>
            <a:pPr algn="ctr" indent="0" marL="0">
              <a:buNone/>
            </a:pPr>
            <a:r>
              <a:rPr lang="en-US" sz="2200" b="1" dirty="0">
                <a:solidFill>
                  <a:srgbClr val="C9A227"/>
                </a:solidFill>
                <a:latin typeface="Cambria" pitchFamily="34" charset="0"/>
                <a:ea typeface="Cambria" pitchFamily="34" charset="-122"/>
                <a:cs typeface="Cambria" pitchFamily="34" charset="-120"/>
              </a:rPr>
              <a:t>150</a:t>
            </a:r>
            <a:endParaRPr lang="en-US" sz="2200" dirty="0"/>
          </a:p>
        </p:txBody>
      </p:sp>
      <p:sp>
        <p:nvSpPr>
          <p:cNvPr id="29" name="Text 27"/>
          <p:cNvSpPr txBox="1"/>
          <p:nvPr/>
        </p:nvSpPr>
        <p:spPr>
          <a:xfrm>
            <a:off x="10341864" y="4279392"/>
            <a:ext cx="1517904" cy="320040"/>
          </a:xfrm>
          <a:prstGeom prst="rect">
            <a:avLst/>
          </a:prstGeom>
          <a:noFill/>
          <a:ln/>
        </p:spPr>
        <p:txBody>
          <a:bodyPr wrap="square" lIns="0" tIns="0" rIns="0" bIns="0" rtlCol="0" anchor="ctr"/>
          <a:lstStyle/>
          <a:p>
            <a:pPr algn="ctr" indent="0" marL="0">
              <a:buNone/>
            </a:pPr>
            <a:r>
              <a:rPr lang="en-US" sz="950" dirty="0">
                <a:solidFill>
                  <a:srgbClr val="9FB0C7"/>
                </a:solidFill>
                <a:latin typeface="Calibri" pitchFamily="34" charset="0"/>
                <a:ea typeface="Calibri" pitchFamily="34" charset="-122"/>
                <a:cs typeface="Calibri" pitchFamily="34" charset="-120"/>
              </a:rPr>
              <a:t>requirements</a:t>
            </a:r>
            <a:endParaRPr lang="en-US" sz="950" dirty="0"/>
          </a:p>
        </p:txBody>
      </p:sp>
      <p:sp>
        <p:nvSpPr>
          <p:cNvPr id="30" name="Shape 28"/>
          <p:cNvSpPr/>
          <p:nvPr/>
        </p:nvSpPr>
        <p:spPr>
          <a:xfrm>
            <a:off x="6172200" y="5029200"/>
            <a:ext cx="5824728" cy="777240"/>
          </a:xfrm>
          <a:prstGeom prst="roundRect">
            <a:avLst>
              <a:gd name="adj" fmla="val 9412"/>
            </a:avLst>
          </a:prstGeom>
          <a:solidFill>
            <a:srgbClr val="1A2740"/>
          </a:solidFill>
          <a:ln w="12700">
            <a:solidFill>
              <a:srgbClr val="2B3B58"/>
            </a:solidFill>
            <a:prstDash val="solid"/>
          </a:ln>
        </p:spPr>
      </p:sp>
      <p:sp>
        <p:nvSpPr>
          <p:cNvPr id="31" name="Text 29"/>
          <p:cNvSpPr txBox="1"/>
          <p:nvPr/>
        </p:nvSpPr>
        <p:spPr>
          <a:xfrm>
            <a:off x="6355080" y="5029200"/>
            <a:ext cx="5477256" cy="777240"/>
          </a:xfrm>
          <a:prstGeom prst="rect">
            <a:avLst/>
          </a:prstGeom>
          <a:noFill/>
          <a:ln/>
        </p:spPr>
        <p:txBody>
          <a:bodyPr wrap="square" lIns="0" tIns="0" rIns="0" bIns="0" rtlCol="0" anchor="ctr"/>
          <a:lstStyle/>
          <a:p>
            <a:pPr indent="0" marL="0">
              <a:buNone/>
            </a:pPr>
            <a:r>
              <a:rPr lang="en-US" sz="1300" b="1" dirty="0">
                <a:solidFill>
                  <a:srgbClr val="F4F6FA"/>
                </a:solidFill>
                <a:latin typeface="Calibri" pitchFamily="34" charset="0"/>
                <a:ea typeface="Calibri" pitchFamily="34" charset="-122"/>
                <a:cs typeface="Calibri" pitchFamily="34" charset="-120"/>
              </a:rPr>
              <a:t>2 LLMs × 3 prompt styles × 150 titles = 900 candidate requirements</a:t>
            </a:r>
            <a:endParaRPr lang="en-US" sz="1300" dirty="0"/>
          </a:p>
        </p:txBody>
      </p:sp>
      <p:sp>
        <p:nvSpPr>
          <p:cNvPr id="32" name="Text 30"/>
          <p:cNvSpPr txBox="1"/>
          <p:nvPr/>
        </p:nvSpPr>
        <p:spPr>
          <a:xfrm>
            <a:off x="502920" y="6547104"/>
            <a:ext cx="7772400" cy="256032"/>
          </a:xfrm>
          <a:prstGeom prst="rect">
            <a:avLst/>
          </a:prstGeom>
          <a:noFill/>
          <a:ln/>
        </p:spPr>
        <p:txBody>
          <a:bodyPr wrap="square" lIns="0" tIns="0" rIns="0" bIns="0" rtlCol="0" anchor="ctr"/>
          <a:lstStyle/>
          <a:p>
            <a:pPr algn="l" indent="0" marL="0">
              <a:buNone/>
            </a:pPr>
            <a:r>
              <a:rPr lang="en-US" sz="900" dirty="0">
                <a:solidFill>
                  <a:srgbClr val="748199"/>
                </a:solidFill>
                <a:latin typeface="Calibri" pitchFamily="34" charset="0"/>
                <a:ea typeface="Calibri" pitchFamily="34" charset="-122"/>
                <a:cs typeface="Calibri" pitchFamily="34" charset="-120"/>
              </a:rPr>
              <a:t>Requirements Engineering (2026) 31:7  •  Paiva, Canedo &amp; Rocha Filho</a:t>
            </a:r>
            <a:endParaRPr lang="en-US" sz="900" dirty="0"/>
          </a:p>
        </p:txBody>
      </p:sp>
      <p:sp>
        <p:nvSpPr>
          <p:cNvPr id="33" name="Text 31"/>
          <p:cNvSpPr txBox="1"/>
          <p:nvPr/>
        </p:nvSpPr>
        <p:spPr>
          <a:xfrm>
            <a:off x="10972800" y="6547104"/>
            <a:ext cx="731520" cy="256032"/>
          </a:xfrm>
          <a:prstGeom prst="rect">
            <a:avLst/>
          </a:prstGeom>
          <a:noFill/>
          <a:ln/>
        </p:spPr>
        <p:txBody>
          <a:bodyPr wrap="square" lIns="0" tIns="0" rIns="0" bIns="0" rtlCol="0" anchor="ctr"/>
          <a:lstStyle/>
          <a:p>
            <a:pPr algn="r" indent="0" marL="0">
              <a:buNone/>
            </a:pPr>
            <a:r>
              <a:rPr lang="en-US" sz="900" dirty="0">
                <a:solidFill>
                  <a:srgbClr val="748199"/>
                </a:solidFill>
                <a:latin typeface="Calibri" pitchFamily="34" charset="0"/>
                <a:ea typeface="Calibri" pitchFamily="34" charset="-122"/>
                <a:cs typeface="Calibri" pitchFamily="34" charset="-120"/>
              </a:rPr>
              <a:t>07 / 20</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321"/>
        </a:solidFill>
      </p:bgPr>
    </p:bg>
    <p:spTree>
      <p:nvGrpSpPr>
        <p:cNvPr id="1" name=""/>
        <p:cNvGrpSpPr/>
        <p:nvPr/>
      </p:nvGrpSpPr>
      <p:grpSpPr>
        <a:xfrm>
          <a:off x="0" y="0"/>
          <a:ext cx="0" cy="0"/>
          <a:chOff x="0" y="0"/>
          <a:chExt cx="0" cy="0"/>
        </a:xfrm>
      </p:grpSpPr>
      <p:sp>
        <p:nvSpPr>
          <p:cNvPr id="2" name="Shape 0"/>
          <p:cNvSpPr/>
          <p:nvPr/>
        </p:nvSpPr>
        <p:spPr>
          <a:xfrm>
            <a:off x="502920" y="457200"/>
            <a:ext cx="128016" cy="128016"/>
          </a:xfrm>
          <a:prstGeom prst="rect">
            <a:avLst/>
          </a:prstGeom>
          <a:solidFill>
            <a:srgbClr val="C9A227"/>
          </a:solidFill>
          <a:ln/>
        </p:spPr>
      </p:sp>
      <p:sp>
        <p:nvSpPr>
          <p:cNvPr id="3" name="Text 1"/>
          <p:cNvSpPr txBox="1"/>
          <p:nvPr/>
        </p:nvSpPr>
        <p:spPr>
          <a:xfrm>
            <a:off x="749808" y="347472"/>
            <a:ext cx="9144000" cy="292608"/>
          </a:xfrm>
          <a:prstGeom prst="rect">
            <a:avLst/>
          </a:prstGeom>
          <a:noFill/>
          <a:ln/>
        </p:spPr>
        <p:txBody>
          <a:bodyPr wrap="square" lIns="0" tIns="0" rIns="0" bIns="0" rtlCol="0" anchor="ctr"/>
          <a:lstStyle/>
          <a:p>
            <a:pPr indent="0" marL="0">
              <a:buNone/>
            </a:pPr>
            <a:r>
              <a:rPr lang="en-US" sz="1250" b="1" spc="200" kern="0" dirty="0">
                <a:solidFill>
                  <a:srgbClr val="C9A227"/>
                </a:solidFill>
                <a:latin typeface="Calibri" pitchFamily="34" charset="0"/>
                <a:ea typeface="Calibri" pitchFamily="34" charset="-122"/>
                <a:cs typeface="Calibri" pitchFamily="34" charset="-120"/>
              </a:rPr>
              <a:t>EVALUATION FRAMEWORK</a:t>
            </a:r>
            <a:endParaRPr lang="en-US" sz="1250" dirty="0"/>
          </a:p>
        </p:txBody>
      </p:sp>
      <p:sp>
        <p:nvSpPr>
          <p:cNvPr id="4" name="Text 2"/>
          <p:cNvSpPr txBox="1"/>
          <p:nvPr/>
        </p:nvSpPr>
        <p:spPr>
          <a:xfrm>
            <a:off x="502920" y="658368"/>
            <a:ext cx="11155680" cy="685800"/>
          </a:xfrm>
          <a:prstGeom prst="rect">
            <a:avLst/>
          </a:prstGeom>
          <a:noFill/>
          <a:ln/>
        </p:spPr>
        <p:txBody>
          <a:bodyPr wrap="square" lIns="0" tIns="0" rIns="0" bIns="0" rtlCol="0" anchor="ctr"/>
          <a:lstStyle/>
          <a:p>
            <a:pPr indent="0" marL="0">
              <a:buNone/>
            </a:pPr>
            <a:r>
              <a:rPr lang="en-US" sz="3000" b="1" dirty="0">
                <a:solidFill>
                  <a:srgbClr val="F4F6FA"/>
                </a:solidFill>
                <a:latin typeface="Cambria" pitchFamily="34" charset="0"/>
                <a:ea typeface="Cambria" pitchFamily="34" charset="-122"/>
                <a:cs typeface="Cambria" pitchFamily="34" charset="-120"/>
              </a:rPr>
              <a:t>Requirement Quality Criteria</a:t>
            </a:r>
            <a:endParaRPr lang="en-US" sz="3000" dirty="0"/>
          </a:p>
        </p:txBody>
      </p:sp>
      <p:sp>
        <p:nvSpPr>
          <p:cNvPr id="5" name="Text 3"/>
          <p:cNvSpPr txBox="1"/>
          <p:nvPr/>
        </p:nvSpPr>
        <p:spPr>
          <a:xfrm>
            <a:off x="502920" y="1554480"/>
            <a:ext cx="11155680" cy="411480"/>
          </a:xfrm>
          <a:prstGeom prst="rect">
            <a:avLst/>
          </a:prstGeom>
          <a:noFill/>
          <a:ln/>
        </p:spPr>
        <p:txBody>
          <a:bodyPr wrap="square" lIns="0" tIns="0" rIns="0" bIns="0" rtlCol="0" anchor="ctr"/>
          <a:lstStyle/>
          <a:p>
            <a:pPr indent="0" marL="0">
              <a:buNone/>
            </a:pPr>
            <a:r>
              <a:rPr lang="en-US" sz="1400" i="1" dirty="0">
                <a:solidFill>
                  <a:srgbClr val="9FB0C7"/>
                </a:solidFill>
                <a:latin typeface="Calibri" pitchFamily="34" charset="0"/>
                <a:ea typeface="Calibri" pitchFamily="34" charset="-122"/>
                <a:cs typeface="Calibri" pitchFamily="34" charset="-120"/>
              </a:rPr>
              <a:t>Grounded in ISO/IEC/IEEE 29148:2018 — three intrinsic attributes assessable without domain or stakeholder context.</a:t>
            </a:r>
            <a:endParaRPr lang="en-US" sz="1400" dirty="0"/>
          </a:p>
        </p:txBody>
      </p:sp>
      <p:sp>
        <p:nvSpPr>
          <p:cNvPr id="6" name="Shape 4"/>
          <p:cNvSpPr/>
          <p:nvPr/>
        </p:nvSpPr>
        <p:spPr>
          <a:xfrm>
            <a:off x="502920" y="2148840"/>
            <a:ext cx="3493008" cy="3794760"/>
          </a:xfrm>
          <a:prstGeom prst="roundRect">
            <a:avLst>
              <a:gd name="adj" fmla="val 2094"/>
            </a:avLst>
          </a:prstGeom>
          <a:solidFill>
            <a:srgbClr val="17223A"/>
          </a:solidFill>
          <a:ln w="12700">
            <a:solidFill>
              <a:srgbClr val="2B3B58"/>
            </a:solidFill>
            <a:prstDash val="solid"/>
          </a:ln>
          <a:effectLst>
            <a:outerShdw sx="100000" sy="100000" kx="0" ky="0" algn="bl" rotWithShape="0" blurRad="101600" dist="38100" dir="5400000">
              <a:srgbClr val="000000">
                <a:alpha val="35000"/>
              </a:srgbClr>
            </a:outerShdw>
          </a:effectLst>
        </p:spPr>
      </p:sp>
      <p:sp>
        <p:nvSpPr>
          <p:cNvPr id="7" name="Shape 5"/>
          <p:cNvSpPr/>
          <p:nvPr/>
        </p:nvSpPr>
        <p:spPr>
          <a:xfrm>
            <a:off x="502920" y="2148840"/>
            <a:ext cx="91440" cy="3794760"/>
          </a:xfrm>
          <a:prstGeom prst="rect">
            <a:avLst/>
          </a:prstGeom>
          <a:solidFill>
            <a:srgbClr val="C9A227"/>
          </a:solidFill>
          <a:ln/>
        </p:spPr>
      </p:sp>
      <p:sp>
        <p:nvSpPr>
          <p:cNvPr id="8" name="Text 6"/>
          <p:cNvSpPr txBox="1"/>
          <p:nvPr/>
        </p:nvSpPr>
        <p:spPr>
          <a:xfrm>
            <a:off x="822960" y="2377440"/>
            <a:ext cx="3081528" cy="502920"/>
          </a:xfrm>
          <a:prstGeom prst="rect">
            <a:avLst/>
          </a:prstGeom>
          <a:noFill/>
          <a:ln/>
        </p:spPr>
        <p:txBody>
          <a:bodyPr wrap="square" lIns="0" tIns="0" rIns="0" bIns="0" rtlCol="0" anchor="ctr"/>
          <a:lstStyle/>
          <a:p>
            <a:pPr indent="0" marL="0">
              <a:buNone/>
            </a:pPr>
            <a:r>
              <a:rPr lang="en-US" sz="2000" b="1" dirty="0">
                <a:solidFill>
                  <a:srgbClr val="C9A227"/>
                </a:solidFill>
                <a:latin typeface="Cambria" pitchFamily="34" charset="0"/>
                <a:ea typeface="Cambria" pitchFamily="34" charset="-122"/>
                <a:cs typeface="Cambria" pitchFamily="34" charset="-120"/>
              </a:rPr>
              <a:t>Unambiguity</a:t>
            </a:r>
            <a:endParaRPr lang="en-US" sz="2000" dirty="0"/>
          </a:p>
        </p:txBody>
      </p:sp>
      <p:sp>
        <p:nvSpPr>
          <p:cNvPr id="9" name="Text 7"/>
          <p:cNvSpPr txBox="1"/>
          <p:nvPr/>
        </p:nvSpPr>
        <p:spPr>
          <a:xfrm>
            <a:off x="822960" y="2971800"/>
            <a:ext cx="3081528" cy="2377440"/>
          </a:xfrm>
          <a:prstGeom prst="rect">
            <a:avLst/>
          </a:prstGeom>
          <a:noFill/>
          <a:ln/>
        </p:spPr>
        <p:txBody>
          <a:bodyPr wrap="square" lIns="0" tIns="0" rIns="0" bIns="0" rtlCol="0" anchor="t"/>
          <a:lstStyle/>
          <a:p>
            <a:pPr indent="0" marL="0">
              <a:buNone/>
            </a:pPr>
            <a:r>
              <a:rPr lang="en-US" sz="1300" dirty="0">
                <a:solidFill>
                  <a:srgbClr val="F4F6FA"/>
                </a:solidFill>
                <a:latin typeface="Calibri" pitchFamily="34" charset="0"/>
                <a:ea typeface="Calibri" pitchFamily="34" charset="-122"/>
                <a:cs typeface="Calibri" pitchFamily="34" charset="-120"/>
              </a:rPr>
              <a:t>Can be interpreted in only one way; stated simply and is easy to understand. 1 = highly ambiguous, 5 = no room for multiple interpretations.</a:t>
            </a:r>
            <a:endParaRPr lang="en-US" sz="1300" dirty="0"/>
          </a:p>
        </p:txBody>
      </p:sp>
      <p:sp>
        <p:nvSpPr>
          <p:cNvPr id="10" name="Text 8"/>
          <p:cNvSpPr txBox="1"/>
          <p:nvPr/>
        </p:nvSpPr>
        <p:spPr>
          <a:xfrm>
            <a:off x="822960" y="5440680"/>
            <a:ext cx="3081528" cy="365760"/>
          </a:xfrm>
          <a:prstGeom prst="rect">
            <a:avLst/>
          </a:prstGeom>
          <a:noFill/>
          <a:ln/>
        </p:spPr>
        <p:txBody>
          <a:bodyPr wrap="square" lIns="0" tIns="0" rIns="0" bIns="0" rtlCol="0" anchor="ctr"/>
          <a:lstStyle/>
          <a:p>
            <a:pPr indent="0" marL="0">
              <a:buNone/>
            </a:pPr>
            <a:r>
              <a:rPr lang="en-US" sz="1100" i="1" dirty="0">
                <a:solidFill>
                  <a:srgbClr val="9FB0C7"/>
                </a:solidFill>
                <a:latin typeface="Calibri" pitchFamily="34" charset="0"/>
                <a:ea typeface="Calibri" pitchFamily="34" charset="-122"/>
                <a:cs typeface="Calibri" pitchFamily="34" charset="-120"/>
              </a:rPr>
              <a:t>Likert scale 1–5</a:t>
            </a:r>
            <a:endParaRPr lang="en-US" sz="1100" dirty="0"/>
          </a:p>
        </p:txBody>
      </p:sp>
      <p:sp>
        <p:nvSpPr>
          <p:cNvPr id="11" name="Shape 9"/>
          <p:cNvSpPr/>
          <p:nvPr/>
        </p:nvSpPr>
        <p:spPr>
          <a:xfrm>
            <a:off x="4133088" y="2148840"/>
            <a:ext cx="3493008" cy="3794760"/>
          </a:xfrm>
          <a:prstGeom prst="roundRect">
            <a:avLst>
              <a:gd name="adj" fmla="val 2094"/>
            </a:avLst>
          </a:prstGeom>
          <a:solidFill>
            <a:srgbClr val="17223A"/>
          </a:solidFill>
          <a:ln w="12700">
            <a:solidFill>
              <a:srgbClr val="2B3B58"/>
            </a:solidFill>
            <a:prstDash val="solid"/>
          </a:ln>
          <a:effectLst>
            <a:outerShdw sx="100000" sy="100000" kx="0" ky="0" algn="bl" rotWithShape="0" blurRad="101600" dist="38100" dir="5400000">
              <a:srgbClr val="000000">
                <a:alpha val="35000"/>
              </a:srgbClr>
            </a:outerShdw>
          </a:effectLst>
        </p:spPr>
      </p:sp>
      <p:sp>
        <p:nvSpPr>
          <p:cNvPr id="12" name="Shape 10"/>
          <p:cNvSpPr/>
          <p:nvPr/>
        </p:nvSpPr>
        <p:spPr>
          <a:xfrm>
            <a:off x="4133088" y="2148840"/>
            <a:ext cx="91440" cy="3794760"/>
          </a:xfrm>
          <a:prstGeom prst="rect">
            <a:avLst/>
          </a:prstGeom>
          <a:solidFill>
            <a:srgbClr val="4FA8A0"/>
          </a:solidFill>
          <a:ln/>
        </p:spPr>
      </p:sp>
      <p:sp>
        <p:nvSpPr>
          <p:cNvPr id="13" name="Text 11"/>
          <p:cNvSpPr txBox="1"/>
          <p:nvPr/>
        </p:nvSpPr>
        <p:spPr>
          <a:xfrm>
            <a:off x="4453128" y="2377440"/>
            <a:ext cx="3081528" cy="502920"/>
          </a:xfrm>
          <a:prstGeom prst="rect">
            <a:avLst/>
          </a:prstGeom>
          <a:noFill/>
          <a:ln/>
        </p:spPr>
        <p:txBody>
          <a:bodyPr wrap="square" lIns="0" tIns="0" rIns="0" bIns="0" rtlCol="0" anchor="ctr"/>
          <a:lstStyle/>
          <a:p>
            <a:pPr indent="0" marL="0">
              <a:buNone/>
            </a:pPr>
            <a:r>
              <a:rPr lang="en-US" sz="2000" b="1" dirty="0">
                <a:solidFill>
                  <a:srgbClr val="4FA8A0"/>
                </a:solidFill>
                <a:latin typeface="Cambria" pitchFamily="34" charset="0"/>
                <a:ea typeface="Cambria" pitchFamily="34" charset="-122"/>
                <a:cs typeface="Cambria" pitchFamily="34" charset="-120"/>
              </a:rPr>
              <a:t>Verifiability</a:t>
            </a:r>
            <a:endParaRPr lang="en-US" sz="2000" dirty="0"/>
          </a:p>
        </p:txBody>
      </p:sp>
      <p:sp>
        <p:nvSpPr>
          <p:cNvPr id="14" name="Text 12"/>
          <p:cNvSpPr txBox="1"/>
          <p:nvPr/>
        </p:nvSpPr>
        <p:spPr>
          <a:xfrm>
            <a:off x="4453128" y="2971800"/>
            <a:ext cx="3081528" cy="2377440"/>
          </a:xfrm>
          <a:prstGeom prst="rect">
            <a:avLst/>
          </a:prstGeom>
          <a:noFill/>
          <a:ln/>
        </p:spPr>
        <p:txBody>
          <a:bodyPr wrap="square" lIns="0" tIns="0" rIns="0" bIns="0" rtlCol="0" anchor="t"/>
          <a:lstStyle/>
          <a:p>
            <a:pPr indent="0" marL="0">
              <a:buNone/>
            </a:pPr>
            <a:r>
              <a:rPr lang="en-US" sz="1300" dirty="0">
                <a:solidFill>
                  <a:srgbClr val="F4F6FA"/>
                </a:solidFill>
                <a:latin typeface="Calibri" pitchFamily="34" charset="0"/>
                <a:ea typeface="Calibri" pitchFamily="34" charset="-122"/>
                <a:cs typeface="Calibri" pitchFamily="34" charset="-120"/>
              </a:rPr>
              <a:t>Structured and worded so that its realization can be proven to the customer's satisfaction; enhanced when measurable. 1 = difficult to verify, 5 = easily measurable.</a:t>
            </a:r>
            <a:endParaRPr lang="en-US" sz="1300" dirty="0"/>
          </a:p>
        </p:txBody>
      </p:sp>
      <p:sp>
        <p:nvSpPr>
          <p:cNvPr id="15" name="Text 13"/>
          <p:cNvSpPr txBox="1"/>
          <p:nvPr/>
        </p:nvSpPr>
        <p:spPr>
          <a:xfrm>
            <a:off x="4453128" y="5440680"/>
            <a:ext cx="3081528" cy="365760"/>
          </a:xfrm>
          <a:prstGeom prst="rect">
            <a:avLst/>
          </a:prstGeom>
          <a:noFill/>
          <a:ln/>
        </p:spPr>
        <p:txBody>
          <a:bodyPr wrap="square" lIns="0" tIns="0" rIns="0" bIns="0" rtlCol="0" anchor="ctr"/>
          <a:lstStyle/>
          <a:p>
            <a:pPr indent="0" marL="0">
              <a:buNone/>
            </a:pPr>
            <a:r>
              <a:rPr lang="en-US" sz="1100" i="1" dirty="0">
                <a:solidFill>
                  <a:srgbClr val="9FB0C7"/>
                </a:solidFill>
                <a:latin typeface="Calibri" pitchFamily="34" charset="0"/>
                <a:ea typeface="Calibri" pitchFamily="34" charset="-122"/>
                <a:cs typeface="Calibri" pitchFamily="34" charset="-120"/>
              </a:rPr>
              <a:t>Likert scale 1–5</a:t>
            </a:r>
            <a:endParaRPr lang="en-US" sz="1100" dirty="0"/>
          </a:p>
        </p:txBody>
      </p:sp>
      <p:sp>
        <p:nvSpPr>
          <p:cNvPr id="16" name="Shape 14"/>
          <p:cNvSpPr/>
          <p:nvPr/>
        </p:nvSpPr>
        <p:spPr>
          <a:xfrm>
            <a:off x="7763256" y="2148840"/>
            <a:ext cx="3493008" cy="3794760"/>
          </a:xfrm>
          <a:prstGeom prst="roundRect">
            <a:avLst>
              <a:gd name="adj" fmla="val 2094"/>
            </a:avLst>
          </a:prstGeom>
          <a:solidFill>
            <a:srgbClr val="17223A"/>
          </a:solidFill>
          <a:ln w="12700">
            <a:solidFill>
              <a:srgbClr val="2B3B58"/>
            </a:solidFill>
            <a:prstDash val="solid"/>
          </a:ln>
          <a:effectLst>
            <a:outerShdw sx="100000" sy="100000" kx="0" ky="0" algn="bl" rotWithShape="0" blurRad="101600" dist="38100" dir="5400000">
              <a:srgbClr val="000000">
                <a:alpha val="35000"/>
              </a:srgbClr>
            </a:outerShdw>
          </a:effectLst>
        </p:spPr>
      </p:sp>
      <p:sp>
        <p:nvSpPr>
          <p:cNvPr id="17" name="Shape 15"/>
          <p:cNvSpPr/>
          <p:nvPr/>
        </p:nvSpPr>
        <p:spPr>
          <a:xfrm>
            <a:off x="7763256" y="2148840"/>
            <a:ext cx="91440" cy="3794760"/>
          </a:xfrm>
          <a:prstGeom prst="rect">
            <a:avLst/>
          </a:prstGeom>
          <a:solidFill>
            <a:srgbClr val="6E85A8"/>
          </a:solidFill>
          <a:ln/>
        </p:spPr>
      </p:sp>
      <p:sp>
        <p:nvSpPr>
          <p:cNvPr id="18" name="Text 16"/>
          <p:cNvSpPr txBox="1"/>
          <p:nvPr/>
        </p:nvSpPr>
        <p:spPr>
          <a:xfrm>
            <a:off x="8083296" y="2377440"/>
            <a:ext cx="3081528" cy="502920"/>
          </a:xfrm>
          <a:prstGeom prst="rect">
            <a:avLst/>
          </a:prstGeom>
          <a:noFill/>
          <a:ln/>
        </p:spPr>
        <p:txBody>
          <a:bodyPr wrap="square" lIns="0" tIns="0" rIns="0" bIns="0" rtlCol="0" anchor="ctr"/>
          <a:lstStyle/>
          <a:p>
            <a:pPr indent="0" marL="0">
              <a:buNone/>
            </a:pPr>
            <a:r>
              <a:rPr lang="en-US" sz="2000" b="1" dirty="0">
                <a:solidFill>
                  <a:srgbClr val="6E85A8"/>
                </a:solidFill>
                <a:latin typeface="Cambria" pitchFamily="34" charset="0"/>
                <a:ea typeface="Cambria" pitchFamily="34" charset="-122"/>
                <a:cs typeface="Cambria" pitchFamily="34" charset="-120"/>
              </a:rPr>
              <a:t>Singularity</a:t>
            </a:r>
            <a:endParaRPr lang="en-US" sz="2000" dirty="0"/>
          </a:p>
        </p:txBody>
      </p:sp>
      <p:sp>
        <p:nvSpPr>
          <p:cNvPr id="19" name="Text 17"/>
          <p:cNvSpPr txBox="1"/>
          <p:nvPr/>
        </p:nvSpPr>
        <p:spPr>
          <a:xfrm>
            <a:off x="8083296" y="2971800"/>
            <a:ext cx="3081528" cy="2377440"/>
          </a:xfrm>
          <a:prstGeom prst="rect">
            <a:avLst/>
          </a:prstGeom>
          <a:noFill/>
          <a:ln/>
        </p:spPr>
        <p:txBody>
          <a:bodyPr wrap="square" lIns="0" tIns="0" rIns="0" bIns="0" rtlCol="0" anchor="t"/>
          <a:lstStyle/>
          <a:p>
            <a:pPr indent="0" marL="0">
              <a:buNone/>
            </a:pPr>
            <a:r>
              <a:rPr lang="en-US" sz="1300" dirty="0">
                <a:solidFill>
                  <a:srgbClr val="F4F6FA"/>
                </a:solidFill>
                <a:latin typeface="Calibri" pitchFamily="34" charset="0"/>
                <a:ea typeface="Calibri" pitchFamily="34" charset="-122"/>
                <a:cs typeface="Calibri" pitchFamily="34" charset="-120"/>
              </a:rPr>
              <a:t>States a single capability, characteristic, constraint or quality factor. 1 = includes several needs / unclear focus, 5 = entirely singular.</a:t>
            </a:r>
            <a:endParaRPr lang="en-US" sz="1300" dirty="0"/>
          </a:p>
        </p:txBody>
      </p:sp>
      <p:sp>
        <p:nvSpPr>
          <p:cNvPr id="20" name="Text 18"/>
          <p:cNvSpPr txBox="1"/>
          <p:nvPr/>
        </p:nvSpPr>
        <p:spPr>
          <a:xfrm>
            <a:off x="8083296" y="5440680"/>
            <a:ext cx="3081528" cy="365760"/>
          </a:xfrm>
          <a:prstGeom prst="rect">
            <a:avLst/>
          </a:prstGeom>
          <a:noFill/>
          <a:ln/>
        </p:spPr>
        <p:txBody>
          <a:bodyPr wrap="square" lIns="0" tIns="0" rIns="0" bIns="0" rtlCol="0" anchor="ctr"/>
          <a:lstStyle/>
          <a:p>
            <a:pPr indent="0" marL="0">
              <a:buNone/>
            </a:pPr>
            <a:r>
              <a:rPr lang="en-US" sz="1100" i="1" dirty="0">
                <a:solidFill>
                  <a:srgbClr val="9FB0C7"/>
                </a:solidFill>
                <a:latin typeface="Calibri" pitchFamily="34" charset="0"/>
                <a:ea typeface="Calibri" pitchFamily="34" charset="-122"/>
                <a:cs typeface="Calibri" pitchFamily="34" charset="-120"/>
              </a:rPr>
              <a:t>Likert scale 1–5</a:t>
            </a:r>
            <a:endParaRPr lang="en-US" sz="1100" dirty="0"/>
          </a:p>
        </p:txBody>
      </p:sp>
      <p:sp>
        <p:nvSpPr>
          <p:cNvPr id="21" name="Text 19"/>
          <p:cNvSpPr txBox="1"/>
          <p:nvPr/>
        </p:nvSpPr>
        <p:spPr>
          <a:xfrm>
            <a:off x="502920" y="6547104"/>
            <a:ext cx="7772400" cy="256032"/>
          </a:xfrm>
          <a:prstGeom prst="rect">
            <a:avLst/>
          </a:prstGeom>
          <a:noFill/>
          <a:ln/>
        </p:spPr>
        <p:txBody>
          <a:bodyPr wrap="square" lIns="0" tIns="0" rIns="0" bIns="0" rtlCol="0" anchor="ctr"/>
          <a:lstStyle/>
          <a:p>
            <a:pPr algn="l" indent="0" marL="0">
              <a:buNone/>
            </a:pPr>
            <a:r>
              <a:rPr lang="en-US" sz="900" dirty="0">
                <a:solidFill>
                  <a:srgbClr val="748199"/>
                </a:solidFill>
                <a:latin typeface="Calibri" pitchFamily="34" charset="0"/>
                <a:ea typeface="Calibri" pitchFamily="34" charset="-122"/>
                <a:cs typeface="Calibri" pitchFamily="34" charset="-120"/>
              </a:rPr>
              <a:t>Requirements Engineering (2026) 31:7  •  Paiva, Canedo &amp; Rocha Filho</a:t>
            </a:r>
            <a:endParaRPr lang="en-US" sz="900" dirty="0"/>
          </a:p>
        </p:txBody>
      </p:sp>
      <p:sp>
        <p:nvSpPr>
          <p:cNvPr id="22" name="Text 20"/>
          <p:cNvSpPr txBox="1"/>
          <p:nvPr/>
        </p:nvSpPr>
        <p:spPr>
          <a:xfrm>
            <a:off x="10972800" y="6547104"/>
            <a:ext cx="731520" cy="256032"/>
          </a:xfrm>
          <a:prstGeom prst="rect">
            <a:avLst/>
          </a:prstGeom>
          <a:noFill/>
          <a:ln/>
        </p:spPr>
        <p:txBody>
          <a:bodyPr wrap="square" lIns="0" tIns="0" rIns="0" bIns="0" rtlCol="0" anchor="ctr"/>
          <a:lstStyle/>
          <a:p>
            <a:pPr algn="r" indent="0" marL="0">
              <a:buNone/>
            </a:pPr>
            <a:r>
              <a:rPr lang="en-US" sz="900" dirty="0">
                <a:solidFill>
                  <a:srgbClr val="748199"/>
                </a:solidFill>
                <a:latin typeface="Calibri" pitchFamily="34" charset="0"/>
                <a:ea typeface="Calibri" pitchFamily="34" charset="-122"/>
                <a:cs typeface="Calibri" pitchFamily="34" charset="-120"/>
              </a:rPr>
              <a:t>08 / 20</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321"/>
        </a:solidFill>
      </p:bgPr>
    </p:bg>
    <p:spTree>
      <p:nvGrpSpPr>
        <p:cNvPr id="1" name=""/>
        <p:cNvGrpSpPr/>
        <p:nvPr/>
      </p:nvGrpSpPr>
      <p:grpSpPr>
        <a:xfrm>
          <a:off x="0" y="0"/>
          <a:ext cx="0" cy="0"/>
          <a:chOff x="0" y="0"/>
          <a:chExt cx="0" cy="0"/>
        </a:xfrm>
      </p:grpSpPr>
      <p:sp>
        <p:nvSpPr>
          <p:cNvPr id="2" name="Shape 0"/>
          <p:cNvSpPr/>
          <p:nvPr/>
        </p:nvSpPr>
        <p:spPr>
          <a:xfrm>
            <a:off x="502920" y="457200"/>
            <a:ext cx="128016" cy="128016"/>
          </a:xfrm>
          <a:prstGeom prst="rect">
            <a:avLst/>
          </a:prstGeom>
          <a:solidFill>
            <a:srgbClr val="C9A227"/>
          </a:solidFill>
          <a:ln/>
        </p:spPr>
      </p:sp>
      <p:sp>
        <p:nvSpPr>
          <p:cNvPr id="3" name="Text 1"/>
          <p:cNvSpPr txBox="1"/>
          <p:nvPr/>
        </p:nvSpPr>
        <p:spPr>
          <a:xfrm>
            <a:off x="749808" y="347472"/>
            <a:ext cx="9144000" cy="292608"/>
          </a:xfrm>
          <a:prstGeom prst="rect">
            <a:avLst/>
          </a:prstGeom>
          <a:noFill/>
          <a:ln/>
        </p:spPr>
        <p:txBody>
          <a:bodyPr wrap="square" lIns="0" tIns="0" rIns="0" bIns="0" rtlCol="0" anchor="ctr"/>
          <a:lstStyle/>
          <a:p>
            <a:pPr indent="0" marL="0">
              <a:buNone/>
            </a:pPr>
            <a:r>
              <a:rPr lang="en-US" sz="1250" b="1" spc="200" kern="0" dirty="0">
                <a:solidFill>
                  <a:srgbClr val="C9A227"/>
                </a:solidFill>
                <a:latin typeface="Calibri" pitchFamily="34" charset="0"/>
                <a:ea typeface="Calibri" pitchFamily="34" charset="-122"/>
                <a:cs typeface="Calibri" pitchFamily="34" charset="-120"/>
              </a:rPr>
              <a:t>EVALUATION FRAMEWORK</a:t>
            </a:r>
            <a:endParaRPr lang="en-US" sz="1250" dirty="0"/>
          </a:p>
        </p:txBody>
      </p:sp>
      <p:sp>
        <p:nvSpPr>
          <p:cNvPr id="4" name="Text 2"/>
          <p:cNvSpPr txBox="1"/>
          <p:nvPr/>
        </p:nvSpPr>
        <p:spPr>
          <a:xfrm>
            <a:off x="502920" y="658368"/>
            <a:ext cx="11155680" cy="685800"/>
          </a:xfrm>
          <a:prstGeom prst="rect">
            <a:avLst/>
          </a:prstGeom>
          <a:noFill/>
          <a:ln/>
        </p:spPr>
        <p:txBody>
          <a:bodyPr wrap="square" lIns="0" tIns="0" rIns="0" bIns="0" rtlCol="0" anchor="ctr"/>
          <a:lstStyle/>
          <a:p>
            <a:pPr indent="0" marL="0">
              <a:buNone/>
            </a:pPr>
            <a:r>
              <a:rPr lang="en-US" sz="3000" b="1" dirty="0">
                <a:solidFill>
                  <a:srgbClr val="F4F6FA"/>
                </a:solidFill>
                <a:latin typeface="Cambria" pitchFamily="34" charset="0"/>
                <a:ea typeface="Cambria" pitchFamily="34" charset="-122"/>
                <a:cs typeface="Cambria" pitchFamily="34" charset="-120"/>
              </a:rPr>
              <a:t>LLM-as-a-Judge Evaluation</a:t>
            </a:r>
            <a:endParaRPr lang="en-US" sz="3000" dirty="0"/>
          </a:p>
        </p:txBody>
      </p:sp>
      <p:sp>
        <p:nvSpPr>
          <p:cNvPr id="5" name="Shape 3"/>
          <p:cNvSpPr/>
          <p:nvPr/>
        </p:nvSpPr>
        <p:spPr>
          <a:xfrm>
            <a:off x="502920" y="1691640"/>
            <a:ext cx="2514600" cy="1417320"/>
          </a:xfrm>
          <a:prstGeom prst="roundRect">
            <a:avLst>
              <a:gd name="adj" fmla="val 5161"/>
            </a:avLst>
          </a:prstGeom>
          <a:solidFill>
            <a:srgbClr val="17223A"/>
          </a:solidFill>
          <a:ln w="12700">
            <a:solidFill>
              <a:srgbClr val="2B3B58"/>
            </a:solidFill>
            <a:prstDash val="solid"/>
          </a:ln>
          <a:effectLst>
            <a:outerShdw sx="100000" sy="100000" kx="0" ky="0" algn="bl" rotWithShape="0" blurRad="101600" dist="38100" dir="5400000">
              <a:srgbClr val="000000">
                <a:alpha val="35000"/>
              </a:srgbClr>
            </a:outerShdw>
          </a:effectLst>
        </p:spPr>
      </p:sp>
      <p:sp>
        <p:nvSpPr>
          <p:cNvPr id="6" name="Text 4"/>
          <p:cNvSpPr txBox="1"/>
          <p:nvPr/>
        </p:nvSpPr>
        <p:spPr>
          <a:xfrm>
            <a:off x="640080" y="1874520"/>
            <a:ext cx="2240280" cy="594360"/>
          </a:xfrm>
          <a:prstGeom prst="rect">
            <a:avLst/>
          </a:prstGeom>
          <a:noFill/>
          <a:ln/>
        </p:spPr>
        <p:txBody>
          <a:bodyPr wrap="square" lIns="0" tIns="0" rIns="0" bIns="0" rtlCol="0" anchor="ctr"/>
          <a:lstStyle/>
          <a:p>
            <a:pPr algn="ctr" indent="0" marL="0">
              <a:buNone/>
            </a:pPr>
            <a:r>
              <a:rPr lang="en-US" sz="1400" b="1" dirty="0">
                <a:solidFill>
                  <a:srgbClr val="F4F6FA"/>
                </a:solidFill>
                <a:latin typeface="Calibri" pitchFamily="34" charset="0"/>
                <a:ea typeface="Calibri" pitchFamily="34" charset="-122"/>
                <a:cs typeface="Calibri" pitchFamily="34" charset="-120"/>
              </a:rPr>
              <a:t>Generated</a:t>
            </a:r>
            <a:endParaRPr lang="en-US" sz="1400" dirty="0"/>
          </a:p>
          <a:p>
            <a:pPr algn="ctr" indent="0" marL="0">
              <a:buNone/>
            </a:pPr>
            <a:r>
              <a:rPr lang="en-US" sz="1400" b="1" dirty="0">
                <a:solidFill>
                  <a:srgbClr val="F4F6FA"/>
                </a:solidFill>
                <a:latin typeface="Calibri" pitchFamily="34" charset="0"/>
                <a:ea typeface="Calibri" pitchFamily="34" charset="-122"/>
                <a:cs typeface="Calibri" pitchFamily="34" charset="-120"/>
              </a:rPr>
              <a:t>Requirement</a:t>
            </a:r>
            <a:endParaRPr lang="en-US" sz="1400" dirty="0"/>
          </a:p>
        </p:txBody>
      </p:sp>
      <p:sp>
        <p:nvSpPr>
          <p:cNvPr id="7" name="Text 5"/>
          <p:cNvSpPr txBox="1"/>
          <p:nvPr/>
        </p:nvSpPr>
        <p:spPr>
          <a:xfrm>
            <a:off x="640080" y="2514600"/>
            <a:ext cx="2240280" cy="502920"/>
          </a:xfrm>
          <a:prstGeom prst="rect">
            <a:avLst/>
          </a:prstGeom>
          <a:noFill/>
          <a:ln/>
        </p:spPr>
        <p:txBody>
          <a:bodyPr wrap="square" lIns="0" tIns="0" rIns="0" bIns="0" rtlCol="0" anchor="t"/>
          <a:lstStyle/>
          <a:p>
            <a:pPr algn="ctr" indent="0" marL="0">
              <a:buNone/>
            </a:pPr>
            <a:r>
              <a:rPr lang="en-US" sz="1000" dirty="0">
                <a:solidFill>
                  <a:srgbClr val="9FB0C7"/>
                </a:solidFill>
                <a:latin typeface="Calibri" pitchFamily="34" charset="0"/>
                <a:ea typeface="Calibri" pitchFamily="34" charset="-122"/>
                <a:cs typeface="Calibri" pitchFamily="34" charset="-120"/>
              </a:rPr>
              <a:t>Single statement text</a:t>
            </a:r>
            <a:endParaRPr lang="en-US" sz="1000" dirty="0"/>
          </a:p>
        </p:txBody>
      </p:sp>
      <p:sp>
        <p:nvSpPr>
          <p:cNvPr id="8" name="Text 6"/>
          <p:cNvSpPr txBox="1"/>
          <p:nvPr/>
        </p:nvSpPr>
        <p:spPr>
          <a:xfrm>
            <a:off x="3017520" y="2148840"/>
            <a:ext cx="411480" cy="502920"/>
          </a:xfrm>
          <a:prstGeom prst="rect">
            <a:avLst/>
          </a:prstGeom>
          <a:noFill/>
          <a:ln/>
        </p:spPr>
        <p:txBody>
          <a:bodyPr wrap="square" lIns="0" tIns="0" rIns="0" bIns="0" rtlCol="0" anchor="ctr"/>
          <a:lstStyle/>
          <a:p>
            <a:pPr algn="ctr" indent="0" marL="0">
              <a:buNone/>
            </a:pPr>
            <a:r>
              <a:rPr lang="en-US" sz="2000" b="1" dirty="0">
                <a:solidFill>
                  <a:srgbClr val="C9A227"/>
                </a:solidFill>
                <a:latin typeface="Calibri" pitchFamily="34" charset="0"/>
                <a:ea typeface="Calibri" pitchFamily="34" charset="-122"/>
                <a:cs typeface="Calibri" pitchFamily="34" charset="-120"/>
              </a:rPr>
              <a:t>→</a:t>
            </a:r>
            <a:endParaRPr lang="en-US" sz="2000" dirty="0"/>
          </a:p>
        </p:txBody>
      </p:sp>
      <p:sp>
        <p:nvSpPr>
          <p:cNvPr id="9" name="Shape 7"/>
          <p:cNvSpPr/>
          <p:nvPr/>
        </p:nvSpPr>
        <p:spPr>
          <a:xfrm>
            <a:off x="3429000" y="1691640"/>
            <a:ext cx="2514600" cy="1417320"/>
          </a:xfrm>
          <a:prstGeom prst="roundRect">
            <a:avLst>
              <a:gd name="adj" fmla="val 5161"/>
            </a:avLst>
          </a:prstGeom>
          <a:solidFill>
            <a:srgbClr val="17223A"/>
          </a:solidFill>
          <a:ln w="12700">
            <a:solidFill>
              <a:srgbClr val="2B3B58"/>
            </a:solidFill>
            <a:prstDash val="solid"/>
          </a:ln>
          <a:effectLst>
            <a:outerShdw sx="100000" sy="100000" kx="0" ky="0" algn="bl" rotWithShape="0" blurRad="101600" dist="38100" dir="5400000">
              <a:srgbClr val="000000">
                <a:alpha val="35000"/>
              </a:srgbClr>
            </a:outerShdw>
          </a:effectLst>
        </p:spPr>
      </p:sp>
      <p:sp>
        <p:nvSpPr>
          <p:cNvPr id="10" name="Text 8"/>
          <p:cNvSpPr txBox="1"/>
          <p:nvPr/>
        </p:nvSpPr>
        <p:spPr>
          <a:xfrm>
            <a:off x="3566160" y="1874520"/>
            <a:ext cx="2240280" cy="594360"/>
          </a:xfrm>
          <a:prstGeom prst="rect">
            <a:avLst/>
          </a:prstGeom>
          <a:noFill/>
          <a:ln/>
        </p:spPr>
        <p:txBody>
          <a:bodyPr wrap="square" lIns="0" tIns="0" rIns="0" bIns="0" rtlCol="0" anchor="ctr"/>
          <a:lstStyle/>
          <a:p>
            <a:pPr algn="ctr" indent="0" marL="0">
              <a:buNone/>
            </a:pPr>
            <a:r>
              <a:rPr lang="en-US" sz="1400" b="1" dirty="0">
                <a:solidFill>
                  <a:srgbClr val="F4F6FA"/>
                </a:solidFill>
                <a:latin typeface="Calibri" pitchFamily="34" charset="0"/>
                <a:ea typeface="Calibri" pitchFamily="34" charset="-122"/>
                <a:cs typeface="Calibri" pitchFamily="34" charset="-120"/>
              </a:rPr>
              <a:t>Judge Prompt</a:t>
            </a:r>
            <a:endParaRPr lang="en-US" sz="1400" dirty="0"/>
          </a:p>
        </p:txBody>
      </p:sp>
      <p:sp>
        <p:nvSpPr>
          <p:cNvPr id="11" name="Text 9"/>
          <p:cNvSpPr txBox="1"/>
          <p:nvPr/>
        </p:nvSpPr>
        <p:spPr>
          <a:xfrm>
            <a:off x="3566160" y="2514600"/>
            <a:ext cx="2240280" cy="502920"/>
          </a:xfrm>
          <a:prstGeom prst="rect">
            <a:avLst/>
          </a:prstGeom>
          <a:noFill/>
          <a:ln/>
        </p:spPr>
        <p:txBody>
          <a:bodyPr wrap="square" lIns="0" tIns="0" rIns="0" bIns="0" rtlCol="0" anchor="t"/>
          <a:lstStyle/>
          <a:p>
            <a:pPr algn="ctr" indent="0" marL="0">
              <a:buNone/>
            </a:pPr>
            <a:r>
              <a:rPr lang="en-US" sz="1000" dirty="0">
                <a:solidFill>
                  <a:srgbClr val="9FB0C7"/>
                </a:solidFill>
                <a:latin typeface="Calibri" pitchFamily="34" charset="0"/>
                <a:ea typeface="Calibri" pitchFamily="34" charset="-122"/>
                <a:cs typeface="Calibri" pitchFamily="34" charset="-120"/>
              </a:rPr>
              <a:t>ISO-based scoring criteria</a:t>
            </a:r>
            <a:endParaRPr lang="en-US" sz="1000" dirty="0"/>
          </a:p>
        </p:txBody>
      </p:sp>
      <p:sp>
        <p:nvSpPr>
          <p:cNvPr id="12" name="Text 10"/>
          <p:cNvSpPr txBox="1"/>
          <p:nvPr/>
        </p:nvSpPr>
        <p:spPr>
          <a:xfrm>
            <a:off x="5943600" y="2148840"/>
            <a:ext cx="411480" cy="502920"/>
          </a:xfrm>
          <a:prstGeom prst="rect">
            <a:avLst/>
          </a:prstGeom>
          <a:noFill/>
          <a:ln/>
        </p:spPr>
        <p:txBody>
          <a:bodyPr wrap="square" lIns="0" tIns="0" rIns="0" bIns="0" rtlCol="0" anchor="ctr"/>
          <a:lstStyle/>
          <a:p>
            <a:pPr algn="ctr" indent="0" marL="0">
              <a:buNone/>
            </a:pPr>
            <a:r>
              <a:rPr lang="en-US" sz="2000" b="1" dirty="0">
                <a:solidFill>
                  <a:srgbClr val="C9A227"/>
                </a:solidFill>
                <a:latin typeface="Calibri" pitchFamily="34" charset="0"/>
                <a:ea typeface="Calibri" pitchFamily="34" charset="-122"/>
                <a:cs typeface="Calibri" pitchFamily="34" charset="-120"/>
              </a:rPr>
              <a:t>→</a:t>
            </a:r>
            <a:endParaRPr lang="en-US" sz="2000" dirty="0"/>
          </a:p>
        </p:txBody>
      </p:sp>
      <p:sp>
        <p:nvSpPr>
          <p:cNvPr id="13" name="Shape 11"/>
          <p:cNvSpPr/>
          <p:nvPr/>
        </p:nvSpPr>
        <p:spPr>
          <a:xfrm>
            <a:off x="6355080" y="1691640"/>
            <a:ext cx="2514600" cy="1417320"/>
          </a:xfrm>
          <a:prstGeom prst="roundRect">
            <a:avLst>
              <a:gd name="adj" fmla="val 5161"/>
            </a:avLst>
          </a:prstGeom>
          <a:solidFill>
            <a:srgbClr val="1A2740"/>
          </a:solidFill>
          <a:ln w="12700">
            <a:solidFill>
              <a:srgbClr val="C9A227"/>
            </a:solidFill>
            <a:prstDash val="solid"/>
          </a:ln>
          <a:effectLst>
            <a:outerShdw sx="100000" sy="100000" kx="0" ky="0" algn="bl" rotWithShape="0" blurRad="101600" dist="38100" dir="5400000">
              <a:srgbClr val="000000">
                <a:alpha val="35000"/>
              </a:srgbClr>
            </a:outerShdw>
          </a:effectLst>
        </p:spPr>
      </p:sp>
      <p:sp>
        <p:nvSpPr>
          <p:cNvPr id="14" name="Text 12"/>
          <p:cNvSpPr txBox="1"/>
          <p:nvPr/>
        </p:nvSpPr>
        <p:spPr>
          <a:xfrm>
            <a:off x="6492240" y="1874520"/>
            <a:ext cx="2240280" cy="594360"/>
          </a:xfrm>
          <a:prstGeom prst="rect">
            <a:avLst/>
          </a:prstGeom>
          <a:noFill/>
          <a:ln/>
        </p:spPr>
        <p:txBody>
          <a:bodyPr wrap="square" lIns="0" tIns="0" rIns="0" bIns="0" rtlCol="0" anchor="ctr"/>
          <a:lstStyle/>
          <a:p>
            <a:pPr algn="ctr" indent="0" marL="0">
              <a:buNone/>
            </a:pPr>
            <a:r>
              <a:rPr lang="en-US" sz="1400" b="1" dirty="0">
                <a:solidFill>
                  <a:srgbClr val="F4F6FA"/>
                </a:solidFill>
                <a:latin typeface="Calibri" pitchFamily="34" charset="0"/>
                <a:ea typeface="Calibri" pitchFamily="34" charset="-122"/>
                <a:cs typeface="Calibri" pitchFamily="34" charset="-120"/>
              </a:rPr>
              <a:t>Qwen QwQ-32B</a:t>
            </a:r>
            <a:endParaRPr lang="en-US" sz="1400" dirty="0"/>
          </a:p>
        </p:txBody>
      </p:sp>
      <p:sp>
        <p:nvSpPr>
          <p:cNvPr id="15" name="Text 13"/>
          <p:cNvSpPr txBox="1"/>
          <p:nvPr/>
        </p:nvSpPr>
        <p:spPr>
          <a:xfrm>
            <a:off x="6492240" y="2514600"/>
            <a:ext cx="2240280" cy="502920"/>
          </a:xfrm>
          <a:prstGeom prst="rect">
            <a:avLst/>
          </a:prstGeom>
          <a:noFill/>
          <a:ln/>
        </p:spPr>
        <p:txBody>
          <a:bodyPr wrap="square" lIns="0" tIns="0" rIns="0" bIns="0" rtlCol="0" anchor="t"/>
          <a:lstStyle/>
          <a:p>
            <a:pPr algn="ctr" indent="0" marL="0">
              <a:buNone/>
            </a:pPr>
            <a:r>
              <a:rPr lang="en-US" sz="1000" dirty="0">
                <a:solidFill>
                  <a:srgbClr val="9FB0C7"/>
                </a:solidFill>
                <a:latin typeface="Calibri" pitchFamily="34" charset="0"/>
                <a:ea typeface="Calibri" pitchFamily="34" charset="-122"/>
                <a:cs typeface="Calibri" pitchFamily="34" charset="-120"/>
              </a:rPr>
              <a:t>Architecturally distinct evaluator</a:t>
            </a:r>
            <a:endParaRPr lang="en-US" sz="1000" dirty="0"/>
          </a:p>
        </p:txBody>
      </p:sp>
      <p:sp>
        <p:nvSpPr>
          <p:cNvPr id="16" name="Text 14"/>
          <p:cNvSpPr txBox="1"/>
          <p:nvPr/>
        </p:nvSpPr>
        <p:spPr>
          <a:xfrm>
            <a:off x="8869680" y="2148840"/>
            <a:ext cx="411480" cy="502920"/>
          </a:xfrm>
          <a:prstGeom prst="rect">
            <a:avLst/>
          </a:prstGeom>
          <a:noFill/>
          <a:ln/>
        </p:spPr>
        <p:txBody>
          <a:bodyPr wrap="square" lIns="0" tIns="0" rIns="0" bIns="0" rtlCol="0" anchor="ctr"/>
          <a:lstStyle/>
          <a:p>
            <a:pPr algn="ctr" indent="0" marL="0">
              <a:buNone/>
            </a:pPr>
            <a:r>
              <a:rPr lang="en-US" sz="2000" b="1" dirty="0">
                <a:solidFill>
                  <a:srgbClr val="C9A227"/>
                </a:solidFill>
                <a:latin typeface="Calibri" pitchFamily="34" charset="0"/>
                <a:ea typeface="Calibri" pitchFamily="34" charset="-122"/>
                <a:cs typeface="Calibri" pitchFamily="34" charset="-120"/>
              </a:rPr>
              <a:t>→</a:t>
            </a:r>
            <a:endParaRPr lang="en-US" sz="2000" dirty="0"/>
          </a:p>
        </p:txBody>
      </p:sp>
      <p:sp>
        <p:nvSpPr>
          <p:cNvPr id="17" name="Shape 15"/>
          <p:cNvSpPr/>
          <p:nvPr/>
        </p:nvSpPr>
        <p:spPr>
          <a:xfrm>
            <a:off x="9281160" y="1691640"/>
            <a:ext cx="2514600" cy="1417320"/>
          </a:xfrm>
          <a:prstGeom prst="roundRect">
            <a:avLst>
              <a:gd name="adj" fmla="val 5161"/>
            </a:avLst>
          </a:prstGeom>
          <a:solidFill>
            <a:srgbClr val="17223A"/>
          </a:solidFill>
          <a:ln w="12700">
            <a:solidFill>
              <a:srgbClr val="2B3B58"/>
            </a:solidFill>
            <a:prstDash val="solid"/>
          </a:ln>
          <a:effectLst>
            <a:outerShdw sx="100000" sy="100000" kx="0" ky="0" algn="bl" rotWithShape="0" blurRad="101600" dist="38100" dir="5400000">
              <a:srgbClr val="000000">
                <a:alpha val="35000"/>
              </a:srgbClr>
            </a:outerShdw>
          </a:effectLst>
        </p:spPr>
      </p:sp>
      <p:sp>
        <p:nvSpPr>
          <p:cNvPr id="18" name="Text 16"/>
          <p:cNvSpPr txBox="1"/>
          <p:nvPr/>
        </p:nvSpPr>
        <p:spPr>
          <a:xfrm>
            <a:off x="9418320" y="1874520"/>
            <a:ext cx="2240280" cy="594360"/>
          </a:xfrm>
          <a:prstGeom prst="rect">
            <a:avLst/>
          </a:prstGeom>
          <a:noFill/>
          <a:ln/>
        </p:spPr>
        <p:txBody>
          <a:bodyPr wrap="square" lIns="0" tIns="0" rIns="0" bIns="0" rtlCol="0" anchor="ctr"/>
          <a:lstStyle/>
          <a:p>
            <a:pPr algn="ctr" indent="0" marL="0">
              <a:buNone/>
            </a:pPr>
            <a:r>
              <a:rPr lang="en-US" sz="1400" b="1" dirty="0">
                <a:solidFill>
                  <a:srgbClr val="F4F6FA"/>
                </a:solidFill>
                <a:latin typeface="Calibri" pitchFamily="34" charset="0"/>
                <a:ea typeface="Calibri" pitchFamily="34" charset="-122"/>
                <a:cs typeface="Calibri" pitchFamily="34" charset="-120"/>
              </a:rPr>
              <a:t>JSON Output</a:t>
            </a:r>
            <a:endParaRPr lang="en-US" sz="1400" dirty="0"/>
          </a:p>
        </p:txBody>
      </p:sp>
      <p:sp>
        <p:nvSpPr>
          <p:cNvPr id="19" name="Text 17"/>
          <p:cNvSpPr txBox="1"/>
          <p:nvPr/>
        </p:nvSpPr>
        <p:spPr>
          <a:xfrm>
            <a:off x="9418320" y="2514600"/>
            <a:ext cx="2240280" cy="502920"/>
          </a:xfrm>
          <a:prstGeom prst="rect">
            <a:avLst/>
          </a:prstGeom>
          <a:noFill/>
          <a:ln/>
        </p:spPr>
        <p:txBody>
          <a:bodyPr wrap="square" lIns="0" tIns="0" rIns="0" bIns="0" rtlCol="0" anchor="t"/>
          <a:lstStyle/>
          <a:p>
            <a:pPr algn="ctr" indent="0" marL="0">
              <a:buNone/>
            </a:pPr>
            <a:r>
              <a:rPr lang="en-US" sz="1000" dirty="0">
                <a:solidFill>
                  <a:srgbClr val="9FB0C7"/>
                </a:solidFill>
                <a:latin typeface="Calibri" pitchFamily="34" charset="0"/>
                <a:ea typeface="Calibri" pitchFamily="34" charset="-122"/>
                <a:cs typeface="Calibri" pitchFamily="34" charset="-120"/>
              </a:rPr>
              <a:t>Scores (1–5) + rationale</a:t>
            </a:r>
            <a:endParaRPr lang="en-US" sz="1000" dirty="0"/>
          </a:p>
        </p:txBody>
      </p:sp>
      <p:sp>
        <p:nvSpPr>
          <p:cNvPr id="20" name="Text 18"/>
          <p:cNvSpPr txBox="1"/>
          <p:nvPr/>
        </p:nvSpPr>
        <p:spPr>
          <a:xfrm>
            <a:off x="502920" y="3520440"/>
            <a:ext cx="11155680" cy="2834640"/>
          </a:xfrm>
          <a:prstGeom prst="rect">
            <a:avLst/>
          </a:prstGeom>
          <a:noFill/>
          <a:ln/>
        </p:spPr>
        <p:txBody>
          <a:bodyPr wrap="square" lIns="0" tIns="0" rIns="0" bIns="0" rtlCol="0" anchor="t"/>
          <a:lstStyle/>
          <a:p>
            <a:pPr marL="228600" indent="-228600">
              <a:spcAft>
                <a:spcPts val="1100"/>
              </a:spcAft>
              <a:buSzPct val="100000"/>
              <a:buChar char="•"/>
            </a:pPr>
            <a:r>
              <a:rPr lang="en-US" sz="1350" dirty="0">
                <a:solidFill>
                  <a:srgbClr val="F4F6FA"/>
                </a:solidFill>
                <a:latin typeface="Calibri" pitchFamily="34" charset="0"/>
                <a:ea typeface="Calibri" pitchFamily="34" charset="-122"/>
                <a:cs typeface="Calibri" pitchFamily="34" charset="-120"/>
              </a:rPr>
              <a:t>Scalable &amp; cost-effective alternative to human review of 900 requirements — immune to rater fatigue.</a:t>
            </a:r>
            <a:endParaRPr lang="en-US" sz="1350" dirty="0"/>
          </a:p>
          <a:p>
            <a:pPr marL="228600" indent="-228600">
              <a:spcAft>
                <a:spcPts val="1100"/>
              </a:spcAft>
              <a:buSzPct val="100000"/>
              <a:buChar char="•"/>
            </a:pPr>
            <a:r>
              <a:rPr lang="en-US" sz="1350" dirty="0">
                <a:solidFill>
                  <a:srgbClr val="F4F6FA"/>
                </a:solidFill>
                <a:latin typeface="Calibri" pitchFamily="34" charset="0"/>
                <a:ea typeface="Calibri" pitchFamily="34" charset="-122"/>
                <a:cs typeface="Calibri" pitchFamily="34" charset="-120"/>
              </a:rPr>
              <a:t>Qwen QwQ-32B chosen for architectural distinction from both generation models, mitigating self-enhancement bias.</a:t>
            </a:r>
            <a:endParaRPr lang="en-US" sz="1350" dirty="0"/>
          </a:p>
          <a:p>
            <a:pPr marL="228600" indent="-228600">
              <a:spcAft>
                <a:spcPts val="1100"/>
              </a:spcAft>
              <a:buSzPct val="100000"/>
              <a:buChar char="•"/>
            </a:pPr>
            <a:r>
              <a:rPr lang="en-US" sz="1350" dirty="0">
                <a:solidFill>
                  <a:srgbClr val="F4F6FA"/>
                </a:solidFill>
                <a:latin typeface="Calibri" pitchFamily="34" charset="0"/>
                <a:ea typeface="Calibri" pitchFamily="34" charset="-122"/>
                <a:cs typeface="Calibri" pitchFamily="34" charset="-120"/>
              </a:rPr>
              <a:t>Structured JSON schema forces a 1–5 score per attribute plus a combined textual explanation, supporting RQ3's thematic analysis.</a:t>
            </a:r>
            <a:endParaRPr lang="en-US" sz="1350" dirty="0"/>
          </a:p>
          <a:p>
            <a:pPr marL="228600" indent="-228600">
              <a:spcAft>
                <a:spcPts val="1100"/>
              </a:spcAft>
              <a:buSzPct val="100000"/>
              <a:buChar char="•"/>
            </a:pPr>
            <a:r>
              <a:rPr lang="en-US" sz="1350" dirty="0">
                <a:solidFill>
                  <a:srgbClr val="F4F6FA"/>
                </a:solidFill>
                <a:latin typeface="Calibri" pitchFamily="34" charset="0"/>
                <a:ea typeface="Calibri" pitchFamily="34" charset="-122"/>
                <a:cs typeface="Calibri" pitchFamily="34" charset="-120"/>
              </a:rPr>
              <a:t>Prior evidence: strong LLM judges reach &gt;80% agreement with human preference; Casciani et al. report r = 0.97–0.99 with expert judges in an RE-adjacent domain.</a:t>
            </a:r>
            <a:endParaRPr lang="en-US" sz="1350" dirty="0"/>
          </a:p>
        </p:txBody>
      </p:sp>
      <p:sp>
        <p:nvSpPr>
          <p:cNvPr id="21" name="Text 19"/>
          <p:cNvSpPr txBox="1"/>
          <p:nvPr/>
        </p:nvSpPr>
        <p:spPr>
          <a:xfrm>
            <a:off x="502920" y="6547104"/>
            <a:ext cx="7772400" cy="256032"/>
          </a:xfrm>
          <a:prstGeom prst="rect">
            <a:avLst/>
          </a:prstGeom>
          <a:noFill/>
          <a:ln/>
        </p:spPr>
        <p:txBody>
          <a:bodyPr wrap="square" lIns="0" tIns="0" rIns="0" bIns="0" rtlCol="0" anchor="ctr"/>
          <a:lstStyle/>
          <a:p>
            <a:pPr algn="l" indent="0" marL="0">
              <a:buNone/>
            </a:pPr>
            <a:r>
              <a:rPr lang="en-US" sz="900" dirty="0">
                <a:solidFill>
                  <a:srgbClr val="748199"/>
                </a:solidFill>
                <a:latin typeface="Calibri" pitchFamily="34" charset="0"/>
                <a:ea typeface="Calibri" pitchFamily="34" charset="-122"/>
                <a:cs typeface="Calibri" pitchFamily="34" charset="-120"/>
              </a:rPr>
              <a:t>Requirements Engineering (2026) 31:7  •  Paiva, Canedo &amp; Rocha Filho</a:t>
            </a:r>
            <a:endParaRPr lang="en-US" sz="900" dirty="0"/>
          </a:p>
        </p:txBody>
      </p:sp>
      <p:sp>
        <p:nvSpPr>
          <p:cNvPr id="22" name="Text 20"/>
          <p:cNvSpPr txBox="1"/>
          <p:nvPr/>
        </p:nvSpPr>
        <p:spPr>
          <a:xfrm>
            <a:off x="10972800" y="6547104"/>
            <a:ext cx="731520" cy="256032"/>
          </a:xfrm>
          <a:prstGeom prst="rect">
            <a:avLst/>
          </a:prstGeom>
          <a:noFill/>
          <a:ln/>
        </p:spPr>
        <p:txBody>
          <a:bodyPr wrap="square" lIns="0" tIns="0" rIns="0" bIns="0" rtlCol="0" anchor="ctr"/>
          <a:lstStyle/>
          <a:p>
            <a:pPr algn="r" indent="0" marL="0">
              <a:buNone/>
            </a:pPr>
            <a:r>
              <a:rPr lang="en-US" sz="900" dirty="0">
                <a:solidFill>
                  <a:srgbClr val="748199"/>
                </a:solidFill>
                <a:latin typeface="Calibri" pitchFamily="34" charset="0"/>
                <a:ea typeface="Calibri" pitchFamily="34" charset="-122"/>
                <a:cs typeface="Calibri" pitchFamily="34" charset="-120"/>
              </a:rPr>
              <a:t>09 / 20</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321"/>
        </a:solidFill>
      </p:bgPr>
    </p:bg>
    <p:spTree>
      <p:nvGrpSpPr>
        <p:cNvPr id="1" name=""/>
        <p:cNvGrpSpPr/>
        <p:nvPr/>
      </p:nvGrpSpPr>
      <p:grpSpPr>
        <a:xfrm>
          <a:off x="0" y="0"/>
          <a:ext cx="0" cy="0"/>
          <a:chOff x="0" y="0"/>
          <a:chExt cx="0" cy="0"/>
        </a:xfrm>
      </p:grpSpPr>
      <p:sp>
        <p:nvSpPr>
          <p:cNvPr id="2" name="Shape 0"/>
          <p:cNvSpPr/>
          <p:nvPr/>
        </p:nvSpPr>
        <p:spPr>
          <a:xfrm>
            <a:off x="502920" y="457200"/>
            <a:ext cx="128016" cy="128016"/>
          </a:xfrm>
          <a:prstGeom prst="rect">
            <a:avLst/>
          </a:prstGeom>
          <a:solidFill>
            <a:srgbClr val="C9A227"/>
          </a:solidFill>
          <a:ln/>
        </p:spPr>
      </p:sp>
      <p:sp>
        <p:nvSpPr>
          <p:cNvPr id="3" name="Text 1"/>
          <p:cNvSpPr txBox="1"/>
          <p:nvPr/>
        </p:nvSpPr>
        <p:spPr>
          <a:xfrm>
            <a:off x="749808" y="347472"/>
            <a:ext cx="9144000" cy="292608"/>
          </a:xfrm>
          <a:prstGeom prst="rect">
            <a:avLst/>
          </a:prstGeom>
          <a:noFill/>
          <a:ln/>
        </p:spPr>
        <p:txBody>
          <a:bodyPr wrap="square" lIns="0" tIns="0" rIns="0" bIns="0" rtlCol="0" anchor="ctr"/>
          <a:lstStyle/>
          <a:p>
            <a:pPr indent="0" marL="0">
              <a:buNone/>
            </a:pPr>
            <a:r>
              <a:rPr lang="en-US" sz="1250" b="1" spc="200" kern="0" dirty="0">
                <a:solidFill>
                  <a:srgbClr val="C9A227"/>
                </a:solidFill>
                <a:latin typeface="Calibri" pitchFamily="34" charset="0"/>
                <a:ea typeface="Calibri" pitchFamily="34" charset="-122"/>
                <a:cs typeface="Calibri" pitchFamily="34" charset="-120"/>
              </a:rPr>
              <a:t>ILLUSTRATION</a:t>
            </a:r>
            <a:endParaRPr lang="en-US" sz="1250" dirty="0"/>
          </a:p>
        </p:txBody>
      </p:sp>
      <p:sp>
        <p:nvSpPr>
          <p:cNvPr id="4" name="Text 2"/>
          <p:cNvSpPr txBox="1"/>
          <p:nvPr/>
        </p:nvSpPr>
        <p:spPr>
          <a:xfrm>
            <a:off x="502920" y="658368"/>
            <a:ext cx="11155680" cy="685800"/>
          </a:xfrm>
          <a:prstGeom prst="rect">
            <a:avLst/>
          </a:prstGeom>
          <a:noFill/>
          <a:ln/>
        </p:spPr>
        <p:txBody>
          <a:bodyPr wrap="square" lIns="0" tIns="0" rIns="0" bIns="0" rtlCol="0" anchor="ctr"/>
          <a:lstStyle/>
          <a:p>
            <a:pPr indent="0" marL="0">
              <a:buNone/>
            </a:pPr>
            <a:r>
              <a:rPr lang="en-US" sz="3000" b="1" dirty="0">
                <a:solidFill>
                  <a:srgbClr val="F4F6FA"/>
                </a:solidFill>
                <a:latin typeface="Cambria" pitchFamily="34" charset="0"/>
                <a:ea typeface="Cambria" pitchFamily="34" charset="-122"/>
                <a:cs typeface="Cambria" pitchFamily="34" charset="-120"/>
              </a:rPr>
              <a:t>Example: Issue Title → Generated Requirement</a:t>
            </a:r>
            <a:endParaRPr lang="en-US" sz="3000" dirty="0"/>
          </a:p>
        </p:txBody>
      </p:sp>
      <p:sp>
        <p:nvSpPr>
          <p:cNvPr id="5" name="Shape 3"/>
          <p:cNvSpPr/>
          <p:nvPr/>
        </p:nvSpPr>
        <p:spPr>
          <a:xfrm>
            <a:off x="502920" y="1737360"/>
            <a:ext cx="11155680" cy="1554480"/>
          </a:xfrm>
          <a:prstGeom prst="roundRect">
            <a:avLst>
              <a:gd name="adj" fmla="val 4706"/>
            </a:avLst>
          </a:prstGeom>
          <a:solidFill>
            <a:srgbClr val="1D2C48"/>
          </a:solidFill>
          <a:ln w="12700">
            <a:solidFill>
              <a:srgbClr val="2B3B58"/>
            </a:solidFill>
            <a:prstDash val="solid"/>
          </a:ln>
          <a:effectLst>
            <a:outerShdw sx="100000" sy="100000" kx="0" ky="0" algn="bl" rotWithShape="0" blurRad="101600" dist="38100" dir="5400000">
              <a:srgbClr val="000000">
                <a:alpha val="35000"/>
              </a:srgbClr>
            </a:outerShdw>
          </a:effectLst>
        </p:spPr>
      </p:sp>
      <p:sp>
        <p:nvSpPr>
          <p:cNvPr id="6" name="Text 4"/>
          <p:cNvSpPr txBox="1"/>
          <p:nvPr/>
        </p:nvSpPr>
        <p:spPr>
          <a:xfrm>
            <a:off x="822960" y="1901952"/>
            <a:ext cx="5486400" cy="274320"/>
          </a:xfrm>
          <a:prstGeom prst="rect">
            <a:avLst/>
          </a:prstGeom>
          <a:noFill/>
          <a:ln/>
        </p:spPr>
        <p:txBody>
          <a:bodyPr wrap="square" lIns="0" tIns="0" rIns="0" bIns="0" rtlCol="0" anchor="ctr"/>
          <a:lstStyle/>
          <a:p>
            <a:pPr indent="0" marL="0">
              <a:buNone/>
            </a:pPr>
            <a:r>
              <a:rPr lang="en-US" sz="1100" b="1" spc="100" kern="0" dirty="0">
                <a:solidFill>
                  <a:srgbClr val="C9A227"/>
                </a:solidFill>
                <a:latin typeface="Calibri" pitchFamily="34" charset="0"/>
                <a:ea typeface="Calibri" pitchFamily="34" charset="-122"/>
                <a:cs typeface="Calibri" pitchFamily="34" charset="-120"/>
              </a:rPr>
              <a:t>ISSUE TITLE  ·  pytorch/pytorch</a:t>
            </a:r>
            <a:endParaRPr lang="en-US" sz="1100" dirty="0"/>
          </a:p>
        </p:txBody>
      </p:sp>
      <p:sp>
        <p:nvSpPr>
          <p:cNvPr id="7" name="Text 5"/>
          <p:cNvSpPr txBox="1"/>
          <p:nvPr/>
        </p:nvSpPr>
        <p:spPr>
          <a:xfrm>
            <a:off x="822960" y="2194560"/>
            <a:ext cx="10515600" cy="960120"/>
          </a:xfrm>
          <a:prstGeom prst="rect">
            <a:avLst/>
          </a:prstGeom>
          <a:noFill/>
          <a:ln/>
        </p:spPr>
        <p:txBody>
          <a:bodyPr wrap="square" lIns="0" tIns="0" rIns="0" bIns="0" rtlCol="0" anchor="ctr"/>
          <a:lstStyle/>
          <a:p>
            <a:pPr indent="0" marL="0">
              <a:buNone/>
            </a:pPr>
            <a:r>
              <a:rPr lang="en-US" sz="2200" i="1" dirty="0">
                <a:solidFill>
                  <a:srgbClr val="F4F6FA"/>
                </a:solidFill>
                <a:latin typeface="Cambria" pitchFamily="34" charset="0"/>
                <a:ea typeface="Cambria" pitchFamily="34" charset="-122"/>
                <a:cs typeface="Cambria" pitchFamily="34" charset="-120"/>
              </a:rPr>
              <a:t>“Implement numpy.random.choice equivalent.”</a:t>
            </a:r>
            <a:endParaRPr lang="en-US" sz="2200" dirty="0"/>
          </a:p>
        </p:txBody>
      </p:sp>
      <p:sp>
        <p:nvSpPr>
          <p:cNvPr id="8" name="Text 6"/>
          <p:cNvSpPr txBox="1"/>
          <p:nvPr/>
        </p:nvSpPr>
        <p:spPr>
          <a:xfrm>
            <a:off x="5733288" y="3310128"/>
            <a:ext cx="548640" cy="457200"/>
          </a:xfrm>
          <a:prstGeom prst="rect">
            <a:avLst/>
          </a:prstGeom>
          <a:noFill/>
          <a:ln/>
        </p:spPr>
        <p:txBody>
          <a:bodyPr wrap="square" lIns="0" tIns="0" rIns="0" bIns="0" rtlCol="0" anchor="ctr"/>
          <a:lstStyle/>
          <a:p>
            <a:pPr algn="ctr" indent="0" marL="0">
              <a:buNone/>
            </a:pPr>
            <a:r>
              <a:rPr lang="en-US" sz="2400" b="1" dirty="0">
                <a:solidFill>
                  <a:srgbClr val="C9A227"/>
                </a:solidFill>
                <a:latin typeface="Calibri" pitchFamily="34" charset="0"/>
                <a:ea typeface="Calibri" pitchFamily="34" charset="-122"/>
                <a:cs typeface="Calibri" pitchFamily="34" charset="-120"/>
              </a:rPr>
              <a:t>↓</a:t>
            </a:r>
            <a:endParaRPr lang="en-US" sz="2400" dirty="0"/>
          </a:p>
        </p:txBody>
      </p:sp>
      <p:sp>
        <p:nvSpPr>
          <p:cNvPr id="9" name="Shape 7"/>
          <p:cNvSpPr/>
          <p:nvPr/>
        </p:nvSpPr>
        <p:spPr>
          <a:xfrm>
            <a:off x="502920" y="3794760"/>
            <a:ext cx="11155680" cy="2331720"/>
          </a:xfrm>
          <a:prstGeom prst="roundRect">
            <a:avLst>
              <a:gd name="adj" fmla="val 3137"/>
            </a:avLst>
          </a:prstGeom>
          <a:solidFill>
            <a:srgbClr val="17223A"/>
          </a:solidFill>
          <a:ln w="12700">
            <a:solidFill>
              <a:srgbClr val="2B3B58"/>
            </a:solidFill>
            <a:prstDash val="solid"/>
          </a:ln>
          <a:effectLst>
            <a:outerShdw sx="100000" sy="100000" kx="0" ky="0" algn="bl" rotWithShape="0" blurRad="101600" dist="38100" dir="5400000">
              <a:srgbClr val="000000">
                <a:alpha val="35000"/>
              </a:srgbClr>
            </a:outerShdw>
          </a:effectLst>
        </p:spPr>
      </p:sp>
      <p:sp>
        <p:nvSpPr>
          <p:cNvPr id="10" name="Text 8"/>
          <p:cNvSpPr txBox="1"/>
          <p:nvPr/>
        </p:nvSpPr>
        <p:spPr>
          <a:xfrm>
            <a:off x="822960" y="3959352"/>
            <a:ext cx="5486400" cy="274320"/>
          </a:xfrm>
          <a:prstGeom prst="rect">
            <a:avLst/>
          </a:prstGeom>
          <a:noFill/>
          <a:ln/>
        </p:spPr>
        <p:txBody>
          <a:bodyPr wrap="square" lIns="0" tIns="0" rIns="0" bIns="0" rtlCol="0" anchor="ctr"/>
          <a:lstStyle/>
          <a:p>
            <a:pPr indent="0" marL="0">
              <a:buNone/>
            </a:pPr>
            <a:r>
              <a:rPr lang="en-US" sz="1100" b="1" spc="100" kern="0" dirty="0">
                <a:solidFill>
                  <a:srgbClr val="4FA8A0"/>
                </a:solidFill>
                <a:latin typeface="Calibri" pitchFamily="34" charset="0"/>
                <a:ea typeface="Calibri" pitchFamily="34" charset="-122"/>
                <a:cs typeface="Calibri" pitchFamily="34" charset="-120"/>
              </a:rPr>
              <a:t>GENERATED REQUIREMENT</a:t>
            </a:r>
            <a:endParaRPr lang="en-US" sz="1100" dirty="0"/>
          </a:p>
        </p:txBody>
      </p:sp>
      <p:sp>
        <p:nvSpPr>
          <p:cNvPr id="11" name="Text 9"/>
          <p:cNvSpPr txBox="1"/>
          <p:nvPr/>
        </p:nvSpPr>
        <p:spPr>
          <a:xfrm>
            <a:off x="822960" y="4251960"/>
            <a:ext cx="10515600" cy="1737360"/>
          </a:xfrm>
          <a:prstGeom prst="rect">
            <a:avLst/>
          </a:prstGeom>
          <a:noFill/>
          <a:ln/>
        </p:spPr>
        <p:txBody>
          <a:bodyPr wrap="square" lIns="0" tIns="0" rIns="0" bIns="0" rtlCol="0" anchor="t"/>
          <a:lstStyle/>
          <a:p>
            <a:pPr indent="0" marL="0">
              <a:buNone/>
            </a:pPr>
            <a:r>
              <a:rPr lang="en-US" sz="1550" dirty="0">
                <a:solidFill>
                  <a:srgbClr val="F4F6FA"/>
                </a:solidFill>
                <a:latin typeface="Calibri" pitchFamily="34" charset="0"/>
                <a:ea typeface="Calibri" pitchFamily="34" charset="-122"/>
                <a:cs typeface="Calibri" pitchFamily="34" charset="-120"/>
              </a:rPr>
              <a:t>“Implement a function in PyTorch’s random module that replicates the behavior of numpy.random.choice, supporting selection from a 1-D tensor or range of integers with options for sampling with or without replacement, probability weights, and multidimensional output.”</a:t>
            </a:r>
            <a:endParaRPr lang="en-US" sz="1550" dirty="0"/>
          </a:p>
        </p:txBody>
      </p:sp>
      <p:sp>
        <p:nvSpPr>
          <p:cNvPr id="12" name="Text 10"/>
          <p:cNvSpPr txBox="1"/>
          <p:nvPr/>
        </p:nvSpPr>
        <p:spPr>
          <a:xfrm>
            <a:off x="502920" y="6547104"/>
            <a:ext cx="7772400" cy="256032"/>
          </a:xfrm>
          <a:prstGeom prst="rect">
            <a:avLst/>
          </a:prstGeom>
          <a:noFill/>
          <a:ln/>
        </p:spPr>
        <p:txBody>
          <a:bodyPr wrap="square" lIns="0" tIns="0" rIns="0" bIns="0" rtlCol="0" anchor="ctr"/>
          <a:lstStyle/>
          <a:p>
            <a:pPr algn="l" indent="0" marL="0">
              <a:buNone/>
            </a:pPr>
            <a:r>
              <a:rPr lang="en-US" sz="900" dirty="0">
                <a:solidFill>
                  <a:srgbClr val="748199"/>
                </a:solidFill>
                <a:latin typeface="Calibri" pitchFamily="34" charset="0"/>
                <a:ea typeface="Calibri" pitchFamily="34" charset="-122"/>
                <a:cs typeface="Calibri" pitchFamily="34" charset="-120"/>
              </a:rPr>
              <a:t>Requirements Engineering (2026) 31:7  •  Paiva, Canedo &amp; Rocha Filho</a:t>
            </a:r>
            <a:endParaRPr lang="en-US" sz="900" dirty="0"/>
          </a:p>
        </p:txBody>
      </p:sp>
      <p:sp>
        <p:nvSpPr>
          <p:cNvPr id="13" name="Text 11"/>
          <p:cNvSpPr txBox="1"/>
          <p:nvPr/>
        </p:nvSpPr>
        <p:spPr>
          <a:xfrm>
            <a:off x="10972800" y="6547104"/>
            <a:ext cx="731520" cy="256032"/>
          </a:xfrm>
          <a:prstGeom prst="rect">
            <a:avLst/>
          </a:prstGeom>
          <a:noFill/>
          <a:ln/>
        </p:spPr>
        <p:txBody>
          <a:bodyPr wrap="square" lIns="0" tIns="0" rIns="0" bIns="0" rtlCol="0" anchor="ctr"/>
          <a:lstStyle/>
          <a:p>
            <a:pPr algn="r" indent="0" marL="0">
              <a:buNone/>
            </a:pPr>
            <a:r>
              <a:rPr lang="en-US" sz="900" dirty="0">
                <a:solidFill>
                  <a:srgbClr val="748199"/>
                </a:solidFill>
                <a:latin typeface="Calibri" pitchFamily="34" charset="0"/>
                <a:ea typeface="Calibri" pitchFamily="34" charset="-122"/>
                <a:cs typeface="Calibri" pitchFamily="34" charset="-120"/>
              </a:rPr>
              <a:t>10 / 20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321"/>
        </a:solidFill>
      </p:bgPr>
    </p:bg>
    <p:spTree>
      <p:nvGrpSpPr>
        <p:cNvPr id="1" name=""/>
        <p:cNvGrpSpPr/>
        <p:nvPr/>
      </p:nvGrpSpPr>
      <p:grpSpPr>
        <a:xfrm>
          <a:off x="0" y="0"/>
          <a:ext cx="0" cy="0"/>
          <a:chOff x="0" y="0"/>
          <a:chExt cx="0" cy="0"/>
        </a:xfrm>
      </p:grpSpPr>
      <p:sp>
        <p:nvSpPr>
          <p:cNvPr id="2" name="Shape 0"/>
          <p:cNvSpPr/>
          <p:nvPr/>
        </p:nvSpPr>
        <p:spPr>
          <a:xfrm>
            <a:off x="502920" y="457200"/>
            <a:ext cx="128016" cy="128016"/>
          </a:xfrm>
          <a:prstGeom prst="rect">
            <a:avLst/>
          </a:prstGeom>
          <a:solidFill>
            <a:srgbClr val="C9A227"/>
          </a:solidFill>
          <a:ln/>
        </p:spPr>
      </p:sp>
      <p:sp>
        <p:nvSpPr>
          <p:cNvPr id="3" name="Text 1"/>
          <p:cNvSpPr txBox="1"/>
          <p:nvPr/>
        </p:nvSpPr>
        <p:spPr>
          <a:xfrm>
            <a:off x="749808" y="347472"/>
            <a:ext cx="9144000" cy="292608"/>
          </a:xfrm>
          <a:prstGeom prst="rect">
            <a:avLst/>
          </a:prstGeom>
          <a:noFill/>
          <a:ln/>
        </p:spPr>
        <p:txBody>
          <a:bodyPr wrap="square" lIns="0" tIns="0" rIns="0" bIns="0" rtlCol="0" anchor="ctr"/>
          <a:lstStyle/>
          <a:p>
            <a:pPr indent="0" marL="0">
              <a:buNone/>
            </a:pPr>
            <a:r>
              <a:rPr lang="en-US" sz="1250" b="1" spc="200" kern="0" dirty="0">
                <a:solidFill>
                  <a:srgbClr val="C9A227"/>
                </a:solidFill>
                <a:latin typeface="Calibri" pitchFamily="34" charset="0"/>
                <a:ea typeface="Calibri" pitchFamily="34" charset="-122"/>
                <a:cs typeface="Calibri" pitchFamily="34" charset="-120"/>
              </a:rPr>
              <a:t>RESULTS</a:t>
            </a:r>
            <a:endParaRPr lang="en-US" sz="1250" dirty="0"/>
          </a:p>
        </p:txBody>
      </p:sp>
      <p:sp>
        <p:nvSpPr>
          <p:cNvPr id="4" name="Text 2"/>
          <p:cNvSpPr txBox="1"/>
          <p:nvPr/>
        </p:nvSpPr>
        <p:spPr>
          <a:xfrm>
            <a:off x="502920" y="658368"/>
            <a:ext cx="11155680" cy="685800"/>
          </a:xfrm>
          <a:prstGeom prst="rect">
            <a:avLst/>
          </a:prstGeom>
          <a:noFill/>
          <a:ln/>
        </p:spPr>
        <p:txBody>
          <a:bodyPr wrap="square" lIns="0" tIns="0" rIns="0" bIns="0" rtlCol="0" anchor="ctr"/>
          <a:lstStyle/>
          <a:p>
            <a:pPr indent="0" marL="0">
              <a:buNone/>
            </a:pPr>
            <a:r>
              <a:rPr lang="en-US" sz="3000" b="1" dirty="0">
                <a:solidFill>
                  <a:srgbClr val="F4F6FA"/>
                </a:solidFill>
                <a:latin typeface="Cambria" pitchFamily="34" charset="0"/>
                <a:ea typeface="Cambria" pitchFamily="34" charset="-122"/>
                <a:cs typeface="Cambria" pitchFamily="34" charset="-120"/>
              </a:rPr>
              <a:t>Overall Results (N = 900)</a:t>
            </a:r>
            <a:endParaRPr lang="en-US" sz="3000" dirty="0"/>
          </a:p>
        </p:txBody>
      </p:sp>
      <p:graphicFrame>
        <p:nvGraphicFramePr>
          <p:cNvPr id="5" name="Chart 0" descr=""/>
          <p:cNvGraphicFramePr/>
          <p:nvPr/>
        </p:nvGraphicFramePr>
        <p:xfrm>
          <a:off x="502920" y="1645920"/>
          <a:ext cx="6949440" cy="448056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7635240" y="1645920"/>
            <a:ext cx="4023360" cy="4480560"/>
          </a:xfrm>
          <a:prstGeom prst="roundRect">
            <a:avLst>
              <a:gd name="adj" fmla="val 1818"/>
            </a:avLst>
          </a:prstGeom>
          <a:solidFill>
            <a:srgbClr val="17223A"/>
          </a:solidFill>
          <a:ln w="12700">
            <a:solidFill>
              <a:srgbClr val="2B3B58"/>
            </a:solidFill>
            <a:prstDash val="solid"/>
          </a:ln>
          <a:effectLst>
            <a:outerShdw sx="100000" sy="100000" kx="0" ky="0" algn="bl" rotWithShape="0" blurRad="101600" dist="38100" dir="5400000">
              <a:srgbClr val="000000">
                <a:alpha val="35000"/>
              </a:srgbClr>
            </a:outerShdw>
          </a:effectLst>
        </p:spPr>
      </p:sp>
      <p:sp>
        <p:nvSpPr>
          <p:cNvPr id="7" name="Text 4"/>
          <p:cNvSpPr txBox="1"/>
          <p:nvPr/>
        </p:nvSpPr>
        <p:spPr>
          <a:xfrm>
            <a:off x="7909560" y="1828800"/>
            <a:ext cx="3474720" cy="274320"/>
          </a:xfrm>
          <a:prstGeom prst="rect">
            <a:avLst/>
          </a:prstGeom>
          <a:noFill/>
          <a:ln/>
        </p:spPr>
        <p:txBody>
          <a:bodyPr wrap="square" lIns="0" tIns="0" rIns="0" bIns="0" rtlCol="0" anchor="ctr"/>
          <a:lstStyle/>
          <a:p>
            <a:pPr indent="0" marL="0">
              <a:buNone/>
            </a:pPr>
            <a:r>
              <a:rPr lang="en-US" sz="1100" b="1" spc="150" kern="0" dirty="0">
                <a:solidFill>
                  <a:srgbClr val="C9A227"/>
                </a:solidFill>
                <a:latin typeface="Calibri" pitchFamily="34" charset="0"/>
                <a:ea typeface="Calibri" pitchFamily="34" charset="-122"/>
                <a:cs typeface="Calibri" pitchFamily="34" charset="-120"/>
              </a:rPr>
              <a:t>KEY STATISTICS</a:t>
            </a:r>
            <a:endParaRPr lang="en-US" sz="1100" dirty="0"/>
          </a:p>
        </p:txBody>
      </p:sp>
      <p:sp>
        <p:nvSpPr>
          <p:cNvPr id="8" name="Text 5"/>
          <p:cNvSpPr txBox="1"/>
          <p:nvPr/>
        </p:nvSpPr>
        <p:spPr>
          <a:xfrm>
            <a:off x="7909560" y="2148840"/>
            <a:ext cx="3474720" cy="256032"/>
          </a:xfrm>
          <a:prstGeom prst="rect">
            <a:avLst/>
          </a:prstGeom>
          <a:noFill/>
          <a:ln/>
        </p:spPr>
        <p:txBody>
          <a:bodyPr wrap="square" lIns="0" tIns="0" rIns="0" bIns="0" rtlCol="0" anchor="ctr"/>
          <a:lstStyle/>
          <a:p>
            <a:pPr indent="0" marL="0">
              <a:buNone/>
            </a:pPr>
            <a:r>
              <a:rPr lang="en-US" sz="1250" b="1" dirty="0">
                <a:solidFill>
                  <a:srgbClr val="F4F6FA"/>
                </a:solidFill>
                <a:latin typeface="Calibri" pitchFamily="34" charset="0"/>
                <a:ea typeface="Calibri" pitchFamily="34" charset="-122"/>
                <a:cs typeface="Calibri" pitchFamily="34" charset="-120"/>
              </a:rPr>
              <a:t>Mean scores</a:t>
            </a:r>
            <a:endParaRPr lang="en-US" sz="1250" dirty="0"/>
          </a:p>
        </p:txBody>
      </p:sp>
      <p:sp>
        <p:nvSpPr>
          <p:cNvPr id="9" name="Text 6"/>
          <p:cNvSpPr txBox="1"/>
          <p:nvPr/>
        </p:nvSpPr>
        <p:spPr>
          <a:xfrm>
            <a:off x="7909560" y="2414016"/>
            <a:ext cx="3474720" cy="274320"/>
          </a:xfrm>
          <a:prstGeom prst="rect">
            <a:avLst/>
          </a:prstGeom>
          <a:noFill/>
          <a:ln/>
        </p:spPr>
        <p:txBody>
          <a:bodyPr wrap="square" lIns="0" tIns="0" rIns="0" bIns="0" rtlCol="0" anchor="ctr"/>
          <a:lstStyle/>
          <a:p>
            <a:pPr indent="0" marL="0">
              <a:buNone/>
            </a:pPr>
            <a:r>
              <a:rPr lang="en-US" sz="1150" dirty="0">
                <a:solidFill>
                  <a:srgbClr val="9FB0C7"/>
                </a:solidFill>
                <a:latin typeface="Calibri" pitchFamily="34" charset="0"/>
                <a:ea typeface="Calibri" pitchFamily="34" charset="-122"/>
                <a:cs typeface="Calibri" pitchFamily="34" charset="-120"/>
              </a:rPr>
              <a:t>all exceed 4.25 / 5</a:t>
            </a:r>
            <a:endParaRPr lang="en-US" sz="1150" dirty="0"/>
          </a:p>
        </p:txBody>
      </p:sp>
      <p:sp>
        <p:nvSpPr>
          <p:cNvPr id="10" name="Text 7"/>
          <p:cNvSpPr txBox="1"/>
          <p:nvPr/>
        </p:nvSpPr>
        <p:spPr>
          <a:xfrm>
            <a:off x="7909560" y="2770632"/>
            <a:ext cx="3474720" cy="256032"/>
          </a:xfrm>
          <a:prstGeom prst="rect">
            <a:avLst/>
          </a:prstGeom>
          <a:noFill/>
          <a:ln/>
        </p:spPr>
        <p:txBody>
          <a:bodyPr wrap="square" lIns="0" tIns="0" rIns="0" bIns="0" rtlCol="0" anchor="ctr"/>
          <a:lstStyle/>
          <a:p>
            <a:pPr indent="0" marL="0">
              <a:buNone/>
            </a:pPr>
            <a:r>
              <a:rPr lang="en-US" sz="1250" b="1" dirty="0">
                <a:solidFill>
                  <a:srgbClr val="F4F6FA"/>
                </a:solidFill>
                <a:latin typeface="Calibri" pitchFamily="34" charset="0"/>
                <a:ea typeface="Calibri" pitchFamily="34" charset="-122"/>
                <a:cs typeface="Calibri" pitchFamily="34" charset="-120"/>
              </a:rPr>
              <a:t>Median scores</a:t>
            </a:r>
            <a:endParaRPr lang="en-US" sz="1250" dirty="0"/>
          </a:p>
        </p:txBody>
      </p:sp>
      <p:sp>
        <p:nvSpPr>
          <p:cNvPr id="11" name="Text 8"/>
          <p:cNvSpPr txBox="1"/>
          <p:nvPr/>
        </p:nvSpPr>
        <p:spPr>
          <a:xfrm>
            <a:off x="7909560" y="3035808"/>
            <a:ext cx="3474720" cy="274320"/>
          </a:xfrm>
          <a:prstGeom prst="rect">
            <a:avLst/>
          </a:prstGeom>
          <a:noFill/>
          <a:ln/>
        </p:spPr>
        <p:txBody>
          <a:bodyPr wrap="square" lIns="0" tIns="0" rIns="0" bIns="0" rtlCol="0" anchor="ctr"/>
          <a:lstStyle/>
          <a:p>
            <a:pPr indent="0" marL="0">
              <a:buNone/>
            </a:pPr>
            <a:r>
              <a:rPr lang="en-US" sz="1150" dirty="0">
                <a:solidFill>
                  <a:srgbClr val="9FB0C7"/>
                </a:solidFill>
                <a:latin typeface="Calibri" pitchFamily="34" charset="0"/>
                <a:ea typeface="Calibri" pitchFamily="34" charset="-122"/>
                <a:cs typeface="Calibri" pitchFamily="34" charset="-120"/>
              </a:rPr>
              <a:t>4 or 5 across all metrics</a:t>
            </a:r>
            <a:endParaRPr lang="en-US" sz="1150" dirty="0"/>
          </a:p>
        </p:txBody>
      </p:sp>
      <p:sp>
        <p:nvSpPr>
          <p:cNvPr id="12" name="Text 9"/>
          <p:cNvSpPr txBox="1"/>
          <p:nvPr/>
        </p:nvSpPr>
        <p:spPr>
          <a:xfrm>
            <a:off x="7909560" y="3392424"/>
            <a:ext cx="3474720" cy="256032"/>
          </a:xfrm>
          <a:prstGeom prst="rect">
            <a:avLst/>
          </a:prstGeom>
          <a:noFill/>
          <a:ln/>
        </p:spPr>
        <p:txBody>
          <a:bodyPr wrap="square" lIns="0" tIns="0" rIns="0" bIns="0" rtlCol="0" anchor="ctr"/>
          <a:lstStyle/>
          <a:p>
            <a:pPr indent="0" marL="0">
              <a:buNone/>
            </a:pPr>
            <a:r>
              <a:rPr lang="en-US" sz="1250" b="1" dirty="0">
                <a:solidFill>
                  <a:srgbClr val="F4F6FA"/>
                </a:solidFill>
                <a:latin typeface="Calibri" pitchFamily="34" charset="0"/>
                <a:ea typeface="Calibri" pitchFamily="34" charset="-122"/>
                <a:cs typeface="Calibri" pitchFamily="34" charset="-120"/>
              </a:rPr>
              <a:t>Singularity SD</a:t>
            </a:r>
            <a:endParaRPr lang="en-US" sz="1250" dirty="0"/>
          </a:p>
        </p:txBody>
      </p:sp>
      <p:sp>
        <p:nvSpPr>
          <p:cNvPr id="13" name="Text 10"/>
          <p:cNvSpPr txBox="1"/>
          <p:nvPr/>
        </p:nvSpPr>
        <p:spPr>
          <a:xfrm>
            <a:off x="7909560" y="3657600"/>
            <a:ext cx="3474720" cy="274320"/>
          </a:xfrm>
          <a:prstGeom prst="rect">
            <a:avLst/>
          </a:prstGeom>
          <a:noFill/>
          <a:ln/>
        </p:spPr>
        <p:txBody>
          <a:bodyPr wrap="square" lIns="0" tIns="0" rIns="0" bIns="0" rtlCol="0" anchor="ctr"/>
          <a:lstStyle/>
          <a:p>
            <a:pPr indent="0" marL="0">
              <a:buNone/>
            </a:pPr>
            <a:r>
              <a:rPr lang="en-US" sz="1150" dirty="0">
                <a:solidFill>
                  <a:srgbClr val="9FB0C7"/>
                </a:solidFill>
                <a:latin typeface="Calibri" pitchFamily="34" charset="0"/>
                <a:ea typeface="Calibri" pitchFamily="34" charset="-122"/>
                <a:cs typeface="Calibri" pitchFamily="34" charset="-120"/>
              </a:rPr>
              <a:t>1.15 — largest spread</a:t>
            </a:r>
            <a:endParaRPr lang="en-US" sz="1150" dirty="0"/>
          </a:p>
        </p:txBody>
      </p:sp>
      <p:sp>
        <p:nvSpPr>
          <p:cNvPr id="14" name="Text 11"/>
          <p:cNvSpPr txBox="1"/>
          <p:nvPr/>
        </p:nvSpPr>
        <p:spPr>
          <a:xfrm>
            <a:off x="7909560" y="4014216"/>
            <a:ext cx="3474720" cy="256032"/>
          </a:xfrm>
          <a:prstGeom prst="rect">
            <a:avLst/>
          </a:prstGeom>
          <a:noFill/>
          <a:ln/>
        </p:spPr>
        <p:txBody>
          <a:bodyPr wrap="square" lIns="0" tIns="0" rIns="0" bIns="0" rtlCol="0" anchor="ctr"/>
          <a:lstStyle/>
          <a:p>
            <a:pPr indent="0" marL="0">
              <a:buNone/>
            </a:pPr>
            <a:r>
              <a:rPr lang="en-US" sz="1250" b="1" dirty="0">
                <a:solidFill>
                  <a:srgbClr val="F4F6FA"/>
                </a:solidFill>
                <a:latin typeface="Calibri" pitchFamily="34" charset="0"/>
                <a:ea typeface="Calibri" pitchFamily="34" charset="-122"/>
                <a:cs typeface="Calibri" pitchFamily="34" charset="-120"/>
              </a:rPr>
              <a:t>Score range</a:t>
            </a:r>
            <a:endParaRPr lang="en-US" sz="1250" dirty="0"/>
          </a:p>
        </p:txBody>
      </p:sp>
      <p:sp>
        <p:nvSpPr>
          <p:cNvPr id="15" name="Text 12"/>
          <p:cNvSpPr txBox="1"/>
          <p:nvPr/>
        </p:nvSpPr>
        <p:spPr>
          <a:xfrm>
            <a:off x="7909560" y="4279392"/>
            <a:ext cx="3474720" cy="274320"/>
          </a:xfrm>
          <a:prstGeom prst="rect">
            <a:avLst/>
          </a:prstGeom>
          <a:noFill/>
          <a:ln/>
        </p:spPr>
        <p:txBody>
          <a:bodyPr wrap="square" lIns="0" tIns="0" rIns="0" bIns="0" rtlCol="0" anchor="ctr"/>
          <a:lstStyle/>
          <a:p>
            <a:pPr indent="0" marL="0">
              <a:buNone/>
            </a:pPr>
            <a:r>
              <a:rPr lang="en-US" sz="1150" dirty="0">
                <a:solidFill>
                  <a:srgbClr val="9FB0C7"/>
                </a:solidFill>
                <a:latin typeface="Calibri" pitchFamily="34" charset="0"/>
                <a:ea typeface="Calibri" pitchFamily="34" charset="-122"/>
                <a:cs typeface="Calibri" pitchFamily="34" charset="-120"/>
              </a:rPr>
              <a:t>1–5 for all attributes</a:t>
            </a:r>
            <a:endParaRPr lang="en-US" sz="1150" dirty="0"/>
          </a:p>
        </p:txBody>
      </p:sp>
      <p:sp>
        <p:nvSpPr>
          <p:cNvPr id="16" name="Shape 13"/>
          <p:cNvSpPr/>
          <p:nvPr/>
        </p:nvSpPr>
        <p:spPr>
          <a:xfrm>
            <a:off x="7909560" y="4663440"/>
            <a:ext cx="3474720" cy="0"/>
          </a:xfrm>
          <a:prstGeom prst="line">
            <a:avLst/>
          </a:prstGeom>
          <a:noFill/>
          <a:ln w="12700">
            <a:solidFill>
              <a:srgbClr val="2B3B58"/>
            </a:solidFill>
            <a:prstDash val="solid"/>
          </a:ln>
        </p:spPr>
      </p:sp>
      <p:sp>
        <p:nvSpPr>
          <p:cNvPr id="17" name="Text 14"/>
          <p:cNvSpPr txBox="1"/>
          <p:nvPr/>
        </p:nvSpPr>
        <p:spPr>
          <a:xfrm>
            <a:off x="7909560" y="4818888"/>
            <a:ext cx="3474720" cy="1005840"/>
          </a:xfrm>
          <a:prstGeom prst="rect">
            <a:avLst/>
          </a:prstGeom>
          <a:noFill/>
          <a:ln/>
        </p:spPr>
        <p:txBody>
          <a:bodyPr wrap="square" lIns="0" tIns="0" rIns="0" bIns="0" rtlCol="0" anchor="ctr"/>
          <a:lstStyle/>
          <a:p>
            <a:pPr indent="0" marL="0">
              <a:buNone/>
            </a:pPr>
            <a:r>
              <a:rPr lang="en-US" sz="1150" i="1" dirty="0">
                <a:solidFill>
                  <a:srgbClr val="9FB0C7"/>
                </a:solidFill>
                <a:latin typeface="Calibri" pitchFamily="34" charset="0"/>
                <a:ea typeface="Calibri" pitchFamily="34" charset="-122"/>
                <a:cs typeface="Calibri" pitchFamily="34" charset="-120"/>
              </a:rPr>
              <a:t>A non-trivial tail of low scores remains, especially for Verifiability and Singularity — quality is favorable but not guaranteed.</a:t>
            </a:r>
            <a:endParaRPr lang="en-US" sz="1150" dirty="0"/>
          </a:p>
        </p:txBody>
      </p:sp>
      <p:sp>
        <p:nvSpPr>
          <p:cNvPr id="18" name="Text 15"/>
          <p:cNvSpPr txBox="1"/>
          <p:nvPr/>
        </p:nvSpPr>
        <p:spPr>
          <a:xfrm>
            <a:off x="502920" y="6547104"/>
            <a:ext cx="7772400" cy="256032"/>
          </a:xfrm>
          <a:prstGeom prst="rect">
            <a:avLst/>
          </a:prstGeom>
          <a:noFill/>
          <a:ln/>
        </p:spPr>
        <p:txBody>
          <a:bodyPr wrap="square" lIns="0" tIns="0" rIns="0" bIns="0" rtlCol="0" anchor="ctr"/>
          <a:lstStyle/>
          <a:p>
            <a:pPr algn="l" indent="0" marL="0">
              <a:buNone/>
            </a:pPr>
            <a:r>
              <a:rPr lang="en-US" sz="900" dirty="0">
                <a:solidFill>
                  <a:srgbClr val="748199"/>
                </a:solidFill>
                <a:latin typeface="Calibri" pitchFamily="34" charset="0"/>
                <a:ea typeface="Calibri" pitchFamily="34" charset="-122"/>
                <a:cs typeface="Calibri" pitchFamily="34" charset="-120"/>
              </a:rPr>
              <a:t>Requirements Engineering (2026) 31:7  •  Paiva, Canedo &amp; Rocha Filho</a:t>
            </a:r>
            <a:endParaRPr lang="en-US" sz="900" dirty="0"/>
          </a:p>
        </p:txBody>
      </p:sp>
      <p:sp>
        <p:nvSpPr>
          <p:cNvPr id="19" name="Text 16"/>
          <p:cNvSpPr txBox="1"/>
          <p:nvPr/>
        </p:nvSpPr>
        <p:spPr>
          <a:xfrm>
            <a:off x="10972800" y="6547104"/>
            <a:ext cx="731520" cy="256032"/>
          </a:xfrm>
          <a:prstGeom prst="rect">
            <a:avLst/>
          </a:prstGeom>
          <a:noFill/>
          <a:ln/>
        </p:spPr>
        <p:txBody>
          <a:bodyPr wrap="square" lIns="0" tIns="0" rIns="0" bIns="0" rtlCol="0" anchor="ctr"/>
          <a:lstStyle/>
          <a:p>
            <a:pPr algn="r" indent="0" marL="0">
              <a:buNone/>
            </a:pPr>
            <a:r>
              <a:rPr lang="en-US" sz="900" dirty="0">
                <a:solidFill>
                  <a:srgbClr val="748199"/>
                </a:solidFill>
                <a:latin typeface="Calibri" pitchFamily="34" charset="0"/>
                <a:ea typeface="Calibri" pitchFamily="34" charset="-122"/>
                <a:cs typeface="Calibri" pitchFamily="34" charset="-120"/>
              </a:rPr>
              <a:t>11 / 20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321"/>
        </a:solidFill>
      </p:bgPr>
    </p:bg>
    <p:spTree>
      <p:nvGrpSpPr>
        <p:cNvPr id="1" name=""/>
        <p:cNvGrpSpPr/>
        <p:nvPr/>
      </p:nvGrpSpPr>
      <p:grpSpPr>
        <a:xfrm>
          <a:off x="0" y="0"/>
          <a:ext cx="0" cy="0"/>
          <a:chOff x="0" y="0"/>
          <a:chExt cx="0" cy="0"/>
        </a:xfrm>
      </p:grpSpPr>
      <p:sp>
        <p:nvSpPr>
          <p:cNvPr id="2" name="Shape 0"/>
          <p:cNvSpPr/>
          <p:nvPr/>
        </p:nvSpPr>
        <p:spPr>
          <a:xfrm>
            <a:off x="502920" y="457200"/>
            <a:ext cx="128016" cy="128016"/>
          </a:xfrm>
          <a:prstGeom prst="rect">
            <a:avLst/>
          </a:prstGeom>
          <a:solidFill>
            <a:srgbClr val="C9A227"/>
          </a:solidFill>
          <a:ln/>
        </p:spPr>
      </p:sp>
      <p:sp>
        <p:nvSpPr>
          <p:cNvPr id="3" name="Text 1"/>
          <p:cNvSpPr txBox="1"/>
          <p:nvPr/>
        </p:nvSpPr>
        <p:spPr>
          <a:xfrm>
            <a:off x="749808" y="347472"/>
            <a:ext cx="9144000" cy="292608"/>
          </a:xfrm>
          <a:prstGeom prst="rect">
            <a:avLst/>
          </a:prstGeom>
          <a:noFill/>
          <a:ln/>
        </p:spPr>
        <p:txBody>
          <a:bodyPr wrap="square" lIns="0" tIns="0" rIns="0" bIns="0" rtlCol="0" anchor="ctr"/>
          <a:lstStyle/>
          <a:p>
            <a:pPr indent="0" marL="0">
              <a:buNone/>
            </a:pPr>
            <a:r>
              <a:rPr lang="en-US" sz="1250" b="1" spc="200" kern="0" dirty="0">
                <a:solidFill>
                  <a:srgbClr val="C9A227"/>
                </a:solidFill>
                <a:latin typeface="Calibri" pitchFamily="34" charset="0"/>
                <a:ea typeface="Calibri" pitchFamily="34" charset="-122"/>
                <a:cs typeface="Calibri" pitchFamily="34" charset="-120"/>
              </a:rPr>
              <a:t>RQ1 · LLM EFFECTIVENESS</a:t>
            </a:r>
            <a:endParaRPr lang="en-US" sz="1250" dirty="0"/>
          </a:p>
        </p:txBody>
      </p:sp>
      <p:sp>
        <p:nvSpPr>
          <p:cNvPr id="4" name="Text 2"/>
          <p:cNvSpPr txBox="1"/>
          <p:nvPr/>
        </p:nvSpPr>
        <p:spPr>
          <a:xfrm>
            <a:off x="502920" y="658368"/>
            <a:ext cx="11155680" cy="685800"/>
          </a:xfrm>
          <a:prstGeom prst="rect">
            <a:avLst/>
          </a:prstGeom>
          <a:noFill/>
          <a:ln/>
        </p:spPr>
        <p:txBody>
          <a:bodyPr wrap="square" lIns="0" tIns="0" rIns="0" bIns="0" rtlCol="0" anchor="ctr"/>
          <a:lstStyle/>
          <a:p>
            <a:pPr indent="0" marL="0">
              <a:buNone/>
            </a:pPr>
            <a:r>
              <a:rPr lang="en-US" sz="3000" b="1" dirty="0">
                <a:solidFill>
                  <a:srgbClr val="F4F6FA"/>
                </a:solidFill>
                <a:latin typeface="Cambria" pitchFamily="34" charset="0"/>
                <a:ea typeface="Cambria" pitchFamily="34" charset="-122"/>
                <a:cs typeface="Cambria" pitchFamily="34" charset="-120"/>
              </a:rPr>
              <a:t>o3-mini vs. DeepSeek R1</a:t>
            </a:r>
            <a:endParaRPr lang="en-US" sz="3000" dirty="0"/>
          </a:p>
        </p:txBody>
      </p:sp>
      <p:graphicFrame>
        <p:nvGraphicFramePr>
          <p:cNvPr id="5" name="Chart 0" descr=""/>
          <p:cNvGraphicFramePr/>
          <p:nvPr/>
        </p:nvGraphicFramePr>
        <p:xfrm>
          <a:off x="502920" y="1645920"/>
          <a:ext cx="7223760" cy="434340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7955280" y="1645920"/>
            <a:ext cx="3703320" cy="4343400"/>
          </a:xfrm>
          <a:prstGeom prst="roundRect">
            <a:avLst>
              <a:gd name="adj" fmla="val 1975"/>
            </a:avLst>
          </a:prstGeom>
          <a:solidFill>
            <a:srgbClr val="17223A"/>
          </a:solidFill>
          <a:ln w="12700">
            <a:solidFill>
              <a:srgbClr val="2B3B58"/>
            </a:solidFill>
            <a:prstDash val="solid"/>
          </a:ln>
          <a:effectLst>
            <a:outerShdw sx="100000" sy="100000" kx="0" ky="0" algn="bl" rotWithShape="0" blurRad="101600" dist="38100" dir="5400000">
              <a:srgbClr val="000000">
                <a:alpha val="35000"/>
              </a:srgbClr>
            </a:outerShdw>
          </a:effectLst>
        </p:spPr>
      </p:sp>
      <p:sp>
        <p:nvSpPr>
          <p:cNvPr id="7" name="Text 4"/>
          <p:cNvSpPr txBox="1"/>
          <p:nvPr/>
        </p:nvSpPr>
        <p:spPr>
          <a:xfrm>
            <a:off x="8229600" y="1828800"/>
            <a:ext cx="3200400" cy="274320"/>
          </a:xfrm>
          <a:prstGeom prst="rect">
            <a:avLst/>
          </a:prstGeom>
          <a:noFill/>
          <a:ln/>
        </p:spPr>
        <p:txBody>
          <a:bodyPr wrap="square" lIns="0" tIns="0" rIns="0" bIns="0" rtlCol="0" anchor="ctr"/>
          <a:lstStyle/>
          <a:p>
            <a:pPr indent="0" marL="0">
              <a:buNone/>
            </a:pPr>
            <a:r>
              <a:rPr lang="en-US" sz="1100" b="1" spc="150" kern="0" dirty="0">
                <a:solidFill>
                  <a:srgbClr val="C9A227"/>
                </a:solidFill>
                <a:latin typeface="Calibri" pitchFamily="34" charset="0"/>
                <a:ea typeface="Calibri" pitchFamily="34" charset="-122"/>
                <a:cs typeface="Calibri" pitchFamily="34" charset="-120"/>
              </a:rPr>
              <a:t>MANN–WHITNEY U</a:t>
            </a:r>
            <a:endParaRPr lang="en-US" sz="1100" dirty="0"/>
          </a:p>
        </p:txBody>
      </p:sp>
      <p:sp>
        <p:nvSpPr>
          <p:cNvPr id="8" name="Text 5"/>
          <p:cNvSpPr txBox="1"/>
          <p:nvPr/>
        </p:nvSpPr>
        <p:spPr>
          <a:xfrm>
            <a:off x="8229600" y="2148840"/>
            <a:ext cx="3200400" cy="2286000"/>
          </a:xfrm>
          <a:prstGeom prst="rect">
            <a:avLst/>
          </a:prstGeom>
          <a:noFill/>
          <a:ln/>
        </p:spPr>
        <p:txBody>
          <a:bodyPr wrap="square" lIns="0" tIns="0" rIns="0" bIns="0" rtlCol="0" anchor="t"/>
          <a:lstStyle/>
          <a:p>
            <a:pPr indent="0" marL="0">
              <a:buNone/>
            </a:pPr>
            <a:r>
              <a:rPr lang="en-US" sz="1300" b="1" dirty="0">
                <a:solidFill>
                  <a:srgbClr val="F4F6FA"/>
                </a:solidFill>
                <a:latin typeface="Calibri" pitchFamily="34" charset="0"/>
                <a:ea typeface="Calibri" pitchFamily="34" charset="-122"/>
                <a:cs typeface="Calibri" pitchFamily="34" charset="-120"/>
              </a:rPr>
              <a:t>Singularity — significant</a:t>
            </a:r>
            <a:endParaRPr lang="en-US" sz="1300" dirty="0"/>
          </a:p>
          <a:p>
            <a:pPr indent="0" marL="0">
              <a:spcAft>
                <a:spcPts val="1200"/>
              </a:spcAft>
              <a:buNone/>
            </a:pPr>
            <a:r>
              <a:rPr lang="en-US" sz="1150" dirty="0">
                <a:solidFill>
                  <a:srgbClr val="9FB0C7"/>
                </a:solidFill>
                <a:latin typeface="Calibri" pitchFamily="34" charset="0"/>
                <a:ea typeface="Calibri" pitchFamily="34" charset="-122"/>
                <a:cs typeface="Calibri" pitchFamily="34" charset="-120"/>
              </a:rPr>
              <a:t>U = 108009.5, p = 0.023. o3-mini shows a modest edge.</a:t>
            </a:r>
            <a:endParaRPr lang="en-US" sz="1300" dirty="0"/>
          </a:p>
          <a:p>
            <a:pPr indent="0" marL="0">
              <a:buNone/>
            </a:pPr>
            <a:r>
              <a:rPr lang="en-US" sz="1300" b="1" dirty="0">
                <a:solidFill>
                  <a:srgbClr val="F4F6FA"/>
                </a:solidFill>
                <a:latin typeface="Calibri" pitchFamily="34" charset="0"/>
                <a:ea typeface="Calibri" pitchFamily="34" charset="-122"/>
                <a:cs typeface="Calibri" pitchFamily="34" charset="-120"/>
              </a:rPr>
              <a:t>Unambiguity — n.s.</a:t>
            </a:r>
            <a:endParaRPr lang="en-US" sz="1300" dirty="0"/>
          </a:p>
          <a:p>
            <a:pPr indent="0" marL="0">
              <a:spcAft>
                <a:spcPts val="1200"/>
              </a:spcAft>
              <a:buNone/>
            </a:pPr>
            <a:r>
              <a:rPr lang="en-US" sz="1150" dirty="0">
                <a:solidFill>
                  <a:srgbClr val="9FB0C7"/>
                </a:solidFill>
                <a:latin typeface="Calibri" pitchFamily="34" charset="0"/>
                <a:ea typeface="Calibri" pitchFamily="34" charset="-122"/>
                <a:cs typeface="Calibri" pitchFamily="34" charset="-120"/>
              </a:rPr>
              <a:t>p = 0.967</a:t>
            </a:r>
            <a:endParaRPr lang="en-US" sz="1300" dirty="0"/>
          </a:p>
          <a:p>
            <a:pPr indent="0" marL="0">
              <a:buNone/>
            </a:pPr>
            <a:r>
              <a:rPr lang="en-US" sz="1300" b="1" dirty="0">
                <a:solidFill>
                  <a:srgbClr val="F4F6FA"/>
                </a:solidFill>
                <a:latin typeface="Calibri" pitchFamily="34" charset="0"/>
                <a:ea typeface="Calibri" pitchFamily="34" charset="-122"/>
                <a:cs typeface="Calibri" pitchFamily="34" charset="-120"/>
              </a:rPr>
              <a:t>Verifiability — n.s.</a:t>
            </a:r>
            <a:endParaRPr lang="en-US" sz="1300" dirty="0"/>
          </a:p>
          <a:p>
            <a:pPr indent="0" marL="0">
              <a:buNone/>
            </a:pPr>
            <a:r>
              <a:rPr lang="en-US" sz="1150" dirty="0">
                <a:solidFill>
                  <a:srgbClr val="9FB0C7"/>
                </a:solidFill>
                <a:latin typeface="Calibri" pitchFamily="34" charset="0"/>
                <a:ea typeface="Calibri" pitchFamily="34" charset="-122"/>
                <a:cs typeface="Calibri" pitchFamily="34" charset="-120"/>
              </a:rPr>
              <a:t>p = 0.156</a:t>
            </a:r>
            <a:endParaRPr lang="en-US" sz="1300" dirty="0"/>
          </a:p>
        </p:txBody>
      </p:sp>
      <p:sp>
        <p:nvSpPr>
          <p:cNvPr id="9" name="Shape 6"/>
          <p:cNvSpPr/>
          <p:nvPr/>
        </p:nvSpPr>
        <p:spPr>
          <a:xfrm>
            <a:off x="8229600" y="4526280"/>
            <a:ext cx="3200400" cy="0"/>
          </a:xfrm>
          <a:prstGeom prst="line">
            <a:avLst/>
          </a:prstGeom>
          <a:noFill/>
          <a:ln w="12700">
            <a:solidFill>
              <a:srgbClr val="2B3B58"/>
            </a:solidFill>
            <a:prstDash val="solid"/>
          </a:ln>
        </p:spPr>
      </p:sp>
      <p:sp>
        <p:nvSpPr>
          <p:cNvPr id="10" name="Text 7"/>
          <p:cNvSpPr txBox="1"/>
          <p:nvPr/>
        </p:nvSpPr>
        <p:spPr>
          <a:xfrm>
            <a:off x="8229600" y="4709160"/>
            <a:ext cx="3200400" cy="1188720"/>
          </a:xfrm>
          <a:prstGeom prst="rect">
            <a:avLst/>
          </a:prstGeom>
          <a:noFill/>
          <a:ln/>
        </p:spPr>
        <p:txBody>
          <a:bodyPr wrap="square" lIns="0" tIns="0" rIns="0" bIns="0" rtlCol="0" anchor="ctr"/>
          <a:lstStyle/>
          <a:p>
            <a:pPr indent="0" marL="0">
              <a:buNone/>
            </a:pPr>
            <a:r>
              <a:rPr lang="en-US" sz="1150" i="1" dirty="0">
                <a:solidFill>
                  <a:srgbClr val="9FB0C7"/>
                </a:solidFill>
                <a:latin typeface="Calibri" pitchFamily="34" charset="0"/>
                <a:ea typeface="Calibri" pitchFamily="34" charset="-122"/>
                <a:cs typeface="Calibri" pitchFamily="34" charset="-120"/>
              </a:rPr>
              <a:t>Both models perform comparably overall; substantial SDs suggest input quality and prompting strategy matter as much as model choice.</a:t>
            </a:r>
            <a:endParaRPr lang="en-US" sz="1150" dirty="0"/>
          </a:p>
        </p:txBody>
      </p:sp>
      <p:sp>
        <p:nvSpPr>
          <p:cNvPr id="11" name="Text 8"/>
          <p:cNvSpPr txBox="1"/>
          <p:nvPr/>
        </p:nvSpPr>
        <p:spPr>
          <a:xfrm>
            <a:off x="502920" y="6547104"/>
            <a:ext cx="7772400" cy="256032"/>
          </a:xfrm>
          <a:prstGeom prst="rect">
            <a:avLst/>
          </a:prstGeom>
          <a:noFill/>
          <a:ln/>
        </p:spPr>
        <p:txBody>
          <a:bodyPr wrap="square" lIns="0" tIns="0" rIns="0" bIns="0" rtlCol="0" anchor="ctr"/>
          <a:lstStyle/>
          <a:p>
            <a:pPr algn="l" indent="0" marL="0">
              <a:buNone/>
            </a:pPr>
            <a:r>
              <a:rPr lang="en-US" sz="900" dirty="0">
                <a:solidFill>
                  <a:srgbClr val="748199"/>
                </a:solidFill>
                <a:latin typeface="Calibri" pitchFamily="34" charset="0"/>
                <a:ea typeface="Calibri" pitchFamily="34" charset="-122"/>
                <a:cs typeface="Calibri" pitchFamily="34" charset="-120"/>
              </a:rPr>
              <a:t>Requirements Engineering (2026) 31:7  •  Paiva, Canedo &amp; Rocha Filho</a:t>
            </a:r>
            <a:endParaRPr lang="en-US" sz="900" dirty="0"/>
          </a:p>
        </p:txBody>
      </p:sp>
      <p:sp>
        <p:nvSpPr>
          <p:cNvPr id="12" name="Text 9"/>
          <p:cNvSpPr txBox="1"/>
          <p:nvPr/>
        </p:nvSpPr>
        <p:spPr>
          <a:xfrm>
            <a:off x="10972800" y="6547104"/>
            <a:ext cx="731520" cy="256032"/>
          </a:xfrm>
          <a:prstGeom prst="rect">
            <a:avLst/>
          </a:prstGeom>
          <a:noFill/>
          <a:ln/>
        </p:spPr>
        <p:txBody>
          <a:bodyPr wrap="square" lIns="0" tIns="0" rIns="0" bIns="0" rtlCol="0" anchor="ctr"/>
          <a:lstStyle/>
          <a:p>
            <a:pPr algn="r" indent="0" marL="0">
              <a:buNone/>
            </a:pPr>
            <a:r>
              <a:rPr lang="en-US" sz="900" dirty="0">
                <a:solidFill>
                  <a:srgbClr val="748199"/>
                </a:solidFill>
                <a:latin typeface="Calibri" pitchFamily="34" charset="0"/>
                <a:ea typeface="Calibri" pitchFamily="34" charset="-122"/>
                <a:cs typeface="Calibri" pitchFamily="34" charset="-120"/>
              </a:rPr>
              <a:t>12 / 20</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321"/>
        </a:solidFill>
      </p:bgPr>
    </p:bg>
    <p:spTree>
      <p:nvGrpSpPr>
        <p:cNvPr id="1" name=""/>
        <p:cNvGrpSpPr/>
        <p:nvPr/>
      </p:nvGrpSpPr>
      <p:grpSpPr>
        <a:xfrm>
          <a:off x="0" y="0"/>
          <a:ext cx="0" cy="0"/>
          <a:chOff x="0" y="0"/>
          <a:chExt cx="0" cy="0"/>
        </a:xfrm>
      </p:grpSpPr>
      <p:sp>
        <p:nvSpPr>
          <p:cNvPr id="2" name="Shape 0"/>
          <p:cNvSpPr/>
          <p:nvPr/>
        </p:nvSpPr>
        <p:spPr>
          <a:xfrm>
            <a:off x="502920" y="457200"/>
            <a:ext cx="128016" cy="128016"/>
          </a:xfrm>
          <a:prstGeom prst="rect">
            <a:avLst/>
          </a:prstGeom>
          <a:solidFill>
            <a:srgbClr val="C9A227"/>
          </a:solidFill>
          <a:ln/>
        </p:spPr>
      </p:sp>
      <p:sp>
        <p:nvSpPr>
          <p:cNvPr id="3" name="Text 1"/>
          <p:cNvSpPr txBox="1"/>
          <p:nvPr/>
        </p:nvSpPr>
        <p:spPr>
          <a:xfrm>
            <a:off x="749808" y="347472"/>
            <a:ext cx="9144000" cy="292608"/>
          </a:xfrm>
          <a:prstGeom prst="rect">
            <a:avLst/>
          </a:prstGeom>
          <a:noFill/>
          <a:ln/>
        </p:spPr>
        <p:txBody>
          <a:bodyPr wrap="square" lIns="0" tIns="0" rIns="0" bIns="0" rtlCol="0" anchor="ctr"/>
          <a:lstStyle/>
          <a:p>
            <a:pPr indent="0" marL="0">
              <a:buNone/>
            </a:pPr>
            <a:r>
              <a:rPr lang="en-US" sz="1250" b="1" spc="200" kern="0" dirty="0">
                <a:solidFill>
                  <a:srgbClr val="C9A227"/>
                </a:solidFill>
                <a:latin typeface="Calibri" pitchFamily="34" charset="0"/>
                <a:ea typeface="Calibri" pitchFamily="34" charset="-122"/>
                <a:cs typeface="Calibri" pitchFamily="34" charset="-120"/>
              </a:rPr>
              <a:t>RQ2 · PROMPT ENGINEERING</a:t>
            </a:r>
            <a:endParaRPr lang="en-US" sz="1250" dirty="0"/>
          </a:p>
        </p:txBody>
      </p:sp>
      <p:sp>
        <p:nvSpPr>
          <p:cNvPr id="4" name="Text 2"/>
          <p:cNvSpPr txBox="1"/>
          <p:nvPr/>
        </p:nvSpPr>
        <p:spPr>
          <a:xfrm>
            <a:off x="502920" y="658368"/>
            <a:ext cx="11155680" cy="685800"/>
          </a:xfrm>
          <a:prstGeom prst="rect">
            <a:avLst/>
          </a:prstGeom>
          <a:noFill/>
          <a:ln/>
        </p:spPr>
        <p:txBody>
          <a:bodyPr wrap="square" lIns="0" tIns="0" rIns="0" bIns="0" rtlCol="0" anchor="ctr"/>
          <a:lstStyle/>
          <a:p>
            <a:pPr indent="0" marL="0">
              <a:buNone/>
            </a:pPr>
            <a:r>
              <a:rPr lang="en-US" sz="3000" b="1" dirty="0">
                <a:solidFill>
                  <a:srgbClr val="F4F6FA"/>
                </a:solidFill>
                <a:latin typeface="Cambria" pitchFamily="34" charset="0"/>
                <a:ea typeface="Cambria" pitchFamily="34" charset="-122"/>
                <a:cs typeface="Cambria" pitchFamily="34" charset="-120"/>
              </a:rPr>
              <a:t>Prompt Effects on o3-mini</a:t>
            </a:r>
            <a:endParaRPr lang="en-US" sz="3000" dirty="0"/>
          </a:p>
        </p:txBody>
      </p:sp>
      <p:graphicFrame>
        <p:nvGraphicFramePr>
          <p:cNvPr id="5" name="Chart 0" descr=""/>
          <p:cNvGraphicFramePr/>
          <p:nvPr/>
        </p:nvGraphicFramePr>
        <p:xfrm>
          <a:off x="502920" y="1645920"/>
          <a:ext cx="7818120" cy="443484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8549640" y="1645920"/>
            <a:ext cx="3108960" cy="4434840"/>
          </a:xfrm>
          <a:prstGeom prst="roundRect">
            <a:avLst>
              <a:gd name="adj" fmla="val 2353"/>
            </a:avLst>
          </a:prstGeom>
          <a:solidFill>
            <a:srgbClr val="17223A"/>
          </a:solidFill>
          <a:ln w="12700">
            <a:solidFill>
              <a:srgbClr val="2B3B58"/>
            </a:solidFill>
            <a:prstDash val="solid"/>
          </a:ln>
          <a:effectLst>
            <a:outerShdw sx="100000" sy="100000" kx="0" ky="0" algn="bl" rotWithShape="0" blurRad="101600" dist="38100" dir="5400000">
              <a:srgbClr val="000000">
                <a:alpha val="35000"/>
              </a:srgbClr>
            </a:outerShdw>
          </a:effectLst>
        </p:spPr>
      </p:sp>
      <p:sp>
        <p:nvSpPr>
          <p:cNvPr id="7" name="Text 4"/>
          <p:cNvSpPr txBox="1"/>
          <p:nvPr/>
        </p:nvSpPr>
        <p:spPr>
          <a:xfrm>
            <a:off x="8778240" y="1828800"/>
            <a:ext cx="2651760" cy="274320"/>
          </a:xfrm>
          <a:prstGeom prst="rect">
            <a:avLst/>
          </a:prstGeom>
          <a:noFill/>
          <a:ln/>
        </p:spPr>
        <p:txBody>
          <a:bodyPr wrap="square" lIns="0" tIns="0" rIns="0" bIns="0" rtlCol="0" anchor="ctr"/>
          <a:lstStyle/>
          <a:p>
            <a:pPr indent="0" marL="0">
              <a:buNone/>
            </a:pPr>
            <a:r>
              <a:rPr lang="en-US" sz="1100" b="1" spc="150" kern="0" dirty="0">
                <a:solidFill>
                  <a:srgbClr val="C9A227"/>
                </a:solidFill>
                <a:latin typeface="Calibri" pitchFamily="34" charset="0"/>
                <a:ea typeface="Calibri" pitchFamily="34" charset="-122"/>
                <a:cs typeface="Calibri" pitchFamily="34" charset="-120"/>
              </a:rPr>
              <a:t>TAKEAWAYS</a:t>
            </a:r>
            <a:endParaRPr lang="en-US" sz="1100" dirty="0"/>
          </a:p>
        </p:txBody>
      </p:sp>
      <p:sp>
        <p:nvSpPr>
          <p:cNvPr id="8" name="Text 5"/>
          <p:cNvSpPr txBox="1"/>
          <p:nvPr/>
        </p:nvSpPr>
        <p:spPr>
          <a:xfrm>
            <a:off x="8778240" y="2148840"/>
            <a:ext cx="2651760" cy="3840480"/>
          </a:xfrm>
          <a:prstGeom prst="rect">
            <a:avLst/>
          </a:prstGeom>
          <a:noFill/>
          <a:ln/>
        </p:spPr>
        <p:txBody>
          <a:bodyPr wrap="square" lIns="0" tIns="0" rIns="0" bIns="0" rtlCol="0" anchor="t"/>
          <a:lstStyle/>
          <a:p>
            <a:pPr marL="228600" indent="-228600">
              <a:spcAft>
                <a:spcPts val="1000"/>
              </a:spcAft>
              <a:buSzPct val="100000"/>
              <a:buChar char="•"/>
            </a:pPr>
            <a:r>
              <a:rPr lang="en-US" sz="1150" dirty="0">
                <a:solidFill>
                  <a:srgbClr val="F4F6FA"/>
                </a:solidFill>
                <a:latin typeface="Calibri" pitchFamily="34" charset="0"/>
                <a:ea typeface="Calibri" pitchFamily="34" charset="-122"/>
                <a:cs typeface="Calibri" pitchFamily="34" charset="-120"/>
              </a:rPr>
              <a:t>Kruskal–Wallis significant for Unambiguity (p=0.002) and Singularity (p&lt;0.001).</a:t>
            </a:r>
            <a:endParaRPr lang="en-US" sz="1150" dirty="0"/>
          </a:p>
          <a:p>
            <a:pPr marL="228600" indent="-228600">
              <a:spcAft>
                <a:spcPts val="1000"/>
              </a:spcAft>
              <a:buSzPct val="100000"/>
              <a:buChar char="•"/>
            </a:pPr>
            <a:r>
              <a:rPr lang="en-US" sz="1150" dirty="0">
                <a:solidFill>
                  <a:srgbClr val="F4F6FA"/>
                </a:solidFill>
                <a:latin typeface="Calibri" pitchFamily="34" charset="0"/>
                <a:ea typeface="Calibri" pitchFamily="34" charset="-122"/>
                <a:cs typeface="Calibri" pitchFamily="34" charset="-120"/>
              </a:rPr>
              <a:t>Few-shot best overall — highest median (5) for Unambiguity, highest mean (4.77) for Singularity.</a:t>
            </a:r>
            <a:endParaRPr lang="en-US" sz="1150" dirty="0"/>
          </a:p>
          <a:p>
            <a:pPr marL="228600" indent="-228600">
              <a:spcAft>
                <a:spcPts val="1000"/>
              </a:spcAft>
              <a:buSzPct val="100000"/>
              <a:buChar char="•"/>
            </a:pPr>
            <a:r>
              <a:rPr lang="en-US" sz="1150" dirty="0">
                <a:solidFill>
                  <a:srgbClr val="F4F6FA"/>
                </a:solidFill>
                <a:latin typeface="Calibri" pitchFamily="34" charset="0"/>
                <a:ea typeface="Calibri" pitchFamily="34" charset="-122"/>
                <a:cs typeface="Calibri" pitchFamily="34" charset="-120"/>
              </a:rPr>
              <a:t>Expert Identity underperforms, notably degrading Singularity (mean 4.11, SD 1.29).</a:t>
            </a:r>
            <a:endParaRPr lang="en-US" sz="1150" dirty="0"/>
          </a:p>
          <a:p>
            <a:pPr marL="228600" indent="-228600">
              <a:spcAft>
                <a:spcPts val="1000"/>
              </a:spcAft>
              <a:buSzPct val="100000"/>
              <a:buChar char="•"/>
            </a:pPr>
            <a:r>
              <a:rPr lang="en-US" sz="1150" dirty="0">
                <a:solidFill>
                  <a:srgbClr val="F4F6FA"/>
                </a:solidFill>
                <a:latin typeface="Calibri" pitchFamily="34" charset="0"/>
                <a:ea typeface="Calibri" pitchFamily="34" charset="-122"/>
                <a:cs typeface="Calibri" pitchFamily="34" charset="-120"/>
              </a:rPr>
              <a:t>Concrete examples beat an assigned persona for o3-mini.</a:t>
            </a:r>
            <a:endParaRPr lang="en-US" sz="1150" dirty="0"/>
          </a:p>
        </p:txBody>
      </p:sp>
      <p:sp>
        <p:nvSpPr>
          <p:cNvPr id="9" name="Text 6"/>
          <p:cNvSpPr txBox="1"/>
          <p:nvPr/>
        </p:nvSpPr>
        <p:spPr>
          <a:xfrm>
            <a:off x="502920" y="6547104"/>
            <a:ext cx="7772400" cy="256032"/>
          </a:xfrm>
          <a:prstGeom prst="rect">
            <a:avLst/>
          </a:prstGeom>
          <a:noFill/>
          <a:ln/>
        </p:spPr>
        <p:txBody>
          <a:bodyPr wrap="square" lIns="0" tIns="0" rIns="0" bIns="0" rtlCol="0" anchor="ctr"/>
          <a:lstStyle/>
          <a:p>
            <a:pPr algn="l" indent="0" marL="0">
              <a:buNone/>
            </a:pPr>
            <a:r>
              <a:rPr lang="en-US" sz="900" dirty="0">
                <a:solidFill>
                  <a:srgbClr val="748199"/>
                </a:solidFill>
                <a:latin typeface="Calibri" pitchFamily="34" charset="0"/>
                <a:ea typeface="Calibri" pitchFamily="34" charset="-122"/>
                <a:cs typeface="Calibri" pitchFamily="34" charset="-120"/>
              </a:rPr>
              <a:t>Requirements Engineering (2026) 31:7  •  Paiva, Canedo &amp; Rocha Filho</a:t>
            </a:r>
            <a:endParaRPr lang="en-US" sz="900" dirty="0"/>
          </a:p>
        </p:txBody>
      </p:sp>
      <p:sp>
        <p:nvSpPr>
          <p:cNvPr id="10" name="Text 7"/>
          <p:cNvSpPr txBox="1"/>
          <p:nvPr/>
        </p:nvSpPr>
        <p:spPr>
          <a:xfrm>
            <a:off x="10972800" y="6547104"/>
            <a:ext cx="731520" cy="256032"/>
          </a:xfrm>
          <a:prstGeom prst="rect">
            <a:avLst/>
          </a:prstGeom>
          <a:noFill/>
          <a:ln/>
        </p:spPr>
        <p:txBody>
          <a:bodyPr wrap="square" lIns="0" tIns="0" rIns="0" bIns="0" rtlCol="0" anchor="ctr"/>
          <a:lstStyle/>
          <a:p>
            <a:pPr algn="r" indent="0" marL="0">
              <a:buNone/>
            </a:pPr>
            <a:r>
              <a:rPr lang="en-US" sz="900" dirty="0">
                <a:solidFill>
                  <a:srgbClr val="748199"/>
                </a:solidFill>
                <a:latin typeface="Calibri" pitchFamily="34" charset="0"/>
                <a:ea typeface="Calibri" pitchFamily="34" charset="-122"/>
                <a:cs typeface="Calibri" pitchFamily="34" charset="-120"/>
              </a:rPr>
              <a:t>13 / 20</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321"/>
        </a:solidFill>
      </p:bgPr>
    </p:bg>
    <p:spTree>
      <p:nvGrpSpPr>
        <p:cNvPr id="1" name=""/>
        <p:cNvGrpSpPr/>
        <p:nvPr/>
      </p:nvGrpSpPr>
      <p:grpSpPr>
        <a:xfrm>
          <a:off x="0" y="0"/>
          <a:ext cx="0" cy="0"/>
          <a:chOff x="0" y="0"/>
          <a:chExt cx="0" cy="0"/>
        </a:xfrm>
      </p:grpSpPr>
      <p:sp>
        <p:nvSpPr>
          <p:cNvPr id="2" name="Shape 0"/>
          <p:cNvSpPr/>
          <p:nvPr/>
        </p:nvSpPr>
        <p:spPr>
          <a:xfrm>
            <a:off x="502920" y="457200"/>
            <a:ext cx="128016" cy="128016"/>
          </a:xfrm>
          <a:prstGeom prst="rect">
            <a:avLst/>
          </a:prstGeom>
          <a:solidFill>
            <a:srgbClr val="C9A227"/>
          </a:solidFill>
          <a:ln/>
        </p:spPr>
      </p:sp>
      <p:sp>
        <p:nvSpPr>
          <p:cNvPr id="3" name="Text 1"/>
          <p:cNvSpPr txBox="1"/>
          <p:nvPr/>
        </p:nvSpPr>
        <p:spPr>
          <a:xfrm>
            <a:off x="749808" y="347472"/>
            <a:ext cx="9144000" cy="292608"/>
          </a:xfrm>
          <a:prstGeom prst="rect">
            <a:avLst/>
          </a:prstGeom>
          <a:noFill/>
          <a:ln/>
        </p:spPr>
        <p:txBody>
          <a:bodyPr wrap="square" lIns="0" tIns="0" rIns="0" bIns="0" rtlCol="0" anchor="ctr"/>
          <a:lstStyle/>
          <a:p>
            <a:pPr indent="0" marL="0">
              <a:buNone/>
            </a:pPr>
            <a:r>
              <a:rPr lang="en-US" sz="1250" b="1" spc="200" kern="0" dirty="0">
                <a:solidFill>
                  <a:srgbClr val="C9A227"/>
                </a:solidFill>
                <a:latin typeface="Calibri" pitchFamily="34" charset="0"/>
                <a:ea typeface="Calibri" pitchFamily="34" charset="-122"/>
                <a:cs typeface="Calibri" pitchFamily="34" charset="-120"/>
              </a:rPr>
              <a:t>RQ2 · PROMPT ENGINEERING</a:t>
            </a:r>
            <a:endParaRPr lang="en-US" sz="1250" dirty="0"/>
          </a:p>
        </p:txBody>
      </p:sp>
      <p:sp>
        <p:nvSpPr>
          <p:cNvPr id="4" name="Text 2"/>
          <p:cNvSpPr txBox="1"/>
          <p:nvPr/>
        </p:nvSpPr>
        <p:spPr>
          <a:xfrm>
            <a:off x="502920" y="658368"/>
            <a:ext cx="11155680" cy="685800"/>
          </a:xfrm>
          <a:prstGeom prst="rect">
            <a:avLst/>
          </a:prstGeom>
          <a:noFill/>
          <a:ln/>
        </p:spPr>
        <p:txBody>
          <a:bodyPr wrap="square" lIns="0" tIns="0" rIns="0" bIns="0" rtlCol="0" anchor="ctr"/>
          <a:lstStyle/>
          <a:p>
            <a:pPr indent="0" marL="0">
              <a:buNone/>
            </a:pPr>
            <a:r>
              <a:rPr lang="en-US" sz="3000" b="1" dirty="0">
                <a:solidFill>
                  <a:srgbClr val="F4F6FA"/>
                </a:solidFill>
                <a:latin typeface="Cambria" pitchFamily="34" charset="0"/>
                <a:ea typeface="Cambria" pitchFamily="34" charset="-122"/>
                <a:cs typeface="Cambria" pitchFamily="34" charset="-120"/>
              </a:rPr>
              <a:t>Prompt Effects on DeepSeek R1</a:t>
            </a:r>
            <a:endParaRPr lang="en-US" sz="3000" dirty="0"/>
          </a:p>
        </p:txBody>
      </p:sp>
      <p:graphicFrame>
        <p:nvGraphicFramePr>
          <p:cNvPr id="5" name="Chart 0" descr=""/>
          <p:cNvGraphicFramePr/>
          <p:nvPr/>
        </p:nvGraphicFramePr>
        <p:xfrm>
          <a:off x="502920" y="1645920"/>
          <a:ext cx="7818120" cy="443484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8549640" y="1645920"/>
            <a:ext cx="3108960" cy="4434840"/>
          </a:xfrm>
          <a:prstGeom prst="roundRect">
            <a:avLst>
              <a:gd name="adj" fmla="val 2353"/>
            </a:avLst>
          </a:prstGeom>
          <a:solidFill>
            <a:srgbClr val="17223A"/>
          </a:solidFill>
          <a:ln w="12700">
            <a:solidFill>
              <a:srgbClr val="2B3B58"/>
            </a:solidFill>
            <a:prstDash val="solid"/>
          </a:ln>
          <a:effectLst>
            <a:outerShdw sx="100000" sy="100000" kx="0" ky="0" algn="bl" rotWithShape="0" blurRad="101600" dist="38100" dir="5400000">
              <a:srgbClr val="000000">
                <a:alpha val="35000"/>
              </a:srgbClr>
            </a:outerShdw>
          </a:effectLst>
        </p:spPr>
      </p:sp>
      <p:sp>
        <p:nvSpPr>
          <p:cNvPr id="7" name="Text 4"/>
          <p:cNvSpPr txBox="1"/>
          <p:nvPr/>
        </p:nvSpPr>
        <p:spPr>
          <a:xfrm>
            <a:off x="8778240" y="1828800"/>
            <a:ext cx="2651760" cy="274320"/>
          </a:xfrm>
          <a:prstGeom prst="rect">
            <a:avLst/>
          </a:prstGeom>
          <a:noFill/>
          <a:ln/>
        </p:spPr>
        <p:txBody>
          <a:bodyPr wrap="square" lIns="0" tIns="0" rIns="0" bIns="0" rtlCol="0" anchor="ctr"/>
          <a:lstStyle/>
          <a:p>
            <a:pPr indent="0" marL="0">
              <a:buNone/>
            </a:pPr>
            <a:r>
              <a:rPr lang="en-US" sz="1100" b="1" spc="150" kern="0" dirty="0">
                <a:solidFill>
                  <a:srgbClr val="C9A227"/>
                </a:solidFill>
                <a:latin typeface="Calibri" pitchFamily="34" charset="0"/>
                <a:ea typeface="Calibri" pitchFamily="34" charset="-122"/>
                <a:cs typeface="Calibri" pitchFamily="34" charset="-120"/>
              </a:rPr>
              <a:t>TAKEAWAYS</a:t>
            </a:r>
            <a:endParaRPr lang="en-US" sz="1100" dirty="0"/>
          </a:p>
        </p:txBody>
      </p:sp>
      <p:sp>
        <p:nvSpPr>
          <p:cNvPr id="8" name="Text 5"/>
          <p:cNvSpPr txBox="1"/>
          <p:nvPr/>
        </p:nvSpPr>
        <p:spPr>
          <a:xfrm>
            <a:off x="8778240" y="2148840"/>
            <a:ext cx="2651760" cy="3840480"/>
          </a:xfrm>
          <a:prstGeom prst="rect">
            <a:avLst/>
          </a:prstGeom>
          <a:noFill/>
          <a:ln/>
        </p:spPr>
        <p:txBody>
          <a:bodyPr wrap="square" lIns="0" tIns="0" rIns="0" bIns="0" rtlCol="0" anchor="t"/>
          <a:lstStyle/>
          <a:p>
            <a:pPr marL="228600" indent="-228600">
              <a:spcAft>
                <a:spcPts val="1000"/>
              </a:spcAft>
              <a:buSzPct val="100000"/>
              <a:buChar char="•"/>
            </a:pPr>
            <a:r>
              <a:rPr lang="en-US" sz="1150" dirty="0">
                <a:solidFill>
                  <a:srgbClr val="F4F6FA"/>
                </a:solidFill>
                <a:latin typeface="Calibri" pitchFamily="34" charset="0"/>
                <a:ea typeface="Calibri" pitchFamily="34" charset="-122"/>
                <a:cs typeface="Calibri" pitchFamily="34" charset="-120"/>
              </a:rPr>
              <a:t>Kruskal–Wallis significant for Verifiability (p=0.020) and Singularity (p&lt;0.001).</a:t>
            </a:r>
            <a:endParaRPr lang="en-US" sz="1150" dirty="0"/>
          </a:p>
          <a:p>
            <a:pPr marL="228600" indent="-228600">
              <a:spcAft>
                <a:spcPts val="1000"/>
              </a:spcAft>
              <a:buSzPct val="100000"/>
              <a:buChar char="•"/>
            </a:pPr>
            <a:r>
              <a:rPr lang="en-US" sz="1150" dirty="0">
                <a:solidFill>
                  <a:srgbClr val="F4F6FA"/>
                </a:solidFill>
                <a:latin typeface="Calibri" pitchFamily="34" charset="0"/>
                <a:ea typeface="Calibri" pitchFamily="34" charset="-122"/>
                <a:cs typeface="Calibri" pitchFamily="34" charset="-120"/>
              </a:rPr>
              <a:t>Expert Identity significantly improves Verifiability (mean 4.37) — but yields the lowest Singularity (mean 3.95, SD 1.37).</a:t>
            </a:r>
            <a:endParaRPr lang="en-US" sz="1150" dirty="0"/>
          </a:p>
          <a:p>
            <a:pPr marL="228600" indent="-228600">
              <a:spcAft>
                <a:spcPts val="1000"/>
              </a:spcAft>
              <a:buSzPct val="100000"/>
              <a:buChar char="•"/>
            </a:pPr>
            <a:r>
              <a:rPr lang="en-US" sz="1150" dirty="0">
                <a:solidFill>
                  <a:srgbClr val="F4F6FA"/>
                </a:solidFill>
                <a:latin typeface="Calibri" pitchFamily="34" charset="0"/>
                <a:ea typeface="Calibri" pitchFamily="34" charset="-122"/>
                <a:cs typeface="Calibri" pitchFamily="34" charset="-120"/>
              </a:rPr>
              <a:t>Few-shot again best for Singularity (mean 4.69).</a:t>
            </a:r>
            <a:endParaRPr lang="en-US" sz="1150" dirty="0"/>
          </a:p>
          <a:p>
            <a:pPr marL="228600" indent="-228600">
              <a:spcAft>
                <a:spcPts val="1000"/>
              </a:spcAft>
              <a:buSzPct val="100000"/>
              <a:buChar char="•"/>
            </a:pPr>
            <a:r>
              <a:rPr lang="en-US" sz="1150" dirty="0">
                <a:solidFill>
                  <a:srgbClr val="F4F6FA"/>
                </a:solidFill>
                <a:latin typeface="Calibri" pitchFamily="34" charset="0"/>
                <a:ea typeface="Calibri" pitchFamily="34" charset="-122"/>
                <a:cs typeface="Calibri" pitchFamily="34" charset="-120"/>
              </a:rPr>
              <a:t>Same trade-off as o3-mini, different attribute pairing.</a:t>
            </a:r>
            <a:endParaRPr lang="en-US" sz="1150" dirty="0"/>
          </a:p>
        </p:txBody>
      </p:sp>
      <p:sp>
        <p:nvSpPr>
          <p:cNvPr id="9" name="Text 6"/>
          <p:cNvSpPr txBox="1"/>
          <p:nvPr/>
        </p:nvSpPr>
        <p:spPr>
          <a:xfrm>
            <a:off x="502920" y="6547104"/>
            <a:ext cx="7772400" cy="256032"/>
          </a:xfrm>
          <a:prstGeom prst="rect">
            <a:avLst/>
          </a:prstGeom>
          <a:noFill/>
          <a:ln/>
        </p:spPr>
        <p:txBody>
          <a:bodyPr wrap="square" lIns="0" tIns="0" rIns="0" bIns="0" rtlCol="0" anchor="ctr"/>
          <a:lstStyle/>
          <a:p>
            <a:pPr algn="l" indent="0" marL="0">
              <a:buNone/>
            </a:pPr>
            <a:r>
              <a:rPr lang="en-US" sz="900" dirty="0">
                <a:solidFill>
                  <a:srgbClr val="748199"/>
                </a:solidFill>
                <a:latin typeface="Calibri" pitchFamily="34" charset="0"/>
                <a:ea typeface="Calibri" pitchFamily="34" charset="-122"/>
                <a:cs typeface="Calibri" pitchFamily="34" charset="-120"/>
              </a:rPr>
              <a:t>Requirements Engineering (2026) 31:7  •  Paiva, Canedo &amp; Rocha Filho</a:t>
            </a:r>
            <a:endParaRPr lang="en-US" sz="900" dirty="0"/>
          </a:p>
        </p:txBody>
      </p:sp>
      <p:sp>
        <p:nvSpPr>
          <p:cNvPr id="10" name="Text 7"/>
          <p:cNvSpPr txBox="1"/>
          <p:nvPr/>
        </p:nvSpPr>
        <p:spPr>
          <a:xfrm>
            <a:off x="10972800" y="6547104"/>
            <a:ext cx="731520" cy="256032"/>
          </a:xfrm>
          <a:prstGeom prst="rect">
            <a:avLst/>
          </a:prstGeom>
          <a:noFill/>
          <a:ln/>
        </p:spPr>
        <p:txBody>
          <a:bodyPr wrap="square" lIns="0" tIns="0" rIns="0" bIns="0" rtlCol="0" anchor="ctr"/>
          <a:lstStyle/>
          <a:p>
            <a:pPr algn="r" indent="0" marL="0">
              <a:buNone/>
            </a:pPr>
            <a:r>
              <a:rPr lang="en-US" sz="900" dirty="0">
                <a:solidFill>
                  <a:srgbClr val="748199"/>
                </a:solidFill>
                <a:latin typeface="Calibri" pitchFamily="34" charset="0"/>
                <a:ea typeface="Calibri" pitchFamily="34" charset="-122"/>
                <a:cs typeface="Calibri" pitchFamily="34" charset="-120"/>
              </a:rPr>
              <a:t>14 / 20</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1321"/>
        </a:solidFill>
      </p:bgPr>
    </p:bg>
    <p:spTree>
      <p:nvGrpSpPr>
        <p:cNvPr id="1" name=""/>
        <p:cNvGrpSpPr/>
        <p:nvPr/>
      </p:nvGrpSpPr>
      <p:grpSpPr>
        <a:xfrm>
          <a:off x="0" y="0"/>
          <a:ext cx="0" cy="0"/>
          <a:chOff x="0" y="0"/>
          <a:chExt cx="0" cy="0"/>
        </a:xfrm>
      </p:grpSpPr>
      <p:sp>
        <p:nvSpPr>
          <p:cNvPr id="2" name="Shape 0"/>
          <p:cNvSpPr/>
          <p:nvPr/>
        </p:nvSpPr>
        <p:spPr>
          <a:xfrm>
            <a:off x="502920" y="457200"/>
            <a:ext cx="128016" cy="128016"/>
          </a:xfrm>
          <a:prstGeom prst="rect">
            <a:avLst/>
          </a:prstGeom>
          <a:solidFill>
            <a:srgbClr val="C9A227"/>
          </a:solidFill>
          <a:ln/>
        </p:spPr>
      </p:sp>
      <p:sp>
        <p:nvSpPr>
          <p:cNvPr id="3" name="Text 1"/>
          <p:cNvSpPr txBox="1"/>
          <p:nvPr/>
        </p:nvSpPr>
        <p:spPr>
          <a:xfrm>
            <a:off x="749808" y="347472"/>
            <a:ext cx="9144000" cy="292608"/>
          </a:xfrm>
          <a:prstGeom prst="rect">
            <a:avLst/>
          </a:prstGeom>
          <a:noFill/>
          <a:ln/>
        </p:spPr>
        <p:txBody>
          <a:bodyPr wrap="square" lIns="0" tIns="0" rIns="0" bIns="0" rtlCol="0" anchor="ctr"/>
          <a:lstStyle/>
          <a:p>
            <a:pPr indent="0" marL="0">
              <a:buNone/>
            </a:pPr>
            <a:r>
              <a:rPr lang="en-US" sz="1250" b="1" spc="200" kern="0" dirty="0">
                <a:solidFill>
                  <a:srgbClr val="C9A227"/>
                </a:solidFill>
                <a:latin typeface="Calibri" pitchFamily="34" charset="0"/>
                <a:ea typeface="Calibri" pitchFamily="34" charset="-122"/>
                <a:cs typeface="Calibri" pitchFamily="34" charset="-120"/>
              </a:rPr>
              <a:t>RQ3 · QUALITATIVE ANALYSIS</a:t>
            </a:r>
            <a:endParaRPr lang="en-US" sz="1250" dirty="0"/>
          </a:p>
        </p:txBody>
      </p:sp>
      <p:sp>
        <p:nvSpPr>
          <p:cNvPr id="4" name="Text 2"/>
          <p:cNvSpPr txBox="1"/>
          <p:nvPr/>
        </p:nvSpPr>
        <p:spPr>
          <a:xfrm>
            <a:off x="502920" y="658368"/>
            <a:ext cx="11155680" cy="685800"/>
          </a:xfrm>
          <a:prstGeom prst="rect">
            <a:avLst/>
          </a:prstGeom>
          <a:noFill/>
          <a:ln/>
        </p:spPr>
        <p:txBody>
          <a:bodyPr wrap="square" lIns="0" tIns="0" rIns="0" bIns="0" rtlCol="0" anchor="ctr"/>
          <a:lstStyle/>
          <a:p>
            <a:pPr indent="0" marL="0">
              <a:buNone/>
            </a:pPr>
            <a:r>
              <a:rPr lang="en-US" sz="3000" b="1" dirty="0">
                <a:solidFill>
                  <a:srgbClr val="F4F6FA"/>
                </a:solidFill>
                <a:latin typeface="Cambria" pitchFamily="34" charset="0"/>
                <a:ea typeface="Cambria" pitchFamily="34" charset="-122"/>
                <a:cs typeface="Cambria" pitchFamily="34" charset="-120"/>
              </a:rPr>
              <a:t>Qualitative Findings</a:t>
            </a:r>
            <a:endParaRPr lang="en-US" sz="3000" dirty="0"/>
          </a:p>
        </p:txBody>
      </p:sp>
      <p:sp>
        <p:nvSpPr>
          <p:cNvPr id="5" name="Shape 3"/>
          <p:cNvSpPr/>
          <p:nvPr/>
        </p:nvSpPr>
        <p:spPr>
          <a:xfrm>
            <a:off x="502920" y="1691640"/>
            <a:ext cx="3493008" cy="4480560"/>
          </a:xfrm>
          <a:prstGeom prst="roundRect">
            <a:avLst>
              <a:gd name="adj" fmla="val 2094"/>
            </a:avLst>
          </a:prstGeom>
          <a:solidFill>
            <a:srgbClr val="17223A"/>
          </a:solidFill>
          <a:ln w="12700">
            <a:solidFill>
              <a:srgbClr val="2B3B58"/>
            </a:solidFill>
            <a:prstDash val="solid"/>
          </a:ln>
          <a:effectLst>
            <a:outerShdw sx="100000" sy="100000" kx="0" ky="0" algn="bl" rotWithShape="0" blurRad="101600" dist="38100" dir="5400000">
              <a:srgbClr val="000000">
                <a:alpha val="35000"/>
              </a:srgbClr>
            </a:outerShdw>
          </a:effectLst>
        </p:spPr>
      </p:sp>
      <p:sp>
        <p:nvSpPr>
          <p:cNvPr id="6" name="Shape 4"/>
          <p:cNvSpPr/>
          <p:nvPr/>
        </p:nvSpPr>
        <p:spPr>
          <a:xfrm>
            <a:off x="502920" y="1691640"/>
            <a:ext cx="91440" cy="4480560"/>
          </a:xfrm>
          <a:prstGeom prst="rect">
            <a:avLst/>
          </a:prstGeom>
          <a:solidFill>
            <a:srgbClr val="C9A227"/>
          </a:solidFill>
          <a:ln/>
        </p:spPr>
      </p:sp>
      <p:sp>
        <p:nvSpPr>
          <p:cNvPr id="7" name="Text 5"/>
          <p:cNvSpPr txBox="1"/>
          <p:nvPr/>
        </p:nvSpPr>
        <p:spPr>
          <a:xfrm>
            <a:off x="822960" y="1874520"/>
            <a:ext cx="3081528" cy="457200"/>
          </a:xfrm>
          <a:prstGeom prst="rect">
            <a:avLst/>
          </a:prstGeom>
          <a:noFill/>
          <a:ln/>
        </p:spPr>
        <p:txBody>
          <a:bodyPr wrap="square" lIns="0" tIns="0" rIns="0" bIns="0" rtlCol="0" anchor="ctr"/>
          <a:lstStyle/>
          <a:p>
            <a:pPr indent="0" marL="0">
              <a:buNone/>
            </a:pPr>
            <a:r>
              <a:rPr lang="en-US" sz="1650" b="1" dirty="0">
                <a:solidFill>
                  <a:srgbClr val="C9A227"/>
                </a:solidFill>
                <a:latin typeface="Cambria" pitchFamily="34" charset="0"/>
                <a:ea typeface="Cambria" pitchFamily="34" charset="-122"/>
                <a:cs typeface="Cambria" pitchFamily="34" charset="-120"/>
              </a:rPr>
              <a:t>General Patterns</a:t>
            </a:r>
            <a:endParaRPr lang="en-US" sz="1650" dirty="0"/>
          </a:p>
        </p:txBody>
      </p:sp>
      <p:sp>
        <p:nvSpPr>
          <p:cNvPr id="8" name="Text 6"/>
          <p:cNvSpPr txBox="1"/>
          <p:nvPr/>
        </p:nvSpPr>
        <p:spPr>
          <a:xfrm>
            <a:off x="822960" y="2377440"/>
            <a:ext cx="3035808" cy="3657600"/>
          </a:xfrm>
          <a:prstGeom prst="rect">
            <a:avLst/>
          </a:prstGeom>
          <a:noFill/>
          <a:ln/>
        </p:spPr>
        <p:txBody>
          <a:bodyPr wrap="square" lIns="0" tIns="0" rIns="0" bIns="0" rtlCol="0" anchor="t"/>
          <a:lstStyle/>
          <a:p>
            <a:pPr marL="228600" indent="-228600">
              <a:spcAft>
                <a:spcPts val="1200"/>
              </a:spcAft>
              <a:buSzPct val="100000"/>
              <a:buChar char="•"/>
            </a:pPr>
            <a:r>
              <a:rPr lang="en-US" sz="1200" dirty="0">
                <a:solidFill>
                  <a:srgbClr val="F4F6FA"/>
                </a:solidFill>
                <a:latin typeface="Calibri" pitchFamily="34" charset="0"/>
                <a:ea typeface="Calibri" pitchFamily="34" charset="-122"/>
                <a:cs typeface="Calibri" pitchFamily="34" charset="-120"/>
              </a:rPr>
              <a:t>Syntactically well-formed statements (“The system shall…”) are the norm.</a:t>
            </a:r>
            <a:endParaRPr lang="en-US" sz="1200" dirty="0"/>
          </a:p>
          <a:p>
            <a:pPr marL="228600" indent="-228600">
              <a:spcAft>
                <a:spcPts val="1200"/>
              </a:spcAft>
              <a:buSzPct val="100000"/>
              <a:buChar char="•"/>
            </a:pPr>
            <a:r>
              <a:rPr lang="en-US" sz="1200" dirty="0">
                <a:solidFill>
                  <a:srgbClr val="F4F6FA"/>
                </a:solidFill>
                <a:latin typeface="Calibri" pitchFamily="34" charset="0"/>
                <a:ea typeface="Calibri" pitchFamily="34" charset="-122"/>
                <a:cs typeface="Calibri" pitchFamily="34" charset="-120"/>
              </a:rPr>
              <a:t>Quality strongly depends on input clarity — the “garbage-in, garbage-out” principle.</a:t>
            </a:r>
            <a:endParaRPr lang="en-US" sz="1200" dirty="0"/>
          </a:p>
          <a:p>
            <a:pPr marL="228600" indent="-228600">
              <a:spcAft>
                <a:spcPts val="1200"/>
              </a:spcAft>
              <a:buSzPct val="100000"/>
              <a:buChar char="•"/>
            </a:pPr>
            <a:r>
              <a:rPr lang="en-US" sz="1200" dirty="0">
                <a:solidFill>
                  <a:srgbClr val="F4F6FA"/>
                </a:solidFill>
                <a:latin typeface="Calibri" pitchFamily="34" charset="0"/>
                <a:ea typeface="Calibri" pitchFamily="34" charset="-122"/>
                <a:cs typeface="Calibri" pitchFamily="34" charset="-120"/>
              </a:rPr>
              <a:t>Capturing core intent succeeds for clear titles; Verifiability is the common weak point for vague ones.</a:t>
            </a:r>
            <a:endParaRPr lang="en-US" sz="1200" dirty="0"/>
          </a:p>
        </p:txBody>
      </p:sp>
      <p:sp>
        <p:nvSpPr>
          <p:cNvPr id="9" name="Shape 7"/>
          <p:cNvSpPr/>
          <p:nvPr/>
        </p:nvSpPr>
        <p:spPr>
          <a:xfrm>
            <a:off x="4133088" y="1691640"/>
            <a:ext cx="3493008" cy="4480560"/>
          </a:xfrm>
          <a:prstGeom prst="roundRect">
            <a:avLst>
              <a:gd name="adj" fmla="val 2094"/>
            </a:avLst>
          </a:prstGeom>
          <a:solidFill>
            <a:srgbClr val="17223A"/>
          </a:solidFill>
          <a:ln w="12700">
            <a:solidFill>
              <a:srgbClr val="2B3B58"/>
            </a:solidFill>
            <a:prstDash val="solid"/>
          </a:ln>
          <a:effectLst>
            <a:outerShdw sx="100000" sy="100000" kx="0" ky="0" algn="bl" rotWithShape="0" blurRad="101600" dist="38100" dir="5400000">
              <a:srgbClr val="000000">
                <a:alpha val="35000"/>
              </a:srgbClr>
            </a:outerShdw>
          </a:effectLst>
        </p:spPr>
      </p:sp>
      <p:sp>
        <p:nvSpPr>
          <p:cNvPr id="10" name="Shape 8"/>
          <p:cNvSpPr/>
          <p:nvPr/>
        </p:nvSpPr>
        <p:spPr>
          <a:xfrm>
            <a:off x="4133088" y="1691640"/>
            <a:ext cx="91440" cy="4480560"/>
          </a:xfrm>
          <a:prstGeom prst="rect">
            <a:avLst/>
          </a:prstGeom>
          <a:solidFill>
            <a:srgbClr val="4FA8A0"/>
          </a:solidFill>
          <a:ln/>
        </p:spPr>
      </p:sp>
      <p:sp>
        <p:nvSpPr>
          <p:cNvPr id="11" name="Text 9"/>
          <p:cNvSpPr txBox="1"/>
          <p:nvPr/>
        </p:nvSpPr>
        <p:spPr>
          <a:xfrm>
            <a:off x="4453128" y="1874520"/>
            <a:ext cx="3081528" cy="457200"/>
          </a:xfrm>
          <a:prstGeom prst="rect">
            <a:avLst/>
          </a:prstGeom>
          <a:noFill/>
          <a:ln/>
        </p:spPr>
        <p:txBody>
          <a:bodyPr wrap="square" lIns="0" tIns="0" rIns="0" bIns="0" rtlCol="0" anchor="ctr"/>
          <a:lstStyle/>
          <a:p>
            <a:pPr indent="0" marL="0">
              <a:buNone/>
            </a:pPr>
            <a:r>
              <a:rPr lang="en-US" sz="1650" b="1" dirty="0">
                <a:solidFill>
                  <a:srgbClr val="4FA8A0"/>
                </a:solidFill>
                <a:latin typeface="Cambria" pitchFamily="34" charset="0"/>
                <a:ea typeface="Cambria" pitchFamily="34" charset="-122"/>
                <a:cs typeface="Cambria" pitchFamily="34" charset="-120"/>
              </a:rPr>
              <a:t>Prompt / LLM Specifics</a:t>
            </a:r>
            <a:endParaRPr lang="en-US" sz="1650" dirty="0"/>
          </a:p>
        </p:txBody>
      </p:sp>
      <p:sp>
        <p:nvSpPr>
          <p:cNvPr id="12" name="Text 10"/>
          <p:cNvSpPr txBox="1"/>
          <p:nvPr/>
        </p:nvSpPr>
        <p:spPr>
          <a:xfrm>
            <a:off x="4453128" y="2377440"/>
            <a:ext cx="3035808" cy="3657600"/>
          </a:xfrm>
          <a:prstGeom prst="rect">
            <a:avLst/>
          </a:prstGeom>
          <a:noFill/>
          <a:ln/>
        </p:spPr>
        <p:txBody>
          <a:bodyPr wrap="square" lIns="0" tIns="0" rIns="0" bIns="0" rtlCol="0" anchor="t"/>
          <a:lstStyle/>
          <a:p>
            <a:pPr marL="228600" indent="-228600">
              <a:spcAft>
                <a:spcPts val="1200"/>
              </a:spcAft>
              <a:buSzPct val="100000"/>
              <a:buChar char="•"/>
            </a:pPr>
            <a:r>
              <a:rPr lang="en-US" sz="1200" dirty="0">
                <a:solidFill>
                  <a:srgbClr val="F4F6FA"/>
                </a:solidFill>
                <a:latin typeface="Calibri" pitchFamily="34" charset="0"/>
                <a:ea typeface="Calibri" pitchFamily="34" charset="-122"/>
                <a:cs typeface="Calibri" pitchFamily="34" charset="-120"/>
              </a:rPr>
              <a:t>o3-mini generally yields more focused, singular requirements.</a:t>
            </a:r>
            <a:endParaRPr lang="en-US" sz="1200" dirty="0"/>
          </a:p>
          <a:p>
            <a:pPr marL="228600" indent="-228600">
              <a:spcAft>
                <a:spcPts val="1200"/>
              </a:spcAft>
              <a:buSzPct val="100000"/>
              <a:buChar char="•"/>
            </a:pPr>
            <a:r>
              <a:rPr lang="en-US" sz="1200" dirty="0">
                <a:solidFill>
                  <a:srgbClr val="F4F6FA"/>
                </a:solidFill>
                <a:latin typeface="Calibri" pitchFamily="34" charset="0"/>
                <a:ea typeface="Calibri" pitchFamily="34" charset="-122"/>
                <a:cs typeface="Calibri" pitchFamily="34" charset="-120"/>
              </a:rPr>
              <a:t>Naive prompting: direct but sometimes underdeveloped rephrasing.</a:t>
            </a:r>
            <a:endParaRPr lang="en-US" sz="1200" dirty="0"/>
          </a:p>
          <a:p>
            <a:pPr marL="228600" indent="-228600">
              <a:spcAft>
                <a:spcPts val="1200"/>
              </a:spcAft>
              <a:buSzPct val="100000"/>
              <a:buChar char="•"/>
            </a:pPr>
            <a:r>
              <a:rPr lang="en-US" sz="1200" dirty="0">
                <a:solidFill>
                  <a:srgbClr val="F4F6FA"/>
                </a:solidFill>
                <a:latin typeface="Calibri" pitchFamily="34" charset="0"/>
                <a:ea typeface="Calibri" pitchFamily="34" charset="-122"/>
                <a:cs typeface="Calibri" pitchFamily="34" charset="-120"/>
              </a:rPr>
              <a:t>Expert prompting: elaborate output; occasionally speculative detail not grounded in the source title.</a:t>
            </a:r>
            <a:endParaRPr lang="en-US" sz="1200" dirty="0"/>
          </a:p>
        </p:txBody>
      </p:sp>
      <p:sp>
        <p:nvSpPr>
          <p:cNvPr id="13" name="Shape 11"/>
          <p:cNvSpPr/>
          <p:nvPr/>
        </p:nvSpPr>
        <p:spPr>
          <a:xfrm>
            <a:off x="7763256" y="1691640"/>
            <a:ext cx="3493008" cy="4480560"/>
          </a:xfrm>
          <a:prstGeom prst="roundRect">
            <a:avLst>
              <a:gd name="adj" fmla="val 2094"/>
            </a:avLst>
          </a:prstGeom>
          <a:solidFill>
            <a:srgbClr val="17223A"/>
          </a:solidFill>
          <a:ln w="12700">
            <a:solidFill>
              <a:srgbClr val="2B3B58"/>
            </a:solidFill>
            <a:prstDash val="solid"/>
          </a:ln>
          <a:effectLst>
            <a:outerShdw sx="100000" sy="100000" kx="0" ky="0" algn="bl" rotWithShape="0" blurRad="101600" dist="38100" dir="5400000">
              <a:srgbClr val="000000">
                <a:alpha val="35000"/>
              </a:srgbClr>
            </a:outerShdw>
          </a:effectLst>
        </p:spPr>
      </p:sp>
      <p:sp>
        <p:nvSpPr>
          <p:cNvPr id="14" name="Shape 12"/>
          <p:cNvSpPr/>
          <p:nvPr/>
        </p:nvSpPr>
        <p:spPr>
          <a:xfrm>
            <a:off x="7763256" y="1691640"/>
            <a:ext cx="91440" cy="4480560"/>
          </a:xfrm>
          <a:prstGeom prst="rect">
            <a:avLst/>
          </a:prstGeom>
          <a:solidFill>
            <a:srgbClr val="6E85A8"/>
          </a:solidFill>
          <a:ln/>
        </p:spPr>
      </p:sp>
      <p:sp>
        <p:nvSpPr>
          <p:cNvPr id="15" name="Text 13"/>
          <p:cNvSpPr txBox="1"/>
          <p:nvPr/>
        </p:nvSpPr>
        <p:spPr>
          <a:xfrm>
            <a:off x="8083296" y="1874520"/>
            <a:ext cx="3081528" cy="457200"/>
          </a:xfrm>
          <a:prstGeom prst="rect">
            <a:avLst/>
          </a:prstGeom>
          <a:noFill/>
          <a:ln/>
        </p:spPr>
        <p:txBody>
          <a:bodyPr wrap="square" lIns="0" tIns="0" rIns="0" bIns="0" rtlCol="0" anchor="ctr"/>
          <a:lstStyle/>
          <a:p>
            <a:pPr indent="0" marL="0">
              <a:buNone/>
            </a:pPr>
            <a:r>
              <a:rPr lang="en-US" sz="1650" b="1" dirty="0">
                <a:solidFill>
                  <a:srgbClr val="6E85A8"/>
                </a:solidFill>
                <a:latin typeface="Cambria" pitchFamily="34" charset="0"/>
                <a:ea typeface="Cambria" pitchFamily="34" charset="-122"/>
                <a:cs typeface="Cambria" pitchFamily="34" charset="-120"/>
              </a:rPr>
              <a:t>The Core Trade-off</a:t>
            </a:r>
            <a:endParaRPr lang="en-US" sz="1650" dirty="0"/>
          </a:p>
        </p:txBody>
      </p:sp>
      <p:sp>
        <p:nvSpPr>
          <p:cNvPr id="16" name="Text 14"/>
          <p:cNvSpPr txBox="1"/>
          <p:nvPr/>
        </p:nvSpPr>
        <p:spPr>
          <a:xfrm>
            <a:off x="8083296" y="2377440"/>
            <a:ext cx="3035808" cy="3657600"/>
          </a:xfrm>
          <a:prstGeom prst="rect">
            <a:avLst/>
          </a:prstGeom>
          <a:noFill/>
          <a:ln/>
        </p:spPr>
        <p:txBody>
          <a:bodyPr wrap="square" lIns="0" tIns="0" rIns="0" bIns="0" rtlCol="0" anchor="t"/>
          <a:lstStyle/>
          <a:p>
            <a:pPr marL="228600" indent="-228600">
              <a:spcAft>
                <a:spcPts val="1200"/>
              </a:spcAft>
              <a:buSzPct val="100000"/>
              <a:buChar char="•"/>
            </a:pPr>
            <a:r>
              <a:rPr lang="en-US" sz="1200" dirty="0">
                <a:solidFill>
                  <a:srgbClr val="F4F6FA"/>
                </a:solidFill>
                <a:latin typeface="Calibri" pitchFamily="34" charset="0"/>
                <a:ea typeface="Calibri" pitchFamily="34" charset="-122"/>
                <a:cs typeface="Calibri" pitchFamily="34" charset="-120"/>
              </a:rPr>
              <a:t>Detail vs. focus: prompts eliciting comprehensive content often bundle multiple needs into one statement.</a:t>
            </a:r>
            <a:endParaRPr lang="en-US" sz="1200" dirty="0"/>
          </a:p>
          <a:p>
            <a:pPr marL="228600" indent="-228600">
              <a:spcAft>
                <a:spcPts val="1200"/>
              </a:spcAft>
              <a:buSzPct val="100000"/>
              <a:buChar char="•"/>
            </a:pPr>
            <a:r>
              <a:rPr lang="en-US" sz="1200" dirty="0">
                <a:solidFill>
                  <a:srgbClr val="F4F6FA"/>
                </a:solidFill>
                <a:latin typeface="Calibri" pitchFamily="34" charset="0"/>
                <a:ea typeface="Calibri" pitchFamily="34" charset="-122"/>
                <a:cs typeface="Calibri" pitchFamily="34" charset="-120"/>
              </a:rPr>
              <a:t>This directly violates Singularity even as it can raise perceived Verifiability.</a:t>
            </a:r>
            <a:endParaRPr lang="en-US" sz="1200" dirty="0"/>
          </a:p>
          <a:p>
            <a:pPr marL="228600" indent="-228600">
              <a:spcAft>
                <a:spcPts val="1200"/>
              </a:spcAft>
              <a:buSzPct val="100000"/>
              <a:buChar char="•"/>
            </a:pPr>
            <a:r>
              <a:rPr lang="en-US" sz="1200" dirty="0">
                <a:solidFill>
                  <a:srgbClr val="F4F6FA"/>
                </a:solidFill>
                <a:latin typeface="Calibri" pitchFamily="34" charset="0"/>
                <a:ea typeface="Calibri" pitchFamily="34" charset="-122"/>
                <a:cs typeface="Calibri" pitchFamily="34" charset="-120"/>
              </a:rPr>
              <a:t>Confirmed across both LLMs and all 150 inputs — a systemic effect of prompt design.</a:t>
            </a:r>
            <a:endParaRPr lang="en-US" sz="1200" dirty="0"/>
          </a:p>
        </p:txBody>
      </p:sp>
      <p:sp>
        <p:nvSpPr>
          <p:cNvPr id="17" name="Text 15"/>
          <p:cNvSpPr txBox="1"/>
          <p:nvPr/>
        </p:nvSpPr>
        <p:spPr>
          <a:xfrm>
            <a:off x="502920" y="6547104"/>
            <a:ext cx="7772400" cy="256032"/>
          </a:xfrm>
          <a:prstGeom prst="rect">
            <a:avLst/>
          </a:prstGeom>
          <a:noFill/>
          <a:ln/>
        </p:spPr>
        <p:txBody>
          <a:bodyPr wrap="square" lIns="0" tIns="0" rIns="0" bIns="0" rtlCol="0" anchor="ctr"/>
          <a:lstStyle/>
          <a:p>
            <a:pPr algn="l" indent="0" marL="0">
              <a:buNone/>
            </a:pPr>
            <a:r>
              <a:rPr lang="en-US" sz="900" dirty="0">
                <a:solidFill>
                  <a:srgbClr val="748199"/>
                </a:solidFill>
                <a:latin typeface="Calibri" pitchFamily="34" charset="0"/>
                <a:ea typeface="Calibri" pitchFamily="34" charset="-122"/>
                <a:cs typeface="Calibri" pitchFamily="34" charset="-120"/>
              </a:rPr>
              <a:t>Requirements Engineering (2026) 31:7  •  Paiva, Canedo &amp; Rocha Filho</a:t>
            </a:r>
            <a:endParaRPr lang="en-US" sz="900" dirty="0"/>
          </a:p>
        </p:txBody>
      </p:sp>
      <p:sp>
        <p:nvSpPr>
          <p:cNvPr id="18" name="Text 16"/>
          <p:cNvSpPr txBox="1"/>
          <p:nvPr/>
        </p:nvSpPr>
        <p:spPr>
          <a:xfrm>
            <a:off x="10972800" y="6547104"/>
            <a:ext cx="731520" cy="256032"/>
          </a:xfrm>
          <a:prstGeom prst="rect">
            <a:avLst/>
          </a:prstGeom>
          <a:noFill/>
          <a:ln/>
        </p:spPr>
        <p:txBody>
          <a:bodyPr wrap="square" lIns="0" tIns="0" rIns="0" bIns="0" rtlCol="0" anchor="ctr"/>
          <a:lstStyle/>
          <a:p>
            <a:pPr algn="r" indent="0" marL="0">
              <a:buNone/>
            </a:pPr>
            <a:r>
              <a:rPr lang="en-US" sz="900" dirty="0">
                <a:solidFill>
                  <a:srgbClr val="748199"/>
                </a:solidFill>
                <a:latin typeface="Calibri" pitchFamily="34" charset="0"/>
                <a:ea typeface="Calibri" pitchFamily="34" charset="-122"/>
                <a:cs typeface="Calibri" pitchFamily="34" charset="-120"/>
              </a:rPr>
              <a:t>15 / 20</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D1321"/>
        </a:solidFill>
      </p:bgPr>
    </p:bg>
    <p:spTree>
      <p:nvGrpSpPr>
        <p:cNvPr id="1" name=""/>
        <p:cNvGrpSpPr/>
        <p:nvPr/>
      </p:nvGrpSpPr>
      <p:grpSpPr>
        <a:xfrm>
          <a:off x="0" y="0"/>
          <a:ext cx="0" cy="0"/>
          <a:chOff x="0" y="0"/>
          <a:chExt cx="0" cy="0"/>
        </a:xfrm>
      </p:grpSpPr>
      <p:sp>
        <p:nvSpPr>
          <p:cNvPr id="2" name="Shape 0"/>
          <p:cNvSpPr/>
          <p:nvPr/>
        </p:nvSpPr>
        <p:spPr>
          <a:xfrm>
            <a:off x="502920" y="457200"/>
            <a:ext cx="128016" cy="128016"/>
          </a:xfrm>
          <a:prstGeom prst="rect">
            <a:avLst/>
          </a:prstGeom>
          <a:solidFill>
            <a:srgbClr val="C9A227"/>
          </a:solidFill>
          <a:ln/>
        </p:spPr>
      </p:sp>
      <p:sp>
        <p:nvSpPr>
          <p:cNvPr id="3" name="Text 1"/>
          <p:cNvSpPr txBox="1"/>
          <p:nvPr/>
        </p:nvSpPr>
        <p:spPr>
          <a:xfrm>
            <a:off x="749808" y="347472"/>
            <a:ext cx="9144000" cy="292608"/>
          </a:xfrm>
          <a:prstGeom prst="rect">
            <a:avLst/>
          </a:prstGeom>
          <a:noFill/>
          <a:ln/>
        </p:spPr>
        <p:txBody>
          <a:bodyPr wrap="square" lIns="0" tIns="0" rIns="0" bIns="0" rtlCol="0" anchor="ctr"/>
          <a:lstStyle/>
          <a:p>
            <a:pPr indent="0" marL="0">
              <a:buNone/>
            </a:pPr>
            <a:r>
              <a:rPr lang="en-US" sz="1250" b="1" spc="200" kern="0" dirty="0">
                <a:solidFill>
                  <a:srgbClr val="C9A227"/>
                </a:solidFill>
                <a:latin typeface="Calibri" pitchFamily="34" charset="0"/>
                <a:ea typeface="Calibri" pitchFamily="34" charset="-122"/>
                <a:cs typeface="Calibri" pitchFamily="34" charset="-120"/>
              </a:rPr>
              <a:t>RQ3 · CASE STUDY</a:t>
            </a:r>
            <a:endParaRPr lang="en-US" sz="1250" dirty="0"/>
          </a:p>
        </p:txBody>
      </p:sp>
      <p:sp>
        <p:nvSpPr>
          <p:cNvPr id="4" name="Text 2"/>
          <p:cNvSpPr txBox="1"/>
          <p:nvPr/>
        </p:nvSpPr>
        <p:spPr>
          <a:xfrm>
            <a:off x="502920" y="658368"/>
            <a:ext cx="11155680" cy="685800"/>
          </a:xfrm>
          <a:prstGeom prst="rect">
            <a:avLst/>
          </a:prstGeom>
          <a:noFill/>
          <a:ln/>
        </p:spPr>
        <p:txBody>
          <a:bodyPr wrap="square" lIns="0" tIns="0" rIns="0" bIns="0" rtlCol="0" anchor="ctr"/>
          <a:lstStyle/>
          <a:p>
            <a:pPr indent="0" marL="0">
              <a:buNone/>
            </a:pPr>
            <a:r>
              <a:rPr lang="en-US" sz="3000" b="1" dirty="0">
                <a:solidFill>
                  <a:srgbClr val="F4F6FA"/>
                </a:solidFill>
                <a:latin typeface="Cambria" pitchFamily="34" charset="0"/>
                <a:ea typeface="Cambria" pitchFamily="34" charset="-122"/>
                <a:cs typeface="Cambria" pitchFamily="34" charset="-120"/>
              </a:rPr>
              <a:t>Detail vs. Singularity: “Use mold as default linker?”</a:t>
            </a:r>
            <a:endParaRPr lang="en-US" sz="3000" dirty="0"/>
          </a:p>
        </p:txBody>
      </p:sp>
      <p:sp>
        <p:nvSpPr>
          <p:cNvPr id="5" name="Shape 3"/>
          <p:cNvSpPr/>
          <p:nvPr/>
        </p:nvSpPr>
        <p:spPr>
          <a:xfrm>
            <a:off x="502920" y="1691640"/>
            <a:ext cx="6858000" cy="4434840"/>
          </a:xfrm>
          <a:prstGeom prst="roundRect">
            <a:avLst>
              <a:gd name="adj" fmla="val 1649"/>
            </a:avLst>
          </a:prstGeom>
          <a:solidFill>
            <a:srgbClr val="17223A"/>
          </a:solidFill>
          <a:ln w="12700">
            <a:solidFill>
              <a:srgbClr val="2B3B58"/>
            </a:solidFill>
            <a:prstDash val="solid"/>
          </a:ln>
          <a:effectLst>
            <a:outerShdw sx="100000" sy="100000" kx="0" ky="0" algn="bl" rotWithShape="0" blurRad="101600" dist="38100" dir="5400000">
              <a:srgbClr val="000000">
                <a:alpha val="35000"/>
              </a:srgbClr>
            </a:outerShdw>
          </a:effectLst>
        </p:spPr>
      </p:sp>
      <p:sp>
        <p:nvSpPr>
          <p:cNvPr id="6" name="Text 4"/>
          <p:cNvSpPr txBox="1"/>
          <p:nvPr/>
        </p:nvSpPr>
        <p:spPr>
          <a:xfrm>
            <a:off x="777240" y="1874520"/>
            <a:ext cx="6309360" cy="274320"/>
          </a:xfrm>
          <a:prstGeom prst="rect">
            <a:avLst/>
          </a:prstGeom>
          <a:noFill/>
          <a:ln/>
        </p:spPr>
        <p:txBody>
          <a:bodyPr wrap="square" lIns="0" tIns="0" rIns="0" bIns="0" rtlCol="0" anchor="ctr"/>
          <a:lstStyle/>
          <a:p>
            <a:pPr indent="0" marL="0">
              <a:buNone/>
            </a:pPr>
            <a:r>
              <a:rPr lang="en-US" sz="1050" b="1" spc="50" kern="0" dirty="0">
                <a:solidFill>
                  <a:srgbClr val="C9A227"/>
                </a:solidFill>
                <a:latin typeface="Calibri" pitchFamily="34" charset="0"/>
                <a:ea typeface="Calibri" pitchFamily="34" charset="-122"/>
                <a:cs typeface="Calibri" pitchFamily="34" charset="-120"/>
              </a:rPr>
              <a:t>ISSUE TITLE  ·  rust-lang/rust  —  DeepSeek R1, Expert Identity</a:t>
            </a:r>
            <a:endParaRPr lang="en-US" sz="1050" dirty="0"/>
          </a:p>
        </p:txBody>
      </p:sp>
      <p:sp>
        <p:nvSpPr>
          <p:cNvPr id="7" name="Text 5"/>
          <p:cNvSpPr txBox="1"/>
          <p:nvPr/>
        </p:nvSpPr>
        <p:spPr>
          <a:xfrm>
            <a:off x="777240" y="2148840"/>
            <a:ext cx="6309360" cy="457200"/>
          </a:xfrm>
          <a:prstGeom prst="rect">
            <a:avLst/>
          </a:prstGeom>
          <a:noFill/>
          <a:ln/>
        </p:spPr>
        <p:txBody>
          <a:bodyPr wrap="square" lIns="0" tIns="0" rIns="0" bIns="0" rtlCol="0" anchor="ctr"/>
          <a:lstStyle/>
          <a:p>
            <a:pPr indent="0" marL="0">
              <a:buNone/>
            </a:pPr>
            <a:r>
              <a:rPr lang="en-US" sz="1700" i="1" dirty="0">
                <a:solidFill>
                  <a:srgbClr val="F4F6FA"/>
                </a:solidFill>
                <a:latin typeface="Cambria" pitchFamily="34" charset="0"/>
                <a:ea typeface="Cambria" pitchFamily="34" charset="-122"/>
                <a:cs typeface="Cambria" pitchFamily="34" charset="-120"/>
              </a:rPr>
              <a:t>“Use mold as default linker?”</a:t>
            </a:r>
            <a:endParaRPr lang="en-US" sz="1700" dirty="0"/>
          </a:p>
        </p:txBody>
      </p:sp>
      <p:sp>
        <p:nvSpPr>
          <p:cNvPr id="8" name="Text 6"/>
          <p:cNvSpPr txBox="1"/>
          <p:nvPr/>
        </p:nvSpPr>
        <p:spPr>
          <a:xfrm>
            <a:off x="777240" y="2697480"/>
            <a:ext cx="6309360" cy="2286000"/>
          </a:xfrm>
          <a:prstGeom prst="rect">
            <a:avLst/>
          </a:prstGeom>
          <a:noFill/>
          <a:ln/>
        </p:spPr>
        <p:txBody>
          <a:bodyPr wrap="square" lIns="0" tIns="0" rIns="0" bIns="0" rtlCol="0" anchor="t"/>
          <a:lstStyle/>
          <a:p>
            <a:pPr indent="0" marL="0">
              <a:buNone/>
            </a:pPr>
            <a:r>
              <a:rPr lang="en-US" sz="1200" dirty="0">
                <a:solidFill>
                  <a:srgbClr val="F4F6FA"/>
                </a:solidFill>
                <a:latin typeface="Calibri" pitchFamily="34" charset="0"/>
                <a:ea typeface="Calibri" pitchFamily="34" charset="-122"/>
                <a:cs typeface="Calibri" pitchFamily="34" charset="-120"/>
              </a:rPr>
              <a:t>The Rust compiler (rustc) shall integrate mold as the default linker on systems where mold is supported. The build system must detect the availability of mold and automatically select it over other linkers during the linking phase, while still providing a fallback option for environments that do not support mold. This integration must include comprehensive testing to ensure performance gains and maintain correctness, as well as documentation and configuration options that allow users to override the default behavior if necessary.</a:t>
            </a:r>
            <a:endParaRPr lang="en-US" sz="1200" dirty="0"/>
          </a:p>
        </p:txBody>
      </p:sp>
      <p:sp>
        <p:nvSpPr>
          <p:cNvPr id="9" name="Shape 7"/>
          <p:cNvSpPr/>
          <p:nvPr/>
        </p:nvSpPr>
        <p:spPr>
          <a:xfrm>
            <a:off x="777240" y="5074920"/>
            <a:ext cx="6309360" cy="0"/>
          </a:xfrm>
          <a:prstGeom prst="line">
            <a:avLst/>
          </a:prstGeom>
          <a:noFill/>
          <a:ln w="12700">
            <a:solidFill>
              <a:srgbClr val="2B3B58"/>
            </a:solidFill>
            <a:prstDash val="solid"/>
          </a:ln>
        </p:spPr>
      </p:sp>
      <p:sp>
        <p:nvSpPr>
          <p:cNvPr id="10" name="Text 8"/>
          <p:cNvSpPr txBox="1"/>
          <p:nvPr/>
        </p:nvSpPr>
        <p:spPr>
          <a:xfrm>
            <a:off x="777240" y="5212080"/>
            <a:ext cx="6309360" cy="777240"/>
          </a:xfrm>
          <a:prstGeom prst="rect">
            <a:avLst/>
          </a:prstGeom>
          <a:noFill/>
          <a:ln/>
        </p:spPr>
        <p:txBody>
          <a:bodyPr wrap="square" lIns="0" tIns="0" rIns="0" bIns="0" rtlCol="0" anchor="ctr"/>
          <a:lstStyle/>
          <a:p>
            <a:pPr indent="0" marL="0">
              <a:buNone/>
            </a:pPr>
            <a:r>
              <a:rPr lang="en-US" sz="1150" i="1" dirty="0">
                <a:solidFill>
                  <a:srgbClr val="9FB0C7"/>
                </a:solidFill>
                <a:latin typeface="Calibri" pitchFamily="34" charset="0"/>
                <a:ea typeface="Calibri" pitchFamily="34" charset="-122"/>
                <a:cs typeface="Calibri" pitchFamily="34" charset="-120"/>
              </a:rPr>
              <a:t>Six distinct facets — detection, selection, fallback, testing, documentation, configuration — bundled into one statement.</a:t>
            </a:r>
            <a:endParaRPr lang="en-US" sz="1150" dirty="0"/>
          </a:p>
        </p:txBody>
      </p:sp>
      <p:sp>
        <p:nvSpPr>
          <p:cNvPr id="11" name="Shape 9"/>
          <p:cNvSpPr/>
          <p:nvPr/>
        </p:nvSpPr>
        <p:spPr>
          <a:xfrm>
            <a:off x="7589520" y="1691640"/>
            <a:ext cx="4069080" cy="4434840"/>
          </a:xfrm>
          <a:prstGeom prst="roundRect">
            <a:avLst>
              <a:gd name="adj" fmla="val 1798"/>
            </a:avLst>
          </a:prstGeom>
          <a:solidFill>
            <a:srgbClr val="1D2C48"/>
          </a:solidFill>
          <a:ln w="12700">
            <a:solidFill>
              <a:srgbClr val="2B3B58"/>
            </a:solidFill>
            <a:prstDash val="solid"/>
          </a:ln>
          <a:effectLst>
            <a:outerShdw sx="100000" sy="100000" kx="0" ky="0" algn="bl" rotWithShape="0" blurRad="101600" dist="38100" dir="5400000">
              <a:srgbClr val="000000">
                <a:alpha val="35000"/>
              </a:srgbClr>
            </a:outerShdw>
          </a:effectLst>
        </p:spPr>
      </p:sp>
      <p:sp>
        <p:nvSpPr>
          <p:cNvPr id="12" name="Text 10"/>
          <p:cNvSpPr txBox="1"/>
          <p:nvPr/>
        </p:nvSpPr>
        <p:spPr>
          <a:xfrm>
            <a:off x="7863840" y="1874520"/>
            <a:ext cx="3520440" cy="274320"/>
          </a:xfrm>
          <a:prstGeom prst="rect">
            <a:avLst/>
          </a:prstGeom>
          <a:noFill/>
          <a:ln/>
        </p:spPr>
        <p:txBody>
          <a:bodyPr wrap="square" lIns="0" tIns="0" rIns="0" bIns="0" rtlCol="0" anchor="ctr"/>
          <a:lstStyle/>
          <a:p>
            <a:pPr indent="0" marL="0">
              <a:buNone/>
            </a:pPr>
            <a:r>
              <a:rPr lang="en-US" sz="1100" b="1" spc="150" kern="0" dirty="0">
                <a:solidFill>
                  <a:srgbClr val="C9A227"/>
                </a:solidFill>
                <a:latin typeface="Calibri" pitchFamily="34" charset="0"/>
                <a:ea typeface="Calibri" pitchFamily="34" charset="-122"/>
                <a:cs typeface="Calibri" pitchFamily="34" charset="-120"/>
              </a:rPr>
              <a:t>JUDGE SCORES</a:t>
            </a:r>
            <a:endParaRPr lang="en-US" sz="1100" dirty="0"/>
          </a:p>
        </p:txBody>
      </p:sp>
      <p:sp>
        <p:nvSpPr>
          <p:cNvPr id="13" name="Text 11"/>
          <p:cNvSpPr txBox="1"/>
          <p:nvPr/>
        </p:nvSpPr>
        <p:spPr>
          <a:xfrm>
            <a:off x="7863840" y="2240280"/>
            <a:ext cx="2194560" cy="365760"/>
          </a:xfrm>
          <a:prstGeom prst="rect">
            <a:avLst/>
          </a:prstGeom>
          <a:noFill/>
          <a:ln/>
        </p:spPr>
        <p:txBody>
          <a:bodyPr wrap="square" lIns="0" tIns="0" rIns="0" bIns="0" rtlCol="0" anchor="ctr"/>
          <a:lstStyle/>
          <a:p>
            <a:pPr indent="0" marL="0">
              <a:buNone/>
            </a:pPr>
            <a:r>
              <a:rPr lang="en-US" sz="1350" dirty="0">
                <a:solidFill>
                  <a:srgbClr val="F4F6FA"/>
                </a:solidFill>
                <a:latin typeface="Calibri" pitchFamily="34" charset="0"/>
                <a:ea typeface="Calibri" pitchFamily="34" charset="-122"/>
                <a:cs typeface="Calibri" pitchFamily="34" charset="-120"/>
              </a:rPr>
              <a:t>Unambiguity</a:t>
            </a:r>
            <a:endParaRPr lang="en-US" sz="1350" dirty="0"/>
          </a:p>
        </p:txBody>
      </p:sp>
      <p:sp>
        <p:nvSpPr>
          <p:cNvPr id="14" name="Shape 12"/>
          <p:cNvSpPr/>
          <p:nvPr/>
        </p:nvSpPr>
        <p:spPr>
          <a:xfrm>
            <a:off x="7863840" y="2624328"/>
            <a:ext cx="3246120" cy="128016"/>
          </a:xfrm>
          <a:prstGeom prst="rect">
            <a:avLst/>
          </a:prstGeom>
          <a:solidFill>
            <a:srgbClr val="0E1830"/>
          </a:solidFill>
          <a:ln/>
        </p:spPr>
      </p:sp>
      <p:sp>
        <p:nvSpPr>
          <p:cNvPr id="15" name="Shape 13"/>
          <p:cNvSpPr/>
          <p:nvPr/>
        </p:nvSpPr>
        <p:spPr>
          <a:xfrm>
            <a:off x="7863840" y="2624328"/>
            <a:ext cx="2596896" cy="128016"/>
          </a:xfrm>
          <a:prstGeom prst="rect">
            <a:avLst/>
          </a:prstGeom>
          <a:solidFill>
            <a:srgbClr val="C9A227"/>
          </a:solidFill>
          <a:ln/>
        </p:spPr>
      </p:sp>
      <p:sp>
        <p:nvSpPr>
          <p:cNvPr id="16" name="Text 14"/>
          <p:cNvSpPr txBox="1"/>
          <p:nvPr/>
        </p:nvSpPr>
        <p:spPr>
          <a:xfrm>
            <a:off x="10332720" y="2221992"/>
            <a:ext cx="1280160" cy="365760"/>
          </a:xfrm>
          <a:prstGeom prst="rect">
            <a:avLst/>
          </a:prstGeom>
          <a:noFill/>
          <a:ln/>
        </p:spPr>
        <p:txBody>
          <a:bodyPr wrap="square" lIns="0" tIns="0" rIns="0" bIns="0" rtlCol="0" anchor="ctr"/>
          <a:lstStyle/>
          <a:p>
            <a:pPr algn="r" indent="0" marL="0">
              <a:buNone/>
            </a:pPr>
            <a:r>
              <a:rPr lang="en-US" sz="1500" b="1" dirty="0">
                <a:solidFill>
                  <a:srgbClr val="C9A227"/>
                </a:solidFill>
                <a:latin typeface="Cambria" pitchFamily="34" charset="0"/>
                <a:ea typeface="Cambria" pitchFamily="34" charset="-122"/>
                <a:cs typeface="Cambria" pitchFamily="34" charset="-120"/>
              </a:rPr>
              <a:t>4 / 5</a:t>
            </a:r>
            <a:endParaRPr lang="en-US" sz="1500" dirty="0"/>
          </a:p>
        </p:txBody>
      </p:sp>
      <p:sp>
        <p:nvSpPr>
          <p:cNvPr id="17" name="Text 15"/>
          <p:cNvSpPr txBox="1"/>
          <p:nvPr/>
        </p:nvSpPr>
        <p:spPr>
          <a:xfrm>
            <a:off x="7863840" y="3017520"/>
            <a:ext cx="2194560" cy="365760"/>
          </a:xfrm>
          <a:prstGeom prst="rect">
            <a:avLst/>
          </a:prstGeom>
          <a:noFill/>
          <a:ln/>
        </p:spPr>
        <p:txBody>
          <a:bodyPr wrap="square" lIns="0" tIns="0" rIns="0" bIns="0" rtlCol="0" anchor="ctr"/>
          <a:lstStyle/>
          <a:p>
            <a:pPr indent="0" marL="0">
              <a:buNone/>
            </a:pPr>
            <a:r>
              <a:rPr lang="en-US" sz="1350" dirty="0">
                <a:solidFill>
                  <a:srgbClr val="F4F6FA"/>
                </a:solidFill>
                <a:latin typeface="Calibri" pitchFamily="34" charset="0"/>
                <a:ea typeface="Calibri" pitchFamily="34" charset="-122"/>
                <a:cs typeface="Calibri" pitchFamily="34" charset="-120"/>
              </a:rPr>
              <a:t>Verifiability</a:t>
            </a:r>
            <a:endParaRPr lang="en-US" sz="1350" dirty="0"/>
          </a:p>
        </p:txBody>
      </p:sp>
      <p:sp>
        <p:nvSpPr>
          <p:cNvPr id="18" name="Shape 16"/>
          <p:cNvSpPr/>
          <p:nvPr/>
        </p:nvSpPr>
        <p:spPr>
          <a:xfrm>
            <a:off x="7863840" y="3401568"/>
            <a:ext cx="3246120" cy="128016"/>
          </a:xfrm>
          <a:prstGeom prst="rect">
            <a:avLst/>
          </a:prstGeom>
          <a:solidFill>
            <a:srgbClr val="0E1830"/>
          </a:solidFill>
          <a:ln/>
        </p:spPr>
      </p:sp>
      <p:sp>
        <p:nvSpPr>
          <p:cNvPr id="19" name="Shape 17"/>
          <p:cNvSpPr/>
          <p:nvPr/>
        </p:nvSpPr>
        <p:spPr>
          <a:xfrm>
            <a:off x="7863840" y="3401568"/>
            <a:ext cx="3246120" cy="128016"/>
          </a:xfrm>
          <a:prstGeom prst="rect">
            <a:avLst/>
          </a:prstGeom>
          <a:solidFill>
            <a:srgbClr val="4FA8A0"/>
          </a:solidFill>
          <a:ln/>
        </p:spPr>
      </p:sp>
      <p:sp>
        <p:nvSpPr>
          <p:cNvPr id="20" name="Text 18"/>
          <p:cNvSpPr txBox="1"/>
          <p:nvPr/>
        </p:nvSpPr>
        <p:spPr>
          <a:xfrm>
            <a:off x="10332720" y="2999232"/>
            <a:ext cx="1280160" cy="365760"/>
          </a:xfrm>
          <a:prstGeom prst="rect">
            <a:avLst/>
          </a:prstGeom>
          <a:noFill/>
          <a:ln/>
        </p:spPr>
        <p:txBody>
          <a:bodyPr wrap="square" lIns="0" tIns="0" rIns="0" bIns="0" rtlCol="0" anchor="ctr"/>
          <a:lstStyle/>
          <a:p>
            <a:pPr algn="r" indent="0" marL="0">
              <a:buNone/>
            </a:pPr>
            <a:r>
              <a:rPr lang="en-US" sz="1500" b="1" dirty="0">
                <a:solidFill>
                  <a:srgbClr val="4FA8A0"/>
                </a:solidFill>
                <a:latin typeface="Cambria" pitchFamily="34" charset="0"/>
                <a:ea typeface="Cambria" pitchFamily="34" charset="-122"/>
                <a:cs typeface="Cambria" pitchFamily="34" charset="-120"/>
              </a:rPr>
              <a:t>5 / 5</a:t>
            </a:r>
            <a:endParaRPr lang="en-US" sz="1500" dirty="0"/>
          </a:p>
        </p:txBody>
      </p:sp>
      <p:sp>
        <p:nvSpPr>
          <p:cNvPr id="21" name="Text 19"/>
          <p:cNvSpPr txBox="1"/>
          <p:nvPr/>
        </p:nvSpPr>
        <p:spPr>
          <a:xfrm>
            <a:off x="7863840" y="3794760"/>
            <a:ext cx="2194560" cy="365760"/>
          </a:xfrm>
          <a:prstGeom prst="rect">
            <a:avLst/>
          </a:prstGeom>
          <a:noFill/>
          <a:ln/>
        </p:spPr>
        <p:txBody>
          <a:bodyPr wrap="square" lIns="0" tIns="0" rIns="0" bIns="0" rtlCol="0" anchor="ctr"/>
          <a:lstStyle/>
          <a:p>
            <a:pPr indent="0" marL="0">
              <a:buNone/>
            </a:pPr>
            <a:r>
              <a:rPr lang="en-US" sz="1350" dirty="0">
                <a:solidFill>
                  <a:srgbClr val="F4F6FA"/>
                </a:solidFill>
                <a:latin typeface="Calibri" pitchFamily="34" charset="0"/>
                <a:ea typeface="Calibri" pitchFamily="34" charset="-122"/>
                <a:cs typeface="Calibri" pitchFamily="34" charset="-120"/>
              </a:rPr>
              <a:t>Singularity</a:t>
            </a:r>
            <a:endParaRPr lang="en-US" sz="1350" dirty="0"/>
          </a:p>
        </p:txBody>
      </p:sp>
      <p:sp>
        <p:nvSpPr>
          <p:cNvPr id="22" name="Shape 20"/>
          <p:cNvSpPr/>
          <p:nvPr/>
        </p:nvSpPr>
        <p:spPr>
          <a:xfrm>
            <a:off x="7863840" y="4178808"/>
            <a:ext cx="3246120" cy="128016"/>
          </a:xfrm>
          <a:prstGeom prst="rect">
            <a:avLst/>
          </a:prstGeom>
          <a:solidFill>
            <a:srgbClr val="0E1830"/>
          </a:solidFill>
          <a:ln/>
        </p:spPr>
      </p:sp>
      <p:sp>
        <p:nvSpPr>
          <p:cNvPr id="23" name="Shape 21"/>
          <p:cNvSpPr/>
          <p:nvPr/>
        </p:nvSpPr>
        <p:spPr>
          <a:xfrm>
            <a:off x="7863840" y="4178808"/>
            <a:ext cx="1298448" cy="128016"/>
          </a:xfrm>
          <a:prstGeom prst="rect">
            <a:avLst/>
          </a:prstGeom>
          <a:solidFill>
            <a:srgbClr val="B0564B"/>
          </a:solidFill>
          <a:ln/>
        </p:spPr>
      </p:sp>
      <p:sp>
        <p:nvSpPr>
          <p:cNvPr id="24" name="Text 22"/>
          <p:cNvSpPr txBox="1"/>
          <p:nvPr/>
        </p:nvSpPr>
        <p:spPr>
          <a:xfrm>
            <a:off x="10332720" y="3776472"/>
            <a:ext cx="1280160" cy="365760"/>
          </a:xfrm>
          <a:prstGeom prst="rect">
            <a:avLst/>
          </a:prstGeom>
          <a:noFill/>
          <a:ln/>
        </p:spPr>
        <p:txBody>
          <a:bodyPr wrap="square" lIns="0" tIns="0" rIns="0" bIns="0" rtlCol="0" anchor="ctr"/>
          <a:lstStyle/>
          <a:p>
            <a:pPr algn="r" indent="0" marL="0">
              <a:buNone/>
            </a:pPr>
            <a:r>
              <a:rPr lang="en-US" sz="1500" b="1" dirty="0">
                <a:solidFill>
                  <a:srgbClr val="B0564B"/>
                </a:solidFill>
                <a:latin typeface="Cambria" pitchFamily="34" charset="0"/>
                <a:ea typeface="Cambria" pitchFamily="34" charset="-122"/>
                <a:cs typeface="Cambria" pitchFamily="34" charset="-120"/>
              </a:rPr>
              <a:t>2 / 5</a:t>
            </a:r>
            <a:endParaRPr lang="en-US" sz="1500" dirty="0"/>
          </a:p>
        </p:txBody>
      </p:sp>
      <p:sp>
        <p:nvSpPr>
          <p:cNvPr id="25" name="Shape 23"/>
          <p:cNvSpPr/>
          <p:nvPr/>
        </p:nvSpPr>
        <p:spPr>
          <a:xfrm>
            <a:off x="7863840" y="4617720"/>
            <a:ext cx="3520440" cy="0"/>
          </a:xfrm>
          <a:prstGeom prst="line">
            <a:avLst/>
          </a:prstGeom>
          <a:noFill/>
          <a:ln w="12700">
            <a:solidFill>
              <a:srgbClr val="2B3B58"/>
            </a:solidFill>
            <a:prstDash val="solid"/>
          </a:ln>
        </p:spPr>
      </p:sp>
      <p:sp>
        <p:nvSpPr>
          <p:cNvPr id="26" name="Text 24"/>
          <p:cNvSpPr txBox="1"/>
          <p:nvPr/>
        </p:nvSpPr>
        <p:spPr>
          <a:xfrm>
            <a:off x="7863840" y="4800600"/>
            <a:ext cx="3520440" cy="1920240"/>
          </a:xfrm>
          <a:prstGeom prst="rect">
            <a:avLst/>
          </a:prstGeom>
          <a:noFill/>
          <a:ln/>
        </p:spPr>
        <p:txBody>
          <a:bodyPr wrap="square" lIns="0" tIns="0" rIns="0" bIns="0" rtlCol="0" anchor="t"/>
          <a:lstStyle/>
          <a:p>
            <a:pPr indent="0" marL="0">
              <a:buNone/>
            </a:pPr>
            <a:r>
              <a:rPr lang="en-US" sz="1250" dirty="0">
                <a:solidFill>
                  <a:srgbClr val="F4F6FA"/>
                </a:solidFill>
                <a:latin typeface="Calibri" pitchFamily="34" charset="0"/>
                <a:ea typeface="Calibri" pitchFamily="34" charset="-122"/>
                <a:cs typeface="Calibri" pitchFamily="34" charset="-120"/>
              </a:rPr>
              <a:t>The Expert prompt asks the model to be “complete and actionable.” Facing a complex title, it bundles related sub-features into one statement — raising Verifiability while directly violating Singularity.</a:t>
            </a:r>
            <a:endParaRPr lang="en-US" sz="1250" dirty="0"/>
          </a:p>
        </p:txBody>
      </p:sp>
      <p:sp>
        <p:nvSpPr>
          <p:cNvPr id="27" name="Text 25"/>
          <p:cNvSpPr txBox="1"/>
          <p:nvPr/>
        </p:nvSpPr>
        <p:spPr>
          <a:xfrm>
            <a:off x="502920" y="6547104"/>
            <a:ext cx="7772400" cy="256032"/>
          </a:xfrm>
          <a:prstGeom prst="rect">
            <a:avLst/>
          </a:prstGeom>
          <a:noFill/>
          <a:ln/>
        </p:spPr>
        <p:txBody>
          <a:bodyPr wrap="square" lIns="0" tIns="0" rIns="0" bIns="0" rtlCol="0" anchor="ctr"/>
          <a:lstStyle/>
          <a:p>
            <a:pPr algn="l" indent="0" marL="0">
              <a:buNone/>
            </a:pPr>
            <a:r>
              <a:rPr lang="en-US" sz="900" dirty="0">
                <a:solidFill>
                  <a:srgbClr val="748199"/>
                </a:solidFill>
                <a:latin typeface="Calibri" pitchFamily="34" charset="0"/>
                <a:ea typeface="Calibri" pitchFamily="34" charset="-122"/>
                <a:cs typeface="Calibri" pitchFamily="34" charset="-120"/>
              </a:rPr>
              <a:t>Requirements Engineering (2026) 31:7  •  Paiva, Canedo &amp; Rocha Filho</a:t>
            </a:r>
            <a:endParaRPr lang="en-US" sz="900" dirty="0"/>
          </a:p>
        </p:txBody>
      </p:sp>
      <p:sp>
        <p:nvSpPr>
          <p:cNvPr id="28" name="Text 26"/>
          <p:cNvSpPr txBox="1"/>
          <p:nvPr/>
        </p:nvSpPr>
        <p:spPr>
          <a:xfrm>
            <a:off x="10972800" y="6547104"/>
            <a:ext cx="731520" cy="256032"/>
          </a:xfrm>
          <a:prstGeom prst="rect">
            <a:avLst/>
          </a:prstGeom>
          <a:noFill/>
          <a:ln/>
        </p:spPr>
        <p:txBody>
          <a:bodyPr wrap="square" lIns="0" tIns="0" rIns="0" bIns="0" rtlCol="0" anchor="ctr"/>
          <a:lstStyle/>
          <a:p>
            <a:pPr algn="r" indent="0" marL="0">
              <a:buNone/>
            </a:pPr>
            <a:r>
              <a:rPr lang="en-US" sz="900" dirty="0">
                <a:solidFill>
                  <a:srgbClr val="748199"/>
                </a:solidFill>
                <a:latin typeface="Calibri" pitchFamily="34" charset="0"/>
                <a:ea typeface="Calibri" pitchFamily="34" charset="-122"/>
                <a:cs typeface="Calibri" pitchFamily="34" charset="-120"/>
              </a:rPr>
              <a:t>16 / 20</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D1321"/>
        </a:solidFill>
      </p:bgPr>
    </p:bg>
    <p:spTree>
      <p:nvGrpSpPr>
        <p:cNvPr id="1" name=""/>
        <p:cNvGrpSpPr/>
        <p:nvPr/>
      </p:nvGrpSpPr>
      <p:grpSpPr>
        <a:xfrm>
          <a:off x="0" y="0"/>
          <a:ext cx="0" cy="0"/>
          <a:chOff x="0" y="0"/>
          <a:chExt cx="0" cy="0"/>
        </a:xfrm>
      </p:grpSpPr>
      <p:sp>
        <p:nvSpPr>
          <p:cNvPr id="2" name="Shape 0"/>
          <p:cNvSpPr/>
          <p:nvPr/>
        </p:nvSpPr>
        <p:spPr>
          <a:xfrm>
            <a:off x="502920" y="457200"/>
            <a:ext cx="128016" cy="128016"/>
          </a:xfrm>
          <a:prstGeom prst="rect">
            <a:avLst/>
          </a:prstGeom>
          <a:solidFill>
            <a:srgbClr val="C9A227"/>
          </a:solidFill>
          <a:ln/>
        </p:spPr>
      </p:sp>
      <p:sp>
        <p:nvSpPr>
          <p:cNvPr id="3" name="Text 1"/>
          <p:cNvSpPr txBox="1"/>
          <p:nvPr/>
        </p:nvSpPr>
        <p:spPr>
          <a:xfrm>
            <a:off x="749808" y="347472"/>
            <a:ext cx="9144000" cy="292608"/>
          </a:xfrm>
          <a:prstGeom prst="rect">
            <a:avLst/>
          </a:prstGeom>
          <a:noFill/>
          <a:ln/>
        </p:spPr>
        <p:txBody>
          <a:bodyPr wrap="square" lIns="0" tIns="0" rIns="0" bIns="0" rtlCol="0" anchor="ctr"/>
          <a:lstStyle/>
          <a:p>
            <a:pPr indent="0" marL="0">
              <a:buNone/>
            </a:pPr>
            <a:r>
              <a:rPr lang="en-US" sz="1250" b="1" spc="200" kern="0" dirty="0">
                <a:solidFill>
                  <a:srgbClr val="C9A227"/>
                </a:solidFill>
                <a:latin typeface="Calibri" pitchFamily="34" charset="0"/>
                <a:ea typeface="Calibri" pitchFamily="34" charset="-122"/>
                <a:cs typeface="Calibri" pitchFamily="34" charset="-120"/>
              </a:rPr>
              <a:t>ADDITIONAL FINDINGS</a:t>
            </a:r>
            <a:endParaRPr lang="en-US" sz="1250" dirty="0"/>
          </a:p>
        </p:txBody>
      </p:sp>
      <p:sp>
        <p:nvSpPr>
          <p:cNvPr id="4" name="Text 2"/>
          <p:cNvSpPr txBox="1"/>
          <p:nvPr/>
        </p:nvSpPr>
        <p:spPr>
          <a:xfrm>
            <a:off x="502920" y="658368"/>
            <a:ext cx="11155680" cy="685800"/>
          </a:xfrm>
          <a:prstGeom prst="rect">
            <a:avLst/>
          </a:prstGeom>
          <a:noFill/>
          <a:ln/>
        </p:spPr>
        <p:txBody>
          <a:bodyPr wrap="square" lIns="0" tIns="0" rIns="0" bIns="0" rtlCol="0" anchor="ctr"/>
          <a:lstStyle/>
          <a:p>
            <a:pPr indent="0" marL="0">
              <a:buNone/>
            </a:pPr>
            <a:r>
              <a:rPr lang="en-US" sz="3000" b="1" dirty="0">
                <a:solidFill>
                  <a:srgbClr val="F4F6FA"/>
                </a:solidFill>
                <a:latin typeface="Cambria" pitchFamily="34" charset="0"/>
                <a:ea typeface="Cambria" pitchFamily="34" charset="-122"/>
                <a:cs typeface="Cambria" pitchFamily="34" charset="-120"/>
              </a:rPr>
              <a:t>Correlation Between Quality Metrics</a:t>
            </a:r>
            <a:endParaRPr lang="en-US" sz="3000" dirty="0"/>
          </a:p>
        </p:txBody>
      </p:sp>
      <p:sp>
        <p:nvSpPr>
          <p:cNvPr id="5" name="Text 3"/>
          <p:cNvSpPr txBox="1"/>
          <p:nvPr/>
        </p:nvSpPr>
        <p:spPr>
          <a:xfrm>
            <a:off x="2240280" y="1783080"/>
            <a:ext cx="1371600" cy="502920"/>
          </a:xfrm>
          <a:prstGeom prst="rect">
            <a:avLst/>
          </a:prstGeom>
          <a:noFill/>
          <a:ln/>
        </p:spPr>
        <p:txBody>
          <a:bodyPr wrap="square" lIns="0" tIns="0" rIns="0" bIns="0" rtlCol="0" anchor="ctr"/>
          <a:lstStyle/>
          <a:p>
            <a:pPr algn="ctr" indent="0" marL="0">
              <a:buNone/>
            </a:pPr>
            <a:r>
              <a:rPr lang="en-US" sz="1150" b="1" dirty="0">
                <a:solidFill>
                  <a:srgbClr val="9FB0C7"/>
                </a:solidFill>
                <a:latin typeface="Calibri" pitchFamily="34" charset="0"/>
                <a:ea typeface="Calibri" pitchFamily="34" charset="-122"/>
                <a:cs typeface="Calibri" pitchFamily="34" charset="-120"/>
              </a:rPr>
              <a:t>Unambiguity</a:t>
            </a:r>
            <a:endParaRPr lang="en-US" sz="1150" dirty="0"/>
          </a:p>
        </p:txBody>
      </p:sp>
      <p:sp>
        <p:nvSpPr>
          <p:cNvPr id="6" name="Text 4"/>
          <p:cNvSpPr txBox="1"/>
          <p:nvPr/>
        </p:nvSpPr>
        <p:spPr>
          <a:xfrm>
            <a:off x="3657600" y="1783080"/>
            <a:ext cx="1371600" cy="502920"/>
          </a:xfrm>
          <a:prstGeom prst="rect">
            <a:avLst/>
          </a:prstGeom>
          <a:noFill/>
          <a:ln/>
        </p:spPr>
        <p:txBody>
          <a:bodyPr wrap="square" lIns="0" tIns="0" rIns="0" bIns="0" rtlCol="0" anchor="ctr"/>
          <a:lstStyle/>
          <a:p>
            <a:pPr algn="ctr" indent="0" marL="0">
              <a:buNone/>
            </a:pPr>
            <a:r>
              <a:rPr lang="en-US" sz="1150" b="1" dirty="0">
                <a:solidFill>
                  <a:srgbClr val="9FB0C7"/>
                </a:solidFill>
                <a:latin typeface="Calibri" pitchFamily="34" charset="0"/>
                <a:ea typeface="Calibri" pitchFamily="34" charset="-122"/>
                <a:cs typeface="Calibri" pitchFamily="34" charset="-120"/>
              </a:rPr>
              <a:t>Verifiability</a:t>
            </a:r>
            <a:endParaRPr lang="en-US" sz="1150" dirty="0"/>
          </a:p>
        </p:txBody>
      </p:sp>
      <p:sp>
        <p:nvSpPr>
          <p:cNvPr id="7" name="Text 5"/>
          <p:cNvSpPr txBox="1"/>
          <p:nvPr/>
        </p:nvSpPr>
        <p:spPr>
          <a:xfrm>
            <a:off x="5074920" y="1783080"/>
            <a:ext cx="1371600" cy="502920"/>
          </a:xfrm>
          <a:prstGeom prst="rect">
            <a:avLst/>
          </a:prstGeom>
          <a:noFill/>
          <a:ln/>
        </p:spPr>
        <p:txBody>
          <a:bodyPr wrap="square" lIns="0" tIns="0" rIns="0" bIns="0" rtlCol="0" anchor="ctr"/>
          <a:lstStyle/>
          <a:p>
            <a:pPr algn="ctr" indent="0" marL="0">
              <a:buNone/>
            </a:pPr>
            <a:r>
              <a:rPr lang="en-US" sz="1150" b="1" dirty="0">
                <a:solidFill>
                  <a:srgbClr val="9FB0C7"/>
                </a:solidFill>
                <a:latin typeface="Calibri" pitchFamily="34" charset="0"/>
                <a:ea typeface="Calibri" pitchFamily="34" charset="-122"/>
                <a:cs typeface="Calibri" pitchFamily="34" charset="-120"/>
              </a:rPr>
              <a:t>Singularity</a:t>
            </a:r>
            <a:endParaRPr lang="en-US" sz="1150" dirty="0"/>
          </a:p>
        </p:txBody>
      </p:sp>
      <p:sp>
        <p:nvSpPr>
          <p:cNvPr id="8" name="Text 6"/>
          <p:cNvSpPr txBox="1"/>
          <p:nvPr/>
        </p:nvSpPr>
        <p:spPr>
          <a:xfrm>
            <a:off x="502920" y="2286000"/>
            <a:ext cx="1645920" cy="1371600"/>
          </a:xfrm>
          <a:prstGeom prst="rect">
            <a:avLst/>
          </a:prstGeom>
          <a:noFill/>
          <a:ln/>
        </p:spPr>
        <p:txBody>
          <a:bodyPr wrap="square" lIns="0" tIns="0" rIns="0" bIns="0" rtlCol="0" anchor="ctr"/>
          <a:lstStyle/>
          <a:p>
            <a:pPr indent="0" marL="0">
              <a:buNone/>
            </a:pPr>
            <a:r>
              <a:rPr lang="en-US" sz="1150" b="1" dirty="0">
                <a:solidFill>
                  <a:srgbClr val="9FB0C7"/>
                </a:solidFill>
                <a:latin typeface="Calibri" pitchFamily="34" charset="0"/>
                <a:ea typeface="Calibri" pitchFamily="34" charset="-122"/>
                <a:cs typeface="Calibri" pitchFamily="34" charset="-120"/>
              </a:rPr>
              <a:t>Unambiguity</a:t>
            </a:r>
            <a:endParaRPr lang="en-US" sz="1150" dirty="0"/>
          </a:p>
        </p:txBody>
      </p:sp>
      <p:sp>
        <p:nvSpPr>
          <p:cNvPr id="9" name="Shape 7"/>
          <p:cNvSpPr/>
          <p:nvPr/>
        </p:nvSpPr>
        <p:spPr>
          <a:xfrm>
            <a:off x="2240280" y="2286000"/>
            <a:ext cx="1362456" cy="1362456"/>
          </a:xfrm>
          <a:prstGeom prst="rect">
            <a:avLst/>
          </a:prstGeom>
          <a:solidFill>
            <a:srgbClr val="C9A227"/>
          </a:solidFill>
          <a:ln w="25400">
            <a:solidFill>
              <a:srgbClr val="0D1321"/>
            </a:solidFill>
            <a:prstDash val="solid"/>
          </a:ln>
        </p:spPr>
      </p:sp>
      <p:sp>
        <p:nvSpPr>
          <p:cNvPr id="10" name="Text 8"/>
          <p:cNvSpPr txBox="1"/>
          <p:nvPr/>
        </p:nvSpPr>
        <p:spPr>
          <a:xfrm>
            <a:off x="2240280" y="2286000"/>
            <a:ext cx="1362456" cy="1362456"/>
          </a:xfrm>
          <a:prstGeom prst="rect">
            <a:avLst/>
          </a:prstGeom>
          <a:noFill/>
          <a:ln/>
        </p:spPr>
        <p:txBody>
          <a:bodyPr wrap="square" lIns="0" tIns="0" rIns="0" bIns="0" rtlCol="0" anchor="ctr"/>
          <a:lstStyle/>
          <a:p>
            <a:pPr algn="ctr" indent="0" marL="0">
              <a:buNone/>
            </a:pPr>
            <a:r>
              <a:rPr lang="en-US" sz="1700" b="1" dirty="0">
                <a:solidFill>
                  <a:srgbClr val="1A1400"/>
                </a:solidFill>
                <a:latin typeface="Cambria" pitchFamily="34" charset="0"/>
                <a:ea typeface="Cambria" pitchFamily="34" charset="-122"/>
                <a:cs typeface="Cambria" pitchFamily="34" charset="-120"/>
              </a:rPr>
              <a:t>1.00</a:t>
            </a:r>
            <a:endParaRPr lang="en-US" sz="1700" dirty="0"/>
          </a:p>
        </p:txBody>
      </p:sp>
      <p:sp>
        <p:nvSpPr>
          <p:cNvPr id="11" name="Shape 9"/>
          <p:cNvSpPr/>
          <p:nvPr/>
        </p:nvSpPr>
        <p:spPr>
          <a:xfrm>
            <a:off x="3657600" y="2286000"/>
            <a:ext cx="1362456" cy="1362456"/>
          </a:xfrm>
          <a:prstGeom prst="rect">
            <a:avLst/>
          </a:prstGeom>
          <a:solidFill>
            <a:srgbClr val="947D31"/>
          </a:solidFill>
          <a:ln w="25400">
            <a:solidFill>
              <a:srgbClr val="0D1321"/>
            </a:solidFill>
            <a:prstDash val="solid"/>
          </a:ln>
        </p:spPr>
      </p:sp>
      <p:sp>
        <p:nvSpPr>
          <p:cNvPr id="12" name="Text 10"/>
          <p:cNvSpPr txBox="1"/>
          <p:nvPr/>
        </p:nvSpPr>
        <p:spPr>
          <a:xfrm>
            <a:off x="3657600" y="2286000"/>
            <a:ext cx="1362456" cy="1362456"/>
          </a:xfrm>
          <a:prstGeom prst="rect">
            <a:avLst/>
          </a:prstGeom>
          <a:noFill/>
          <a:ln/>
        </p:spPr>
        <p:txBody>
          <a:bodyPr wrap="square" lIns="0" tIns="0" rIns="0" bIns="0" rtlCol="0" anchor="ctr"/>
          <a:lstStyle/>
          <a:p>
            <a:pPr algn="ctr" indent="0" marL="0">
              <a:buNone/>
            </a:pPr>
            <a:r>
              <a:rPr lang="en-US" sz="1700" b="1" dirty="0">
                <a:solidFill>
                  <a:srgbClr val="1A1400"/>
                </a:solidFill>
                <a:latin typeface="Cambria" pitchFamily="34" charset="0"/>
                <a:ea typeface="Cambria" pitchFamily="34" charset="-122"/>
                <a:cs typeface="Cambria" pitchFamily="34" charset="-120"/>
              </a:rPr>
              <a:t>0.69</a:t>
            </a:r>
            <a:endParaRPr lang="en-US" sz="1700" dirty="0"/>
          </a:p>
        </p:txBody>
      </p:sp>
      <p:sp>
        <p:nvSpPr>
          <p:cNvPr id="13" name="Shape 11"/>
          <p:cNvSpPr/>
          <p:nvPr/>
        </p:nvSpPr>
        <p:spPr>
          <a:xfrm>
            <a:off x="5074920" y="2286000"/>
            <a:ext cx="1362456" cy="1362456"/>
          </a:xfrm>
          <a:prstGeom prst="rect">
            <a:avLst/>
          </a:prstGeom>
          <a:solidFill>
            <a:srgbClr val="5D583C"/>
          </a:solidFill>
          <a:ln w="25400">
            <a:solidFill>
              <a:srgbClr val="0D1321"/>
            </a:solidFill>
            <a:prstDash val="solid"/>
          </a:ln>
        </p:spPr>
      </p:sp>
      <p:sp>
        <p:nvSpPr>
          <p:cNvPr id="14" name="Text 12"/>
          <p:cNvSpPr txBox="1"/>
          <p:nvPr/>
        </p:nvSpPr>
        <p:spPr>
          <a:xfrm>
            <a:off x="5074920" y="2286000"/>
            <a:ext cx="1362456" cy="1362456"/>
          </a:xfrm>
          <a:prstGeom prst="rect">
            <a:avLst/>
          </a:prstGeom>
          <a:noFill/>
          <a:ln/>
        </p:spPr>
        <p:txBody>
          <a:bodyPr wrap="square" lIns="0" tIns="0" rIns="0" bIns="0" rtlCol="0" anchor="ctr"/>
          <a:lstStyle/>
          <a:p>
            <a:pPr algn="ctr" indent="0" marL="0">
              <a:buNone/>
            </a:pPr>
            <a:r>
              <a:rPr lang="en-US" sz="1700" b="1" dirty="0">
                <a:solidFill>
                  <a:srgbClr val="F4F6FA"/>
                </a:solidFill>
                <a:latin typeface="Cambria" pitchFamily="34" charset="0"/>
                <a:ea typeface="Cambria" pitchFamily="34" charset="-122"/>
                <a:cs typeface="Cambria" pitchFamily="34" charset="-120"/>
              </a:rPr>
              <a:t>0.37</a:t>
            </a:r>
            <a:endParaRPr lang="en-US" sz="1700" dirty="0"/>
          </a:p>
        </p:txBody>
      </p:sp>
      <p:sp>
        <p:nvSpPr>
          <p:cNvPr id="15" name="Text 13"/>
          <p:cNvSpPr txBox="1"/>
          <p:nvPr/>
        </p:nvSpPr>
        <p:spPr>
          <a:xfrm>
            <a:off x="502920" y="3703320"/>
            <a:ext cx="1645920" cy="1371600"/>
          </a:xfrm>
          <a:prstGeom prst="rect">
            <a:avLst/>
          </a:prstGeom>
          <a:noFill/>
          <a:ln/>
        </p:spPr>
        <p:txBody>
          <a:bodyPr wrap="square" lIns="0" tIns="0" rIns="0" bIns="0" rtlCol="0" anchor="ctr"/>
          <a:lstStyle/>
          <a:p>
            <a:pPr indent="0" marL="0">
              <a:buNone/>
            </a:pPr>
            <a:r>
              <a:rPr lang="en-US" sz="1150" b="1" dirty="0">
                <a:solidFill>
                  <a:srgbClr val="9FB0C7"/>
                </a:solidFill>
                <a:latin typeface="Calibri" pitchFamily="34" charset="0"/>
                <a:ea typeface="Calibri" pitchFamily="34" charset="-122"/>
                <a:cs typeface="Calibri" pitchFamily="34" charset="-120"/>
              </a:rPr>
              <a:t>Verifiability</a:t>
            </a:r>
            <a:endParaRPr lang="en-US" sz="1150" dirty="0"/>
          </a:p>
        </p:txBody>
      </p:sp>
      <p:sp>
        <p:nvSpPr>
          <p:cNvPr id="16" name="Shape 14"/>
          <p:cNvSpPr/>
          <p:nvPr/>
        </p:nvSpPr>
        <p:spPr>
          <a:xfrm>
            <a:off x="2240280" y="3703320"/>
            <a:ext cx="1362456" cy="1362456"/>
          </a:xfrm>
          <a:prstGeom prst="rect">
            <a:avLst/>
          </a:prstGeom>
          <a:solidFill>
            <a:srgbClr val="947D31"/>
          </a:solidFill>
          <a:ln w="25400">
            <a:solidFill>
              <a:srgbClr val="0D1321"/>
            </a:solidFill>
            <a:prstDash val="solid"/>
          </a:ln>
        </p:spPr>
      </p:sp>
      <p:sp>
        <p:nvSpPr>
          <p:cNvPr id="17" name="Text 15"/>
          <p:cNvSpPr txBox="1"/>
          <p:nvPr/>
        </p:nvSpPr>
        <p:spPr>
          <a:xfrm>
            <a:off x="2240280" y="3703320"/>
            <a:ext cx="1362456" cy="1362456"/>
          </a:xfrm>
          <a:prstGeom prst="rect">
            <a:avLst/>
          </a:prstGeom>
          <a:noFill/>
          <a:ln/>
        </p:spPr>
        <p:txBody>
          <a:bodyPr wrap="square" lIns="0" tIns="0" rIns="0" bIns="0" rtlCol="0" anchor="ctr"/>
          <a:lstStyle/>
          <a:p>
            <a:pPr algn="ctr" indent="0" marL="0">
              <a:buNone/>
            </a:pPr>
            <a:r>
              <a:rPr lang="en-US" sz="1700" b="1" dirty="0">
                <a:solidFill>
                  <a:srgbClr val="1A1400"/>
                </a:solidFill>
                <a:latin typeface="Cambria" pitchFamily="34" charset="0"/>
                <a:ea typeface="Cambria" pitchFamily="34" charset="-122"/>
                <a:cs typeface="Cambria" pitchFamily="34" charset="-120"/>
              </a:rPr>
              <a:t>0.69</a:t>
            </a:r>
            <a:endParaRPr lang="en-US" sz="1700" dirty="0"/>
          </a:p>
        </p:txBody>
      </p:sp>
      <p:sp>
        <p:nvSpPr>
          <p:cNvPr id="18" name="Shape 16"/>
          <p:cNvSpPr/>
          <p:nvPr/>
        </p:nvSpPr>
        <p:spPr>
          <a:xfrm>
            <a:off x="3657600" y="3703320"/>
            <a:ext cx="1362456" cy="1362456"/>
          </a:xfrm>
          <a:prstGeom prst="rect">
            <a:avLst/>
          </a:prstGeom>
          <a:solidFill>
            <a:srgbClr val="C9A227"/>
          </a:solidFill>
          <a:ln w="25400">
            <a:solidFill>
              <a:srgbClr val="0D1321"/>
            </a:solidFill>
            <a:prstDash val="solid"/>
          </a:ln>
        </p:spPr>
      </p:sp>
      <p:sp>
        <p:nvSpPr>
          <p:cNvPr id="19" name="Text 17"/>
          <p:cNvSpPr txBox="1"/>
          <p:nvPr/>
        </p:nvSpPr>
        <p:spPr>
          <a:xfrm>
            <a:off x="3657600" y="3703320"/>
            <a:ext cx="1362456" cy="1362456"/>
          </a:xfrm>
          <a:prstGeom prst="rect">
            <a:avLst/>
          </a:prstGeom>
          <a:noFill/>
          <a:ln/>
        </p:spPr>
        <p:txBody>
          <a:bodyPr wrap="square" lIns="0" tIns="0" rIns="0" bIns="0" rtlCol="0" anchor="ctr"/>
          <a:lstStyle/>
          <a:p>
            <a:pPr algn="ctr" indent="0" marL="0">
              <a:buNone/>
            </a:pPr>
            <a:r>
              <a:rPr lang="en-US" sz="1700" b="1" dirty="0">
                <a:solidFill>
                  <a:srgbClr val="1A1400"/>
                </a:solidFill>
                <a:latin typeface="Cambria" pitchFamily="34" charset="0"/>
                <a:ea typeface="Cambria" pitchFamily="34" charset="-122"/>
                <a:cs typeface="Cambria" pitchFamily="34" charset="-120"/>
              </a:rPr>
              <a:t>1.00</a:t>
            </a:r>
            <a:endParaRPr lang="en-US" sz="1700" dirty="0"/>
          </a:p>
        </p:txBody>
      </p:sp>
      <p:sp>
        <p:nvSpPr>
          <p:cNvPr id="20" name="Shape 18"/>
          <p:cNvSpPr/>
          <p:nvPr/>
        </p:nvSpPr>
        <p:spPr>
          <a:xfrm>
            <a:off x="5074920" y="3703320"/>
            <a:ext cx="1362456" cy="1362456"/>
          </a:xfrm>
          <a:prstGeom prst="rect">
            <a:avLst/>
          </a:prstGeom>
          <a:solidFill>
            <a:srgbClr val="514F3E"/>
          </a:solidFill>
          <a:ln w="25400">
            <a:solidFill>
              <a:srgbClr val="0D1321"/>
            </a:solidFill>
            <a:prstDash val="solid"/>
          </a:ln>
        </p:spPr>
      </p:sp>
      <p:sp>
        <p:nvSpPr>
          <p:cNvPr id="21" name="Text 19"/>
          <p:cNvSpPr txBox="1"/>
          <p:nvPr/>
        </p:nvSpPr>
        <p:spPr>
          <a:xfrm>
            <a:off x="5074920" y="3703320"/>
            <a:ext cx="1362456" cy="1362456"/>
          </a:xfrm>
          <a:prstGeom prst="rect">
            <a:avLst/>
          </a:prstGeom>
          <a:noFill/>
          <a:ln/>
        </p:spPr>
        <p:txBody>
          <a:bodyPr wrap="square" lIns="0" tIns="0" rIns="0" bIns="0" rtlCol="0" anchor="ctr"/>
          <a:lstStyle/>
          <a:p>
            <a:pPr algn="ctr" indent="0" marL="0">
              <a:buNone/>
            </a:pPr>
            <a:r>
              <a:rPr lang="en-US" sz="1700" b="1" dirty="0">
                <a:solidFill>
                  <a:srgbClr val="F4F6FA"/>
                </a:solidFill>
                <a:latin typeface="Cambria" pitchFamily="34" charset="0"/>
                <a:ea typeface="Cambria" pitchFamily="34" charset="-122"/>
                <a:cs typeface="Cambria" pitchFamily="34" charset="-120"/>
              </a:rPr>
              <a:t>0.30</a:t>
            </a:r>
            <a:endParaRPr lang="en-US" sz="1700" dirty="0"/>
          </a:p>
        </p:txBody>
      </p:sp>
      <p:sp>
        <p:nvSpPr>
          <p:cNvPr id="22" name="Text 20"/>
          <p:cNvSpPr txBox="1"/>
          <p:nvPr/>
        </p:nvSpPr>
        <p:spPr>
          <a:xfrm>
            <a:off x="502920" y="5120640"/>
            <a:ext cx="1645920" cy="1371600"/>
          </a:xfrm>
          <a:prstGeom prst="rect">
            <a:avLst/>
          </a:prstGeom>
          <a:noFill/>
          <a:ln/>
        </p:spPr>
        <p:txBody>
          <a:bodyPr wrap="square" lIns="0" tIns="0" rIns="0" bIns="0" rtlCol="0" anchor="ctr"/>
          <a:lstStyle/>
          <a:p>
            <a:pPr indent="0" marL="0">
              <a:buNone/>
            </a:pPr>
            <a:r>
              <a:rPr lang="en-US" sz="1150" b="1" dirty="0">
                <a:solidFill>
                  <a:srgbClr val="9FB0C7"/>
                </a:solidFill>
                <a:latin typeface="Calibri" pitchFamily="34" charset="0"/>
                <a:ea typeface="Calibri" pitchFamily="34" charset="-122"/>
                <a:cs typeface="Calibri" pitchFamily="34" charset="-120"/>
              </a:rPr>
              <a:t>Singularity</a:t>
            </a:r>
            <a:endParaRPr lang="en-US" sz="1150" dirty="0"/>
          </a:p>
        </p:txBody>
      </p:sp>
      <p:sp>
        <p:nvSpPr>
          <p:cNvPr id="23" name="Shape 21"/>
          <p:cNvSpPr/>
          <p:nvPr/>
        </p:nvSpPr>
        <p:spPr>
          <a:xfrm>
            <a:off x="2240280" y="5120640"/>
            <a:ext cx="1362456" cy="1362456"/>
          </a:xfrm>
          <a:prstGeom prst="rect">
            <a:avLst/>
          </a:prstGeom>
          <a:solidFill>
            <a:srgbClr val="5D583C"/>
          </a:solidFill>
          <a:ln w="25400">
            <a:solidFill>
              <a:srgbClr val="0D1321"/>
            </a:solidFill>
            <a:prstDash val="solid"/>
          </a:ln>
        </p:spPr>
      </p:sp>
      <p:sp>
        <p:nvSpPr>
          <p:cNvPr id="24" name="Text 22"/>
          <p:cNvSpPr txBox="1"/>
          <p:nvPr/>
        </p:nvSpPr>
        <p:spPr>
          <a:xfrm>
            <a:off x="2240280" y="5120640"/>
            <a:ext cx="1362456" cy="1362456"/>
          </a:xfrm>
          <a:prstGeom prst="rect">
            <a:avLst/>
          </a:prstGeom>
          <a:noFill/>
          <a:ln/>
        </p:spPr>
        <p:txBody>
          <a:bodyPr wrap="square" lIns="0" tIns="0" rIns="0" bIns="0" rtlCol="0" anchor="ctr"/>
          <a:lstStyle/>
          <a:p>
            <a:pPr algn="ctr" indent="0" marL="0">
              <a:buNone/>
            </a:pPr>
            <a:r>
              <a:rPr lang="en-US" sz="1700" b="1" dirty="0">
                <a:solidFill>
                  <a:srgbClr val="F4F6FA"/>
                </a:solidFill>
                <a:latin typeface="Cambria" pitchFamily="34" charset="0"/>
                <a:ea typeface="Cambria" pitchFamily="34" charset="-122"/>
                <a:cs typeface="Cambria" pitchFamily="34" charset="-120"/>
              </a:rPr>
              <a:t>0.37</a:t>
            </a:r>
            <a:endParaRPr lang="en-US" sz="1700" dirty="0"/>
          </a:p>
        </p:txBody>
      </p:sp>
      <p:sp>
        <p:nvSpPr>
          <p:cNvPr id="25" name="Shape 23"/>
          <p:cNvSpPr/>
          <p:nvPr/>
        </p:nvSpPr>
        <p:spPr>
          <a:xfrm>
            <a:off x="3657600" y="5120640"/>
            <a:ext cx="1362456" cy="1362456"/>
          </a:xfrm>
          <a:prstGeom prst="rect">
            <a:avLst/>
          </a:prstGeom>
          <a:solidFill>
            <a:srgbClr val="514F3E"/>
          </a:solidFill>
          <a:ln w="25400">
            <a:solidFill>
              <a:srgbClr val="0D1321"/>
            </a:solidFill>
            <a:prstDash val="solid"/>
          </a:ln>
        </p:spPr>
      </p:sp>
      <p:sp>
        <p:nvSpPr>
          <p:cNvPr id="26" name="Text 24"/>
          <p:cNvSpPr txBox="1"/>
          <p:nvPr/>
        </p:nvSpPr>
        <p:spPr>
          <a:xfrm>
            <a:off x="3657600" y="5120640"/>
            <a:ext cx="1362456" cy="1362456"/>
          </a:xfrm>
          <a:prstGeom prst="rect">
            <a:avLst/>
          </a:prstGeom>
          <a:noFill/>
          <a:ln/>
        </p:spPr>
        <p:txBody>
          <a:bodyPr wrap="square" lIns="0" tIns="0" rIns="0" bIns="0" rtlCol="0" anchor="ctr"/>
          <a:lstStyle/>
          <a:p>
            <a:pPr algn="ctr" indent="0" marL="0">
              <a:buNone/>
            </a:pPr>
            <a:r>
              <a:rPr lang="en-US" sz="1700" b="1" dirty="0">
                <a:solidFill>
                  <a:srgbClr val="F4F6FA"/>
                </a:solidFill>
                <a:latin typeface="Cambria" pitchFamily="34" charset="0"/>
                <a:ea typeface="Cambria" pitchFamily="34" charset="-122"/>
                <a:cs typeface="Cambria" pitchFamily="34" charset="-120"/>
              </a:rPr>
              <a:t>0.30</a:t>
            </a:r>
            <a:endParaRPr lang="en-US" sz="1700" dirty="0"/>
          </a:p>
        </p:txBody>
      </p:sp>
      <p:sp>
        <p:nvSpPr>
          <p:cNvPr id="27" name="Shape 25"/>
          <p:cNvSpPr/>
          <p:nvPr/>
        </p:nvSpPr>
        <p:spPr>
          <a:xfrm>
            <a:off x="5074920" y="5120640"/>
            <a:ext cx="1362456" cy="1362456"/>
          </a:xfrm>
          <a:prstGeom prst="rect">
            <a:avLst/>
          </a:prstGeom>
          <a:solidFill>
            <a:srgbClr val="C9A227"/>
          </a:solidFill>
          <a:ln w="25400">
            <a:solidFill>
              <a:srgbClr val="0D1321"/>
            </a:solidFill>
            <a:prstDash val="solid"/>
          </a:ln>
        </p:spPr>
      </p:sp>
      <p:sp>
        <p:nvSpPr>
          <p:cNvPr id="28" name="Text 26"/>
          <p:cNvSpPr txBox="1"/>
          <p:nvPr/>
        </p:nvSpPr>
        <p:spPr>
          <a:xfrm>
            <a:off x="5074920" y="5120640"/>
            <a:ext cx="1362456" cy="1362456"/>
          </a:xfrm>
          <a:prstGeom prst="rect">
            <a:avLst/>
          </a:prstGeom>
          <a:noFill/>
          <a:ln/>
        </p:spPr>
        <p:txBody>
          <a:bodyPr wrap="square" lIns="0" tIns="0" rIns="0" bIns="0" rtlCol="0" anchor="ctr"/>
          <a:lstStyle/>
          <a:p>
            <a:pPr algn="ctr" indent="0" marL="0">
              <a:buNone/>
            </a:pPr>
            <a:r>
              <a:rPr lang="en-US" sz="1700" b="1" dirty="0">
                <a:solidFill>
                  <a:srgbClr val="1A1400"/>
                </a:solidFill>
                <a:latin typeface="Cambria" pitchFamily="34" charset="0"/>
                <a:ea typeface="Cambria" pitchFamily="34" charset="-122"/>
                <a:cs typeface="Cambria" pitchFamily="34" charset="-120"/>
              </a:rPr>
              <a:t>1.00</a:t>
            </a:r>
            <a:endParaRPr lang="en-US" sz="1700" dirty="0"/>
          </a:p>
        </p:txBody>
      </p:sp>
      <p:sp>
        <p:nvSpPr>
          <p:cNvPr id="29" name="Shape 27"/>
          <p:cNvSpPr/>
          <p:nvPr/>
        </p:nvSpPr>
        <p:spPr>
          <a:xfrm>
            <a:off x="7452360" y="1783080"/>
            <a:ext cx="4206240" cy="4343400"/>
          </a:xfrm>
          <a:prstGeom prst="roundRect">
            <a:avLst>
              <a:gd name="adj" fmla="val 1739"/>
            </a:avLst>
          </a:prstGeom>
          <a:solidFill>
            <a:srgbClr val="17223A"/>
          </a:solidFill>
          <a:ln w="12700">
            <a:solidFill>
              <a:srgbClr val="2B3B58"/>
            </a:solidFill>
            <a:prstDash val="solid"/>
          </a:ln>
          <a:effectLst>
            <a:outerShdw sx="100000" sy="100000" kx="0" ky="0" algn="bl" rotWithShape="0" blurRad="101600" dist="38100" dir="5400000">
              <a:srgbClr val="000000">
                <a:alpha val="35000"/>
              </a:srgbClr>
            </a:outerShdw>
          </a:effectLst>
        </p:spPr>
      </p:sp>
      <p:sp>
        <p:nvSpPr>
          <p:cNvPr id="30" name="Text 28"/>
          <p:cNvSpPr txBox="1"/>
          <p:nvPr/>
        </p:nvSpPr>
        <p:spPr>
          <a:xfrm>
            <a:off x="7726680" y="1965960"/>
            <a:ext cx="3657600" cy="274320"/>
          </a:xfrm>
          <a:prstGeom prst="rect">
            <a:avLst/>
          </a:prstGeom>
          <a:noFill/>
          <a:ln/>
        </p:spPr>
        <p:txBody>
          <a:bodyPr wrap="square" lIns="0" tIns="0" rIns="0" bIns="0" rtlCol="0" anchor="ctr"/>
          <a:lstStyle/>
          <a:p>
            <a:pPr indent="0" marL="0">
              <a:buNone/>
            </a:pPr>
            <a:r>
              <a:rPr lang="en-US" sz="1100" b="1" spc="150" kern="0" dirty="0">
                <a:solidFill>
                  <a:srgbClr val="C9A227"/>
                </a:solidFill>
                <a:latin typeface="Calibri" pitchFamily="34" charset="0"/>
                <a:ea typeface="Calibri" pitchFamily="34" charset="-122"/>
                <a:cs typeface="Calibri" pitchFamily="34" charset="-120"/>
              </a:rPr>
              <a:t>SPEARMAN'S ρ  (N = 900)</a:t>
            </a:r>
            <a:endParaRPr lang="en-US" sz="1100" dirty="0"/>
          </a:p>
        </p:txBody>
      </p:sp>
      <p:sp>
        <p:nvSpPr>
          <p:cNvPr id="31" name="Text 29"/>
          <p:cNvSpPr txBox="1"/>
          <p:nvPr/>
        </p:nvSpPr>
        <p:spPr>
          <a:xfrm>
            <a:off x="7726680" y="2331720"/>
            <a:ext cx="3657600" cy="3657600"/>
          </a:xfrm>
          <a:prstGeom prst="rect">
            <a:avLst/>
          </a:prstGeom>
          <a:noFill/>
          <a:ln/>
        </p:spPr>
        <p:txBody>
          <a:bodyPr wrap="square" lIns="0" tIns="0" rIns="0" bIns="0" rtlCol="0" anchor="t"/>
          <a:lstStyle/>
          <a:p>
            <a:pPr marL="228600" indent="-228600">
              <a:spcAft>
                <a:spcPts val="1400"/>
              </a:spcAft>
              <a:buSzPct val="100000"/>
              <a:buChar char="•"/>
            </a:pPr>
            <a:r>
              <a:rPr lang="en-US" sz="1250" dirty="0">
                <a:solidFill>
                  <a:srgbClr val="F4F6FA"/>
                </a:solidFill>
                <a:latin typeface="Calibri" pitchFamily="34" charset="0"/>
                <a:ea typeface="Calibri" pitchFamily="34" charset="-122"/>
                <a:cs typeface="Calibri" pitchFamily="34" charset="-120"/>
              </a:rPr>
              <a:t>Unambiguity ↔ Verifiability: ρ = 0.69 — a strong positive relationship: clarity enables verification.</a:t>
            </a:r>
            <a:endParaRPr lang="en-US" sz="1250" dirty="0"/>
          </a:p>
          <a:p>
            <a:pPr marL="228600" indent="-228600">
              <a:spcAft>
                <a:spcPts val="1400"/>
              </a:spcAft>
              <a:buSzPct val="100000"/>
              <a:buChar char="•"/>
            </a:pPr>
            <a:r>
              <a:rPr lang="en-US" sz="1250" dirty="0">
                <a:solidFill>
                  <a:srgbClr val="F4F6FA"/>
                </a:solidFill>
                <a:latin typeface="Calibri" pitchFamily="34" charset="0"/>
                <a:ea typeface="Calibri" pitchFamily="34" charset="-122"/>
                <a:cs typeface="Calibri" pitchFamily="34" charset="-120"/>
              </a:rPr>
              <a:t>Singularity correlates more weakly with both other attributes (ρ = 0.37 with Unambiguity; ρ = 0.30 with Verifiability).</a:t>
            </a:r>
            <a:endParaRPr lang="en-US" sz="1250" dirty="0"/>
          </a:p>
          <a:p>
            <a:pPr marL="228600" indent="-228600">
              <a:spcAft>
                <a:spcPts val="1400"/>
              </a:spcAft>
              <a:buSzPct val="100000"/>
              <a:buChar char="•"/>
            </a:pPr>
            <a:r>
              <a:rPr lang="en-US" sz="1250" dirty="0">
                <a:solidFill>
                  <a:srgbClr val="F4F6FA"/>
                </a:solidFill>
                <a:latin typeface="Calibri" pitchFamily="34" charset="0"/>
                <a:ea typeface="Calibri" pitchFamily="34" charset="-122"/>
                <a:cs typeface="Calibri" pitchFamily="34" charset="-120"/>
              </a:rPr>
              <a:t>Singularity captures a genuinely distinct quality dimension from the other two — consistent with the detail-vs-focus trade-off seen in RQ2 and RQ3.</a:t>
            </a:r>
            <a:endParaRPr lang="en-US" sz="1250" dirty="0"/>
          </a:p>
        </p:txBody>
      </p:sp>
      <p:sp>
        <p:nvSpPr>
          <p:cNvPr id="32" name="Text 30"/>
          <p:cNvSpPr txBox="1"/>
          <p:nvPr/>
        </p:nvSpPr>
        <p:spPr>
          <a:xfrm>
            <a:off x="502920" y="6547104"/>
            <a:ext cx="7772400" cy="256032"/>
          </a:xfrm>
          <a:prstGeom prst="rect">
            <a:avLst/>
          </a:prstGeom>
          <a:noFill/>
          <a:ln/>
        </p:spPr>
        <p:txBody>
          <a:bodyPr wrap="square" lIns="0" tIns="0" rIns="0" bIns="0" rtlCol="0" anchor="ctr"/>
          <a:lstStyle/>
          <a:p>
            <a:pPr algn="l" indent="0" marL="0">
              <a:buNone/>
            </a:pPr>
            <a:r>
              <a:rPr lang="en-US" sz="900" dirty="0">
                <a:solidFill>
                  <a:srgbClr val="748199"/>
                </a:solidFill>
                <a:latin typeface="Calibri" pitchFamily="34" charset="0"/>
                <a:ea typeface="Calibri" pitchFamily="34" charset="-122"/>
                <a:cs typeface="Calibri" pitchFamily="34" charset="-120"/>
              </a:rPr>
              <a:t>Requirements Engineering (2026) 31:7  •  Paiva, Canedo &amp; Rocha Filho</a:t>
            </a:r>
            <a:endParaRPr lang="en-US" sz="900" dirty="0"/>
          </a:p>
        </p:txBody>
      </p:sp>
      <p:sp>
        <p:nvSpPr>
          <p:cNvPr id="33" name="Text 31"/>
          <p:cNvSpPr txBox="1"/>
          <p:nvPr/>
        </p:nvSpPr>
        <p:spPr>
          <a:xfrm>
            <a:off x="10972800" y="6547104"/>
            <a:ext cx="731520" cy="256032"/>
          </a:xfrm>
          <a:prstGeom prst="rect">
            <a:avLst/>
          </a:prstGeom>
          <a:noFill/>
          <a:ln/>
        </p:spPr>
        <p:txBody>
          <a:bodyPr wrap="square" lIns="0" tIns="0" rIns="0" bIns="0" rtlCol="0" anchor="ctr"/>
          <a:lstStyle/>
          <a:p>
            <a:pPr algn="r" indent="0" marL="0">
              <a:buNone/>
            </a:pPr>
            <a:r>
              <a:rPr lang="en-US" sz="900" dirty="0">
                <a:solidFill>
                  <a:srgbClr val="748199"/>
                </a:solidFill>
                <a:latin typeface="Calibri" pitchFamily="34" charset="0"/>
                <a:ea typeface="Calibri" pitchFamily="34" charset="-122"/>
                <a:cs typeface="Calibri" pitchFamily="34" charset="-120"/>
              </a:rPr>
              <a:t>17 / 20</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321"/>
        </a:solidFill>
      </p:bgPr>
    </p:bg>
    <p:spTree>
      <p:nvGrpSpPr>
        <p:cNvPr id="1" name=""/>
        <p:cNvGrpSpPr/>
        <p:nvPr/>
      </p:nvGrpSpPr>
      <p:grpSpPr>
        <a:xfrm>
          <a:off x="0" y="0"/>
          <a:ext cx="0" cy="0"/>
          <a:chOff x="0" y="0"/>
          <a:chExt cx="0" cy="0"/>
        </a:xfrm>
      </p:grpSpPr>
      <p:sp>
        <p:nvSpPr>
          <p:cNvPr id="2" name="Shape 0"/>
          <p:cNvSpPr/>
          <p:nvPr/>
        </p:nvSpPr>
        <p:spPr>
          <a:xfrm>
            <a:off x="502920" y="457200"/>
            <a:ext cx="128016" cy="128016"/>
          </a:xfrm>
          <a:prstGeom prst="rect">
            <a:avLst/>
          </a:prstGeom>
          <a:solidFill>
            <a:srgbClr val="C9A227"/>
          </a:solidFill>
          <a:ln/>
        </p:spPr>
      </p:sp>
      <p:sp>
        <p:nvSpPr>
          <p:cNvPr id="3" name="Text 1"/>
          <p:cNvSpPr txBox="1"/>
          <p:nvPr/>
        </p:nvSpPr>
        <p:spPr>
          <a:xfrm>
            <a:off x="749808" y="347472"/>
            <a:ext cx="9144000" cy="292608"/>
          </a:xfrm>
          <a:prstGeom prst="rect">
            <a:avLst/>
          </a:prstGeom>
          <a:noFill/>
          <a:ln/>
        </p:spPr>
        <p:txBody>
          <a:bodyPr wrap="square" lIns="0" tIns="0" rIns="0" bIns="0" rtlCol="0" anchor="ctr"/>
          <a:lstStyle/>
          <a:p>
            <a:pPr indent="0" marL="0">
              <a:buNone/>
            </a:pPr>
            <a:r>
              <a:rPr lang="en-US" sz="1250" b="1" spc="200" kern="0" dirty="0">
                <a:solidFill>
                  <a:srgbClr val="C9A227"/>
                </a:solidFill>
                <a:latin typeface="Calibri" pitchFamily="34" charset="0"/>
                <a:ea typeface="Calibri" pitchFamily="34" charset="-122"/>
                <a:cs typeface="Calibri" pitchFamily="34" charset="-120"/>
              </a:rPr>
              <a:t>VALIDATION</a:t>
            </a:r>
            <a:endParaRPr lang="en-US" sz="1250" dirty="0"/>
          </a:p>
        </p:txBody>
      </p:sp>
      <p:sp>
        <p:nvSpPr>
          <p:cNvPr id="4" name="Text 2"/>
          <p:cNvSpPr txBox="1"/>
          <p:nvPr/>
        </p:nvSpPr>
        <p:spPr>
          <a:xfrm>
            <a:off x="502920" y="658368"/>
            <a:ext cx="11155680" cy="685800"/>
          </a:xfrm>
          <a:prstGeom prst="rect">
            <a:avLst/>
          </a:prstGeom>
          <a:noFill/>
          <a:ln/>
        </p:spPr>
        <p:txBody>
          <a:bodyPr wrap="square" lIns="0" tIns="0" rIns="0" bIns="0" rtlCol="0" anchor="ctr"/>
          <a:lstStyle/>
          <a:p>
            <a:pPr indent="0" marL="0">
              <a:buNone/>
            </a:pPr>
            <a:r>
              <a:rPr lang="en-US" sz="3000" b="1" dirty="0">
                <a:solidFill>
                  <a:srgbClr val="F4F6FA"/>
                </a:solidFill>
                <a:latin typeface="Cambria" pitchFamily="34" charset="0"/>
                <a:ea typeface="Cambria" pitchFamily="34" charset="-122"/>
                <a:cs typeface="Cambria" pitchFamily="34" charset="-120"/>
              </a:rPr>
              <a:t>Human Validation of LLM-as-a-Judge</a:t>
            </a:r>
            <a:endParaRPr lang="en-US" sz="3000" dirty="0"/>
          </a:p>
        </p:txBody>
      </p:sp>
      <p:sp>
        <p:nvSpPr>
          <p:cNvPr id="5" name="Shape 3"/>
          <p:cNvSpPr/>
          <p:nvPr/>
        </p:nvSpPr>
        <p:spPr>
          <a:xfrm>
            <a:off x="502920" y="1600200"/>
            <a:ext cx="2514600" cy="1051560"/>
          </a:xfrm>
          <a:prstGeom prst="roundRect">
            <a:avLst>
              <a:gd name="adj" fmla="val 6957"/>
            </a:avLst>
          </a:prstGeom>
          <a:solidFill>
            <a:srgbClr val="17223A"/>
          </a:solidFill>
          <a:ln w="12700">
            <a:solidFill>
              <a:srgbClr val="2B3B58"/>
            </a:solidFill>
            <a:prstDash val="solid"/>
          </a:ln>
        </p:spPr>
      </p:sp>
      <p:sp>
        <p:nvSpPr>
          <p:cNvPr id="6" name="Text 4"/>
          <p:cNvSpPr txBox="1"/>
          <p:nvPr/>
        </p:nvSpPr>
        <p:spPr>
          <a:xfrm>
            <a:off x="594360" y="1709928"/>
            <a:ext cx="2331720" cy="548640"/>
          </a:xfrm>
          <a:prstGeom prst="rect">
            <a:avLst/>
          </a:prstGeom>
          <a:noFill/>
          <a:ln/>
        </p:spPr>
        <p:txBody>
          <a:bodyPr wrap="square" lIns="0" tIns="0" rIns="0" bIns="0" rtlCol="0" anchor="ctr"/>
          <a:lstStyle/>
          <a:p>
            <a:pPr algn="ctr" indent="0" marL="0">
              <a:buNone/>
            </a:pPr>
            <a:r>
              <a:rPr lang="en-US" sz="1250" b="1" dirty="0">
                <a:solidFill>
                  <a:srgbClr val="F4F6FA"/>
                </a:solidFill>
                <a:latin typeface="Calibri" pitchFamily="34" charset="0"/>
                <a:ea typeface="Calibri" pitchFamily="34" charset="-122"/>
                <a:cs typeface="Calibri" pitchFamily="34" charset="-120"/>
              </a:rPr>
              <a:t>900</a:t>
            </a:r>
            <a:endParaRPr lang="en-US" sz="1250" dirty="0"/>
          </a:p>
          <a:p>
            <a:pPr algn="ctr" indent="0" marL="0">
              <a:buNone/>
            </a:pPr>
            <a:r>
              <a:rPr lang="en-US" sz="1250" b="1" dirty="0">
                <a:solidFill>
                  <a:srgbClr val="F4F6FA"/>
                </a:solidFill>
                <a:latin typeface="Calibri" pitchFamily="34" charset="0"/>
                <a:ea typeface="Calibri" pitchFamily="34" charset="-122"/>
                <a:cs typeface="Calibri" pitchFamily="34" charset="-120"/>
              </a:rPr>
              <a:t>Requirements</a:t>
            </a:r>
            <a:endParaRPr lang="en-US" sz="1250" dirty="0"/>
          </a:p>
        </p:txBody>
      </p:sp>
      <p:sp>
        <p:nvSpPr>
          <p:cNvPr id="7" name="Text 5"/>
          <p:cNvSpPr txBox="1"/>
          <p:nvPr/>
        </p:nvSpPr>
        <p:spPr>
          <a:xfrm>
            <a:off x="594360" y="2286000"/>
            <a:ext cx="2331720" cy="320040"/>
          </a:xfrm>
          <a:prstGeom prst="rect">
            <a:avLst/>
          </a:prstGeom>
          <a:noFill/>
          <a:ln/>
        </p:spPr>
        <p:txBody>
          <a:bodyPr wrap="square" lIns="0" tIns="0" rIns="0" bIns="0" rtlCol="0" anchor="ctr"/>
          <a:lstStyle/>
          <a:p>
            <a:pPr algn="ctr" indent="0" marL="0">
              <a:buNone/>
            </a:pPr>
            <a:endParaRPr lang="en-US" sz="900" dirty="0"/>
          </a:p>
        </p:txBody>
      </p:sp>
      <p:sp>
        <p:nvSpPr>
          <p:cNvPr id="8" name="Text 6"/>
          <p:cNvSpPr txBox="1"/>
          <p:nvPr/>
        </p:nvSpPr>
        <p:spPr>
          <a:xfrm>
            <a:off x="3017520" y="1920240"/>
            <a:ext cx="320040" cy="457200"/>
          </a:xfrm>
          <a:prstGeom prst="rect">
            <a:avLst/>
          </a:prstGeom>
          <a:noFill/>
          <a:ln/>
        </p:spPr>
        <p:txBody>
          <a:bodyPr wrap="square" lIns="0" tIns="0" rIns="0" bIns="0" rtlCol="0" anchor="ctr"/>
          <a:lstStyle/>
          <a:p>
            <a:pPr algn="ctr" indent="0" marL="0">
              <a:buNone/>
            </a:pPr>
            <a:r>
              <a:rPr lang="en-US" sz="1800" b="1" dirty="0">
                <a:solidFill>
                  <a:srgbClr val="C9A227"/>
                </a:solidFill>
                <a:latin typeface="Calibri" pitchFamily="34" charset="0"/>
                <a:ea typeface="Calibri" pitchFamily="34" charset="-122"/>
                <a:cs typeface="Calibri" pitchFamily="34" charset="-120"/>
              </a:rPr>
              <a:t>→</a:t>
            </a:r>
            <a:endParaRPr lang="en-US" sz="1800" dirty="0"/>
          </a:p>
        </p:txBody>
      </p:sp>
      <p:sp>
        <p:nvSpPr>
          <p:cNvPr id="9" name="Shape 7"/>
          <p:cNvSpPr/>
          <p:nvPr/>
        </p:nvSpPr>
        <p:spPr>
          <a:xfrm>
            <a:off x="3337560" y="1600200"/>
            <a:ext cx="2514600" cy="1051560"/>
          </a:xfrm>
          <a:prstGeom prst="roundRect">
            <a:avLst>
              <a:gd name="adj" fmla="val 6957"/>
            </a:avLst>
          </a:prstGeom>
          <a:solidFill>
            <a:srgbClr val="17223A"/>
          </a:solidFill>
          <a:ln w="12700">
            <a:solidFill>
              <a:srgbClr val="2B3B58"/>
            </a:solidFill>
            <a:prstDash val="solid"/>
          </a:ln>
        </p:spPr>
      </p:sp>
      <p:sp>
        <p:nvSpPr>
          <p:cNvPr id="10" name="Text 8"/>
          <p:cNvSpPr txBox="1"/>
          <p:nvPr/>
        </p:nvSpPr>
        <p:spPr>
          <a:xfrm>
            <a:off x="3429000" y="1709928"/>
            <a:ext cx="2331720" cy="548640"/>
          </a:xfrm>
          <a:prstGeom prst="rect">
            <a:avLst/>
          </a:prstGeom>
          <a:noFill/>
          <a:ln/>
        </p:spPr>
        <p:txBody>
          <a:bodyPr wrap="square" lIns="0" tIns="0" rIns="0" bIns="0" rtlCol="0" anchor="ctr"/>
          <a:lstStyle/>
          <a:p>
            <a:pPr algn="ctr" indent="0" marL="0">
              <a:buNone/>
            </a:pPr>
            <a:r>
              <a:rPr lang="en-US" sz="1250" b="1" dirty="0">
                <a:solidFill>
                  <a:srgbClr val="F4F6FA"/>
                </a:solidFill>
                <a:latin typeface="Calibri" pitchFamily="34" charset="0"/>
                <a:ea typeface="Calibri" pitchFamily="34" charset="-122"/>
                <a:cs typeface="Calibri" pitchFamily="34" charset="-120"/>
              </a:rPr>
              <a:t>Stratified</a:t>
            </a:r>
            <a:endParaRPr lang="en-US" sz="1250" dirty="0"/>
          </a:p>
          <a:p>
            <a:pPr algn="ctr" indent="0" marL="0">
              <a:buNone/>
            </a:pPr>
            <a:r>
              <a:rPr lang="en-US" sz="1250" b="1" dirty="0">
                <a:solidFill>
                  <a:srgbClr val="F4F6FA"/>
                </a:solidFill>
                <a:latin typeface="Calibri" pitchFamily="34" charset="0"/>
                <a:ea typeface="Calibri" pitchFamily="34" charset="-122"/>
                <a:cs typeface="Calibri" pitchFamily="34" charset="-120"/>
              </a:rPr>
              <a:t>Sample of 50</a:t>
            </a:r>
            <a:endParaRPr lang="en-US" sz="1250" dirty="0"/>
          </a:p>
        </p:txBody>
      </p:sp>
      <p:sp>
        <p:nvSpPr>
          <p:cNvPr id="11" name="Text 9"/>
          <p:cNvSpPr txBox="1"/>
          <p:nvPr/>
        </p:nvSpPr>
        <p:spPr>
          <a:xfrm>
            <a:off x="3429000" y="2286000"/>
            <a:ext cx="2331720" cy="320040"/>
          </a:xfrm>
          <a:prstGeom prst="rect">
            <a:avLst/>
          </a:prstGeom>
          <a:noFill/>
          <a:ln/>
        </p:spPr>
        <p:txBody>
          <a:bodyPr wrap="square" lIns="0" tIns="0" rIns="0" bIns="0" rtlCol="0" anchor="ctr"/>
          <a:lstStyle/>
          <a:p>
            <a:pPr algn="ctr" indent="0" marL="0">
              <a:buNone/>
            </a:pPr>
            <a:r>
              <a:rPr lang="en-US" sz="900" dirty="0">
                <a:solidFill>
                  <a:srgbClr val="9FB0C7"/>
                </a:solidFill>
                <a:latin typeface="Calibri" pitchFamily="34" charset="0"/>
                <a:ea typeface="Calibri" pitchFamily="34" charset="-122"/>
                <a:cs typeface="Calibri" pitchFamily="34" charset="-120"/>
              </a:rPr>
              <a:t>5.6% of dataset</a:t>
            </a:r>
            <a:endParaRPr lang="en-US" sz="900" dirty="0"/>
          </a:p>
        </p:txBody>
      </p:sp>
      <p:sp>
        <p:nvSpPr>
          <p:cNvPr id="12" name="Text 10"/>
          <p:cNvSpPr txBox="1"/>
          <p:nvPr/>
        </p:nvSpPr>
        <p:spPr>
          <a:xfrm>
            <a:off x="5852160" y="1920240"/>
            <a:ext cx="320040" cy="457200"/>
          </a:xfrm>
          <a:prstGeom prst="rect">
            <a:avLst/>
          </a:prstGeom>
          <a:noFill/>
          <a:ln/>
        </p:spPr>
        <p:txBody>
          <a:bodyPr wrap="square" lIns="0" tIns="0" rIns="0" bIns="0" rtlCol="0" anchor="ctr"/>
          <a:lstStyle/>
          <a:p>
            <a:pPr algn="ctr" indent="0" marL="0">
              <a:buNone/>
            </a:pPr>
            <a:r>
              <a:rPr lang="en-US" sz="1800" b="1" dirty="0">
                <a:solidFill>
                  <a:srgbClr val="C9A227"/>
                </a:solidFill>
                <a:latin typeface="Calibri" pitchFamily="34" charset="0"/>
                <a:ea typeface="Calibri" pitchFamily="34" charset="-122"/>
                <a:cs typeface="Calibri" pitchFamily="34" charset="-120"/>
              </a:rPr>
              <a:t>→</a:t>
            </a:r>
            <a:endParaRPr lang="en-US" sz="1800" dirty="0"/>
          </a:p>
        </p:txBody>
      </p:sp>
      <p:sp>
        <p:nvSpPr>
          <p:cNvPr id="13" name="Shape 11"/>
          <p:cNvSpPr/>
          <p:nvPr/>
        </p:nvSpPr>
        <p:spPr>
          <a:xfrm>
            <a:off x="6172200" y="1600200"/>
            <a:ext cx="2514600" cy="1051560"/>
          </a:xfrm>
          <a:prstGeom prst="roundRect">
            <a:avLst>
              <a:gd name="adj" fmla="val 6957"/>
            </a:avLst>
          </a:prstGeom>
          <a:solidFill>
            <a:srgbClr val="17223A"/>
          </a:solidFill>
          <a:ln w="12700">
            <a:solidFill>
              <a:srgbClr val="2B3B58"/>
            </a:solidFill>
            <a:prstDash val="solid"/>
          </a:ln>
        </p:spPr>
      </p:sp>
      <p:sp>
        <p:nvSpPr>
          <p:cNvPr id="14" name="Text 12"/>
          <p:cNvSpPr txBox="1"/>
          <p:nvPr/>
        </p:nvSpPr>
        <p:spPr>
          <a:xfrm>
            <a:off x="6263640" y="1709928"/>
            <a:ext cx="2331720" cy="548640"/>
          </a:xfrm>
          <a:prstGeom prst="rect">
            <a:avLst/>
          </a:prstGeom>
          <a:noFill/>
          <a:ln/>
        </p:spPr>
        <p:txBody>
          <a:bodyPr wrap="square" lIns="0" tIns="0" rIns="0" bIns="0" rtlCol="0" anchor="ctr"/>
          <a:lstStyle/>
          <a:p>
            <a:pPr algn="ctr" indent="0" marL="0">
              <a:buNone/>
            </a:pPr>
            <a:r>
              <a:rPr lang="en-US" sz="1250" b="1" dirty="0">
                <a:solidFill>
                  <a:srgbClr val="F4F6FA"/>
                </a:solidFill>
                <a:latin typeface="Calibri" pitchFamily="34" charset="0"/>
                <a:ea typeface="Calibri" pitchFamily="34" charset="-122"/>
                <a:cs typeface="Calibri" pitchFamily="34" charset="-120"/>
              </a:rPr>
              <a:t>5 Human</a:t>
            </a:r>
            <a:endParaRPr lang="en-US" sz="1250" dirty="0"/>
          </a:p>
          <a:p>
            <a:pPr algn="ctr" indent="0" marL="0">
              <a:buNone/>
            </a:pPr>
            <a:r>
              <a:rPr lang="en-US" sz="1250" b="1" dirty="0">
                <a:solidFill>
                  <a:srgbClr val="F4F6FA"/>
                </a:solidFill>
                <a:latin typeface="Calibri" pitchFamily="34" charset="0"/>
                <a:ea typeface="Calibri" pitchFamily="34" charset="-122"/>
                <a:cs typeface="Calibri" pitchFamily="34" charset="-120"/>
              </a:rPr>
              <a:t>Evaluators</a:t>
            </a:r>
            <a:endParaRPr lang="en-US" sz="1250" dirty="0"/>
          </a:p>
        </p:txBody>
      </p:sp>
      <p:sp>
        <p:nvSpPr>
          <p:cNvPr id="15" name="Text 13"/>
          <p:cNvSpPr txBox="1"/>
          <p:nvPr/>
        </p:nvSpPr>
        <p:spPr>
          <a:xfrm>
            <a:off x="6263640" y="2286000"/>
            <a:ext cx="2331720" cy="320040"/>
          </a:xfrm>
          <a:prstGeom prst="rect">
            <a:avLst/>
          </a:prstGeom>
          <a:noFill/>
          <a:ln/>
        </p:spPr>
        <p:txBody>
          <a:bodyPr wrap="square" lIns="0" tIns="0" rIns="0" bIns="0" rtlCol="0" anchor="ctr"/>
          <a:lstStyle/>
          <a:p>
            <a:pPr algn="ctr" indent="0" marL="0">
              <a:buNone/>
            </a:pPr>
            <a:r>
              <a:rPr lang="en-US" sz="900" dirty="0">
                <a:solidFill>
                  <a:srgbClr val="9FB0C7"/>
                </a:solidFill>
                <a:latin typeface="Calibri" pitchFamily="34" charset="0"/>
                <a:ea typeface="Calibri" pitchFamily="34" charset="-122"/>
                <a:cs typeface="Calibri" pitchFamily="34" charset="-120"/>
              </a:rPr>
              <a:t>Blinded, calibrated</a:t>
            </a:r>
            <a:endParaRPr lang="en-US" sz="900" dirty="0"/>
          </a:p>
        </p:txBody>
      </p:sp>
      <p:sp>
        <p:nvSpPr>
          <p:cNvPr id="16" name="Text 14"/>
          <p:cNvSpPr txBox="1"/>
          <p:nvPr/>
        </p:nvSpPr>
        <p:spPr>
          <a:xfrm>
            <a:off x="8686800" y="1920240"/>
            <a:ext cx="320040" cy="457200"/>
          </a:xfrm>
          <a:prstGeom prst="rect">
            <a:avLst/>
          </a:prstGeom>
          <a:noFill/>
          <a:ln/>
        </p:spPr>
        <p:txBody>
          <a:bodyPr wrap="square" lIns="0" tIns="0" rIns="0" bIns="0" rtlCol="0" anchor="ctr"/>
          <a:lstStyle/>
          <a:p>
            <a:pPr algn="ctr" indent="0" marL="0">
              <a:buNone/>
            </a:pPr>
            <a:r>
              <a:rPr lang="en-US" sz="1800" b="1" dirty="0">
                <a:solidFill>
                  <a:srgbClr val="C9A227"/>
                </a:solidFill>
                <a:latin typeface="Calibri" pitchFamily="34" charset="0"/>
                <a:ea typeface="Calibri" pitchFamily="34" charset="-122"/>
                <a:cs typeface="Calibri" pitchFamily="34" charset="-120"/>
              </a:rPr>
              <a:t>→</a:t>
            </a:r>
            <a:endParaRPr lang="en-US" sz="1800" dirty="0"/>
          </a:p>
        </p:txBody>
      </p:sp>
      <p:sp>
        <p:nvSpPr>
          <p:cNvPr id="17" name="Shape 15"/>
          <p:cNvSpPr/>
          <p:nvPr/>
        </p:nvSpPr>
        <p:spPr>
          <a:xfrm>
            <a:off x="9006840" y="1600200"/>
            <a:ext cx="2514600" cy="1051560"/>
          </a:xfrm>
          <a:prstGeom prst="roundRect">
            <a:avLst>
              <a:gd name="adj" fmla="val 6957"/>
            </a:avLst>
          </a:prstGeom>
          <a:solidFill>
            <a:srgbClr val="1A2740"/>
          </a:solidFill>
          <a:ln w="12700">
            <a:solidFill>
              <a:srgbClr val="C9A227"/>
            </a:solidFill>
            <a:prstDash val="solid"/>
          </a:ln>
        </p:spPr>
      </p:sp>
      <p:sp>
        <p:nvSpPr>
          <p:cNvPr id="18" name="Text 16"/>
          <p:cNvSpPr txBox="1"/>
          <p:nvPr/>
        </p:nvSpPr>
        <p:spPr>
          <a:xfrm>
            <a:off x="9098280" y="1709928"/>
            <a:ext cx="2331720" cy="548640"/>
          </a:xfrm>
          <a:prstGeom prst="rect">
            <a:avLst/>
          </a:prstGeom>
          <a:noFill/>
          <a:ln/>
        </p:spPr>
        <p:txBody>
          <a:bodyPr wrap="square" lIns="0" tIns="0" rIns="0" bIns="0" rtlCol="0" anchor="ctr"/>
          <a:lstStyle/>
          <a:p>
            <a:pPr algn="ctr" indent="0" marL="0">
              <a:buNone/>
            </a:pPr>
            <a:r>
              <a:rPr lang="en-US" sz="1250" b="1" dirty="0">
                <a:solidFill>
                  <a:srgbClr val="F4F6FA"/>
                </a:solidFill>
                <a:latin typeface="Calibri" pitchFamily="34" charset="0"/>
                <a:ea typeface="Calibri" pitchFamily="34" charset="-122"/>
                <a:cs typeface="Calibri" pitchFamily="34" charset="-120"/>
              </a:rPr>
              <a:t>Agreement with</a:t>
            </a:r>
            <a:endParaRPr lang="en-US" sz="1250" dirty="0"/>
          </a:p>
          <a:p>
            <a:pPr algn="ctr" indent="0" marL="0">
              <a:buNone/>
            </a:pPr>
            <a:r>
              <a:rPr lang="en-US" sz="1250" b="1" dirty="0">
                <a:solidFill>
                  <a:srgbClr val="F4F6FA"/>
                </a:solidFill>
                <a:latin typeface="Calibri" pitchFamily="34" charset="0"/>
                <a:ea typeface="Calibri" pitchFamily="34" charset="-122"/>
                <a:cs typeface="Calibri" pitchFamily="34" charset="-120"/>
              </a:rPr>
              <a:t>LLM Judge</a:t>
            </a:r>
            <a:endParaRPr lang="en-US" sz="1250" dirty="0"/>
          </a:p>
        </p:txBody>
      </p:sp>
      <p:sp>
        <p:nvSpPr>
          <p:cNvPr id="19" name="Text 17"/>
          <p:cNvSpPr txBox="1"/>
          <p:nvPr/>
        </p:nvSpPr>
        <p:spPr>
          <a:xfrm>
            <a:off x="9098280" y="2286000"/>
            <a:ext cx="2331720" cy="320040"/>
          </a:xfrm>
          <a:prstGeom prst="rect">
            <a:avLst/>
          </a:prstGeom>
          <a:noFill/>
          <a:ln/>
        </p:spPr>
        <p:txBody>
          <a:bodyPr wrap="square" lIns="0" tIns="0" rIns="0" bIns="0" rtlCol="0" anchor="ctr"/>
          <a:lstStyle/>
          <a:p>
            <a:pPr algn="ctr" indent="0" marL="0">
              <a:buNone/>
            </a:pPr>
            <a:r>
              <a:rPr lang="en-US" sz="900" dirty="0">
                <a:solidFill>
                  <a:srgbClr val="9FB0C7"/>
                </a:solidFill>
                <a:latin typeface="Calibri" pitchFamily="34" charset="0"/>
                <a:ea typeface="Calibri" pitchFamily="34" charset="-122"/>
                <a:cs typeface="Calibri" pitchFamily="34" charset="-120"/>
              </a:rPr>
              <a:t>5 metrics computed</a:t>
            </a:r>
            <a:endParaRPr lang="en-US" sz="900" dirty="0"/>
          </a:p>
        </p:txBody>
      </p:sp>
      <p:graphicFrame>
        <p:nvGraphicFramePr>
          <p:cNvPr id="20" name="Chart 0" descr=""/>
          <p:cNvGraphicFramePr/>
          <p:nvPr/>
        </p:nvGraphicFramePr>
        <p:xfrm>
          <a:off x="502920" y="2926080"/>
          <a:ext cx="5394960" cy="3246120"/>
        </p:xfrm>
        <a:graphic xmlns:a="http://schemas.openxmlformats.org/drawingml/2006/main">
          <a:graphicData uri="http://schemas.openxmlformats.org/drawingml/2006/chart">
            <c:chart xmlns:c="http://schemas.openxmlformats.org/drawingml/2006/chart" r:id="rId1"/>
          </a:graphicData>
        </a:graphic>
      </p:graphicFrame>
      <p:graphicFrame>
        <p:nvGraphicFramePr>
          <p:cNvPr id="21" name="Chart 1" descr=""/>
          <p:cNvGraphicFramePr/>
          <p:nvPr/>
        </p:nvGraphicFramePr>
        <p:xfrm>
          <a:off x="6172200" y="2926080"/>
          <a:ext cx="5394960" cy="3246120"/>
        </p:xfrm>
        <a:graphic xmlns:a="http://schemas.openxmlformats.org/drawingml/2006/main">
          <a:graphicData uri="http://schemas.openxmlformats.org/drawingml/2006/chart">
            <c:chart xmlns:c="http://schemas.openxmlformats.org/drawingml/2006/chart" r:id="rId2"/>
          </a:graphicData>
        </a:graphic>
      </p:graphicFrame>
      <p:sp>
        <p:nvSpPr>
          <p:cNvPr id="22" name="Text 18"/>
          <p:cNvSpPr txBox="1"/>
          <p:nvPr/>
        </p:nvSpPr>
        <p:spPr>
          <a:xfrm>
            <a:off x="502920" y="6547104"/>
            <a:ext cx="7772400" cy="256032"/>
          </a:xfrm>
          <a:prstGeom prst="rect">
            <a:avLst/>
          </a:prstGeom>
          <a:noFill/>
          <a:ln/>
        </p:spPr>
        <p:txBody>
          <a:bodyPr wrap="square" lIns="0" tIns="0" rIns="0" bIns="0" rtlCol="0" anchor="ctr"/>
          <a:lstStyle/>
          <a:p>
            <a:pPr algn="l" indent="0" marL="0">
              <a:buNone/>
            </a:pPr>
            <a:r>
              <a:rPr lang="en-US" sz="900" dirty="0">
                <a:solidFill>
                  <a:srgbClr val="748199"/>
                </a:solidFill>
                <a:latin typeface="Calibri" pitchFamily="34" charset="0"/>
                <a:ea typeface="Calibri" pitchFamily="34" charset="-122"/>
                <a:cs typeface="Calibri" pitchFamily="34" charset="-120"/>
              </a:rPr>
              <a:t>Requirements Engineering (2026) 31:7  •  Paiva, Canedo &amp; Rocha Filho</a:t>
            </a:r>
            <a:endParaRPr lang="en-US" sz="900" dirty="0"/>
          </a:p>
        </p:txBody>
      </p:sp>
      <p:sp>
        <p:nvSpPr>
          <p:cNvPr id="23" name="Text 19"/>
          <p:cNvSpPr txBox="1"/>
          <p:nvPr/>
        </p:nvSpPr>
        <p:spPr>
          <a:xfrm>
            <a:off x="10972800" y="6547104"/>
            <a:ext cx="731520" cy="256032"/>
          </a:xfrm>
          <a:prstGeom prst="rect">
            <a:avLst/>
          </a:prstGeom>
          <a:noFill/>
          <a:ln/>
        </p:spPr>
        <p:txBody>
          <a:bodyPr wrap="square" lIns="0" tIns="0" rIns="0" bIns="0" rtlCol="0" anchor="ctr"/>
          <a:lstStyle/>
          <a:p>
            <a:pPr algn="r" indent="0" marL="0">
              <a:buNone/>
            </a:pPr>
            <a:r>
              <a:rPr lang="en-US" sz="900" dirty="0">
                <a:solidFill>
                  <a:srgbClr val="748199"/>
                </a:solidFill>
                <a:latin typeface="Calibri" pitchFamily="34" charset="0"/>
                <a:ea typeface="Calibri" pitchFamily="34" charset="-122"/>
                <a:cs typeface="Calibri" pitchFamily="34" charset="-120"/>
              </a:rPr>
              <a:t>18 / 20</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D1321"/>
        </a:solidFill>
      </p:bgPr>
    </p:bg>
    <p:spTree>
      <p:nvGrpSpPr>
        <p:cNvPr id="1" name=""/>
        <p:cNvGrpSpPr/>
        <p:nvPr/>
      </p:nvGrpSpPr>
      <p:grpSpPr>
        <a:xfrm>
          <a:off x="0" y="0"/>
          <a:ext cx="0" cy="0"/>
          <a:chOff x="0" y="0"/>
          <a:chExt cx="0" cy="0"/>
        </a:xfrm>
      </p:grpSpPr>
      <p:sp>
        <p:nvSpPr>
          <p:cNvPr id="2" name="Shape 0"/>
          <p:cNvSpPr/>
          <p:nvPr/>
        </p:nvSpPr>
        <p:spPr>
          <a:xfrm>
            <a:off x="502920" y="457200"/>
            <a:ext cx="128016" cy="128016"/>
          </a:xfrm>
          <a:prstGeom prst="rect">
            <a:avLst/>
          </a:prstGeom>
          <a:solidFill>
            <a:srgbClr val="C9A227"/>
          </a:solidFill>
          <a:ln/>
        </p:spPr>
      </p:sp>
      <p:sp>
        <p:nvSpPr>
          <p:cNvPr id="3" name="Text 1"/>
          <p:cNvSpPr txBox="1"/>
          <p:nvPr/>
        </p:nvSpPr>
        <p:spPr>
          <a:xfrm>
            <a:off x="749808" y="347472"/>
            <a:ext cx="9144000" cy="292608"/>
          </a:xfrm>
          <a:prstGeom prst="rect">
            <a:avLst/>
          </a:prstGeom>
          <a:noFill/>
          <a:ln/>
        </p:spPr>
        <p:txBody>
          <a:bodyPr wrap="square" lIns="0" tIns="0" rIns="0" bIns="0" rtlCol="0" anchor="ctr"/>
          <a:lstStyle/>
          <a:p>
            <a:pPr indent="0" marL="0">
              <a:buNone/>
            </a:pPr>
            <a:r>
              <a:rPr lang="en-US" sz="1250" b="1" spc="200" kern="0" dirty="0">
                <a:solidFill>
                  <a:srgbClr val="C9A227"/>
                </a:solidFill>
                <a:latin typeface="Calibri" pitchFamily="34" charset="0"/>
                <a:ea typeface="Calibri" pitchFamily="34" charset="-122"/>
                <a:cs typeface="Calibri" pitchFamily="34" charset="-120"/>
              </a:rPr>
              <a:t>WRAP-UP</a:t>
            </a:r>
            <a:endParaRPr lang="en-US" sz="1250" dirty="0"/>
          </a:p>
        </p:txBody>
      </p:sp>
      <p:sp>
        <p:nvSpPr>
          <p:cNvPr id="4" name="Text 2"/>
          <p:cNvSpPr txBox="1"/>
          <p:nvPr/>
        </p:nvSpPr>
        <p:spPr>
          <a:xfrm>
            <a:off x="502920" y="658368"/>
            <a:ext cx="11155680" cy="685800"/>
          </a:xfrm>
          <a:prstGeom prst="rect">
            <a:avLst/>
          </a:prstGeom>
          <a:noFill/>
          <a:ln/>
        </p:spPr>
        <p:txBody>
          <a:bodyPr wrap="square" lIns="0" tIns="0" rIns="0" bIns="0" rtlCol="0" anchor="ctr"/>
          <a:lstStyle/>
          <a:p>
            <a:pPr indent="0" marL="0">
              <a:buNone/>
            </a:pPr>
            <a:r>
              <a:rPr lang="en-US" sz="3000" b="1" dirty="0">
                <a:solidFill>
                  <a:srgbClr val="F4F6FA"/>
                </a:solidFill>
                <a:latin typeface="Cambria" pitchFamily="34" charset="0"/>
                <a:ea typeface="Cambria" pitchFamily="34" charset="-122"/>
                <a:cs typeface="Cambria" pitchFamily="34" charset="-120"/>
              </a:rPr>
              <a:t>Limitations, Future Work &amp; Conclusion</a:t>
            </a:r>
            <a:endParaRPr lang="en-US" sz="3000" dirty="0"/>
          </a:p>
        </p:txBody>
      </p:sp>
      <p:sp>
        <p:nvSpPr>
          <p:cNvPr id="5" name="Shape 3"/>
          <p:cNvSpPr/>
          <p:nvPr/>
        </p:nvSpPr>
        <p:spPr>
          <a:xfrm>
            <a:off x="502920" y="1691640"/>
            <a:ext cx="3493008" cy="4480560"/>
          </a:xfrm>
          <a:prstGeom prst="roundRect">
            <a:avLst>
              <a:gd name="adj" fmla="val 2094"/>
            </a:avLst>
          </a:prstGeom>
          <a:solidFill>
            <a:srgbClr val="17223A"/>
          </a:solidFill>
          <a:ln w="12700">
            <a:solidFill>
              <a:srgbClr val="2B3B58"/>
            </a:solidFill>
            <a:prstDash val="solid"/>
          </a:ln>
          <a:effectLst>
            <a:outerShdw sx="100000" sy="100000" kx="0" ky="0" algn="bl" rotWithShape="0" blurRad="101600" dist="38100" dir="5400000">
              <a:srgbClr val="000000">
                <a:alpha val="35000"/>
              </a:srgbClr>
            </a:outerShdw>
          </a:effectLst>
        </p:spPr>
      </p:sp>
      <p:sp>
        <p:nvSpPr>
          <p:cNvPr id="6" name="Shape 4"/>
          <p:cNvSpPr/>
          <p:nvPr/>
        </p:nvSpPr>
        <p:spPr>
          <a:xfrm>
            <a:off x="502920" y="1691640"/>
            <a:ext cx="91440" cy="4480560"/>
          </a:xfrm>
          <a:prstGeom prst="rect">
            <a:avLst/>
          </a:prstGeom>
          <a:solidFill>
            <a:srgbClr val="C9A227"/>
          </a:solidFill>
          <a:ln/>
        </p:spPr>
      </p:sp>
      <p:sp>
        <p:nvSpPr>
          <p:cNvPr id="7" name="Text 5"/>
          <p:cNvSpPr txBox="1"/>
          <p:nvPr/>
        </p:nvSpPr>
        <p:spPr>
          <a:xfrm>
            <a:off x="822960" y="1874520"/>
            <a:ext cx="3081528" cy="457200"/>
          </a:xfrm>
          <a:prstGeom prst="rect">
            <a:avLst/>
          </a:prstGeom>
          <a:noFill/>
          <a:ln/>
        </p:spPr>
        <p:txBody>
          <a:bodyPr wrap="square" lIns="0" tIns="0" rIns="0" bIns="0" rtlCol="0" anchor="ctr"/>
          <a:lstStyle/>
          <a:p>
            <a:pPr indent="0" marL="0">
              <a:buNone/>
            </a:pPr>
            <a:r>
              <a:rPr lang="en-US" sz="1700" b="1" dirty="0">
                <a:solidFill>
                  <a:srgbClr val="C9A227"/>
                </a:solidFill>
                <a:latin typeface="Cambria" pitchFamily="34" charset="0"/>
                <a:ea typeface="Cambria" pitchFamily="34" charset="-122"/>
                <a:cs typeface="Cambria" pitchFamily="34" charset="-120"/>
              </a:rPr>
              <a:t>Limitations</a:t>
            </a:r>
            <a:endParaRPr lang="en-US" sz="1700" dirty="0"/>
          </a:p>
        </p:txBody>
      </p:sp>
      <p:sp>
        <p:nvSpPr>
          <p:cNvPr id="8" name="Text 6"/>
          <p:cNvSpPr txBox="1"/>
          <p:nvPr/>
        </p:nvSpPr>
        <p:spPr>
          <a:xfrm>
            <a:off x="822960" y="2377440"/>
            <a:ext cx="3035808" cy="3657600"/>
          </a:xfrm>
          <a:prstGeom prst="rect">
            <a:avLst/>
          </a:prstGeom>
          <a:noFill/>
          <a:ln/>
        </p:spPr>
        <p:txBody>
          <a:bodyPr wrap="square" lIns="0" tIns="0" rIns="0" bIns="0" rtlCol="0" anchor="t"/>
          <a:lstStyle/>
          <a:p>
            <a:pPr marL="228600" indent="-228600">
              <a:spcAft>
                <a:spcPts val="1300"/>
              </a:spcAft>
              <a:buSzPct val="100000"/>
              <a:buChar char="•"/>
            </a:pPr>
            <a:r>
              <a:rPr lang="en-US" sz="1200" dirty="0">
                <a:solidFill>
                  <a:srgbClr val="F4F6FA"/>
                </a:solidFill>
                <a:latin typeface="Calibri" pitchFamily="34" charset="0"/>
                <a:ea typeface="Calibri" pitchFamily="34" charset="-122"/>
                <a:cs typeface="Calibri" pitchFamily="34" charset="-120"/>
              </a:rPr>
              <a:t>Only two LLMs evaluated (o3-mini, DeepSeek R1); findings may not generalize to other model families.</a:t>
            </a:r>
            <a:endParaRPr lang="en-US" sz="1200" dirty="0"/>
          </a:p>
          <a:p>
            <a:pPr marL="228600" indent="-228600">
              <a:spcAft>
                <a:spcPts val="1300"/>
              </a:spcAft>
              <a:buSzPct val="100000"/>
              <a:buChar char="•"/>
            </a:pPr>
            <a:r>
              <a:rPr lang="en-US" sz="1200" dirty="0">
                <a:solidFill>
                  <a:srgbClr val="F4F6FA"/>
                </a:solidFill>
                <a:latin typeface="Calibri" pitchFamily="34" charset="0"/>
                <a:ea typeface="Calibri" pitchFamily="34" charset="-122"/>
                <a:cs typeface="Calibri" pitchFamily="34" charset="-120"/>
              </a:rPr>
              <a:t>Only three prompt styles tested; issue titles only — no body or comments.</a:t>
            </a:r>
            <a:endParaRPr lang="en-US" sz="1200" dirty="0"/>
          </a:p>
          <a:p>
            <a:pPr marL="228600" indent="-228600">
              <a:spcAft>
                <a:spcPts val="1300"/>
              </a:spcAft>
              <a:buSzPct val="100000"/>
              <a:buChar char="•"/>
            </a:pPr>
            <a:r>
              <a:rPr lang="en-US" sz="1200" dirty="0">
                <a:solidFill>
                  <a:srgbClr val="F4F6FA"/>
                </a:solidFill>
                <a:latin typeface="Calibri" pitchFamily="34" charset="0"/>
                <a:ea typeface="Calibri" pitchFamily="34" charset="-122"/>
                <a:cs typeface="Calibri" pitchFamily="34" charset="-120"/>
              </a:rPr>
              <a:t>Five active OSS repositories; human inter-rater reliability was itself low (α = 0.15–0.39).</a:t>
            </a:r>
            <a:endParaRPr lang="en-US" sz="1200" dirty="0"/>
          </a:p>
        </p:txBody>
      </p:sp>
      <p:sp>
        <p:nvSpPr>
          <p:cNvPr id="9" name="Shape 7"/>
          <p:cNvSpPr/>
          <p:nvPr/>
        </p:nvSpPr>
        <p:spPr>
          <a:xfrm>
            <a:off x="4133088" y="1691640"/>
            <a:ext cx="3493008" cy="4480560"/>
          </a:xfrm>
          <a:prstGeom prst="roundRect">
            <a:avLst>
              <a:gd name="adj" fmla="val 2094"/>
            </a:avLst>
          </a:prstGeom>
          <a:solidFill>
            <a:srgbClr val="17223A"/>
          </a:solidFill>
          <a:ln w="12700">
            <a:solidFill>
              <a:srgbClr val="2B3B58"/>
            </a:solidFill>
            <a:prstDash val="solid"/>
          </a:ln>
          <a:effectLst>
            <a:outerShdw sx="100000" sy="100000" kx="0" ky="0" algn="bl" rotWithShape="0" blurRad="101600" dist="38100" dir="5400000">
              <a:srgbClr val="000000">
                <a:alpha val="35000"/>
              </a:srgbClr>
            </a:outerShdw>
          </a:effectLst>
        </p:spPr>
      </p:sp>
      <p:sp>
        <p:nvSpPr>
          <p:cNvPr id="10" name="Shape 8"/>
          <p:cNvSpPr/>
          <p:nvPr/>
        </p:nvSpPr>
        <p:spPr>
          <a:xfrm>
            <a:off x="4133088" y="1691640"/>
            <a:ext cx="91440" cy="4480560"/>
          </a:xfrm>
          <a:prstGeom prst="rect">
            <a:avLst/>
          </a:prstGeom>
          <a:solidFill>
            <a:srgbClr val="4FA8A0"/>
          </a:solidFill>
          <a:ln/>
        </p:spPr>
      </p:sp>
      <p:sp>
        <p:nvSpPr>
          <p:cNvPr id="11" name="Text 9"/>
          <p:cNvSpPr txBox="1"/>
          <p:nvPr/>
        </p:nvSpPr>
        <p:spPr>
          <a:xfrm>
            <a:off x="4453128" y="1874520"/>
            <a:ext cx="3081528" cy="457200"/>
          </a:xfrm>
          <a:prstGeom prst="rect">
            <a:avLst/>
          </a:prstGeom>
          <a:noFill/>
          <a:ln/>
        </p:spPr>
        <p:txBody>
          <a:bodyPr wrap="square" lIns="0" tIns="0" rIns="0" bIns="0" rtlCol="0" anchor="ctr"/>
          <a:lstStyle/>
          <a:p>
            <a:pPr indent="0" marL="0">
              <a:buNone/>
            </a:pPr>
            <a:r>
              <a:rPr lang="en-US" sz="1700" b="1" dirty="0">
                <a:solidFill>
                  <a:srgbClr val="4FA8A0"/>
                </a:solidFill>
                <a:latin typeface="Cambria" pitchFamily="34" charset="0"/>
                <a:ea typeface="Cambria" pitchFamily="34" charset="-122"/>
                <a:cs typeface="Cambria" pitchFamily="34" charset="-120"/>
              </a:rPr>
              <a:t>Future Work</a:t>
            </a:r>
            <a:endParaRPr lang="en-US" sz="1700" dirty="0"/>
          </a:p>
        </p:txBody>
      </p:sp>
      <p:sp>
        <p:nvSpPr>
          <p:cNvPr id="12" name="Text 10"/>
          <p:cNvSpPr txBox="1"/>
          <p:nvPr/>
        </p:nvSpPr>
        <p:spPr>
          <a:xfrm>
            <a:off x="4453128" y="2377440"/>
            <a:ext cx="3035808" cy="3657600"/>
          </a:xfrm>
          <a:prstGeom prst="rect">
            <a:avLst/>
          </a:prstGeom>
          <a:noFill/>
          <a:ln/>
        </p:spPr>
        <p:txBody>
          <a:bodyPr wrap="square" lIns="0" tIns="0" rIns="0" bIns="0" rtlCol="0" anchor="t"/>
          <a:lstStyle/>
          <a:p>
            <a:pPr marL="228600" indent="-228600">
              <a:spcAft>
                <a:spcPts val="1300"/>
              </a:spcAft>
              <a:buSzPct val="100000"/>
              <a:buChar char="•"/>
            </a:pPr>
            <a:r>
              <a:rPr lang="en-US" sz="1200" dirty="0">
                <a:solidFill>
                  <a:srgbClr val="F4F6FA"/>
                </a:solidFill>
                <a:latin typeface="Calibri" pitchFamily="34" charset="0"/>
                <a:ea typeface="Calibri" pitchFamily="34" charset="-122"/>
                <a:cs typeface="Calibri" pitchFamily="34" charset="-120"/>
              </a:rPr>
              <a:t>Evaluate more LLMs and advanced strategies — Chain-of-Thought, retrieval-augmented generation.</a:t>
            </a:r>
            <a:endParaRPr lang="en-US" sz="1200" dirty="0"/>
          </a:p>
          <a:p>
            <a:pPr marL="228600" indent="-228600">
              <a:spcAft>
                <a:spcPts val="1300"/>
              </a:spcAft>
              <a:buSzPct val="100000"/>
              <a:buChar char="•"/>
            </a:pPr>
            <a:r>
              <a:rPr lang="en-US" sz="1200" dirty="0">
                <a:solidFill>
                  <a:srgbClr val="F4F6FA"/>
                </a:solidFill>
                <a:latin typeface="Calibri" pitchFamily="34" charset="0"/>
                <a:ea typeface="Calibri" pitchFamily="34" charset="-122"/>
                <a:cs typeface="Calibri" pitchFamily="34" charset="-120"/>
              </a:rPr>
              <a:t>Handle vague/underspecified titles via disambiguation and requirement decomposition.</a:t>
            </a:r>
            <a:endParaRPr lang="en-US" sz="1200" dirty="0"/>
          </a:p>
          <a:p>
            <a:pPr marL="228600" indent="-228600">
              <a:spcAft>
                <a:spcPts val="1300"/>
              </a:spcAft>
              <a:buSzPct val="100000"/>
              <a:buChar char="•"/>
            </a:pPr>
            <a:r>
              <a:rPr lang="en-US" sz="1200" dirty="0">
                <a:solidFill>
                  <a:srgbClr val="F4F6FA"/>
                </a:solidFill>
                <a:latin typeface="Calibri" pitchFamily="34" charset="0"/>
                <a:ea typeface="Calibri" pitchFamily="34" charset="-122"/>
                <a:cs typeface="Calibri" pitchFamily="34" charset="-120"/>
              </a:rPr>
              <a:t>Integrate domain knowledge beyond simple persona prompts; assess contextual ISO attributes.</a:t>
            </a:r>
            <a:endParaRPr lang="en-US" sz="1200" dirty="0"/>
          </a:p>
        </p:txBody>
      </p:sp>
      <p:sp>
        <p:nvSpPr>
          <p:cNvPr id="13" name="Shape 11"/>
          <p:cNvSpPr/>
          <p:nvPr/>
        </p:nvSpPr>
        <p:spPr>
          <a:xfrm>
            <a:off x="7763256" y="1691640"/>
            <a:ext cx="3493008" cy="4480560"/>
          </a:xfrm>
          <a:prstGeom prst="roundRect">
            <a:avLst>
              <a:gd name="adj" fmla="val 2094"/>
            </a:avLst>
          </a:prstGeom>
          <a:solidFill>
            <a:srgbClr val="17223A"/>
          </a:solidFill>
          <a:ln w="12700">
            <a:solidFill>
              <a:srgbClr val="2B3B58"/>
            </a:solidFill>
            <a:prstDash val="solid"/>
          </a:ln>
          <a:effectLst>
            <a:outerShdw sx="100000" sy="100000" kx="0" ky="0" algn="bl" rotWithShape="0" blurRad="101600" dist="38100" dir="5400000">
              <a:srgbClr val="000000">
                <a:alpha val="35000"/>
              </a:srgbClr>
            </a:outerShdw>
          </a:effectLst>
        </p:spPr>
      </p:sp>
      <p:sp>
        <p:nvSpPr>
          <p:cNvPr id="14" name="Shape 12"/>
          <p:cNvSpPr/>
          <p:nvPr/>
        </p:nvSpPr>
        <p:spPr>
          <a:xfrm>
            <a:off x="7763256" y="1691640"/>
            <a:ext cx="91440" cy="4480560"/>
          </a:xfrm>
          <a:prstGeom prst="rect">
            <a:avLst/>
          </a:prstGeom>
          <a:solidFill>
            <a:srgbClr val="6E85A8"/>
          </a:solidFill>
          <a:ln/>
        </p:spPr>
      </p:sp>
      <p:sp>
        <p:nvSpPr>
          <p:cNvPr id="15" name="Text 13"/>
          <p:cNvSpPr txBox="1"/>
          <p:nvPr/>
        </p:nvSpPr>
        <p:spPr>
          <a:xfrm>
            <a:off x="8083296" y="1874520"/>
            <a:ext cx="3081528" cy="457200"/>
          </a:xfrm>
          <a:prstGeom prst="rect">
            <a:avLst/>
          </a:prstGeom>
          <a:noFill/>
          <a:ln/>
        </p:spPr>
        <p:txBody>
          <a:bodyPr wrap="square" lIns="0" tIns="0" rIns="0" bIns="0" rtlCol="0" anchor="ctr"/>
          <a:lstStyle/>
          <a:p>
            <a:pPr indent="0" marL="0">
              <a:buNone/>
            </a:pPr>
            <a:r>
              <a:rPr lang="en-US" sz="1700" b="1" dirty="0">
                <a:solidFill>
                  <a:srgbClr val="6E85A8"/>
                </a:solidFill>
                <a:latin typeface="Cambria" pitchFamily="34" charset="0"/>
                <a:ea typeface="Cambria" pitchFamily="34" charset="-122"/>
                <a:cs typeface="Cambria" pitchFamily="34" charset="-120"/>
              </a:rPr>
              <a:t>Conclusion</a:t>
            </a:r>
            <a:endParaRPr lang="en-US" sz="1700" dirty="0"/>
          </a:p>
        </p:txBody>
      </p:sp>
      <p:sp>
        <p:nvSpPr>
          <p:cNvPr id="16" name="Text 14"/>
          <p:cNvSpPr txBox="1"/>
          <p:nvPr/>
        </p:nvSpPr>
        <p:spPr>
          <a:xfrm>
            <a:off x="8083296" y="2377440"/>
            <a:ext cx="3035808" cy="3657600"/>
          </a:xfrm>
          <a:prstGeom prst="rect">
            <a:avLst/>
          </a:prstGeom>
          <a:noFill/>
          <a:ln/>
        </p:spPr>
        <p:txBody>
          <a:bodyPr wrap="square" lIns="0" tIns="0" rIns="0" bIns="0" rtlCol="0" anchor="t"/>
          <a:lstStyle/>
          <a:p>
            <a:pPr marL="228600" indent="-228600">
              <a:spcAft>
                <a:spcPts val="1300"/>
              </a:spcAft>
              <a:buSzPct val="100000"/>
              <a:buChar char="•"/>
            </a:pPr>
            <a:r>
              <a:rPr lang="en-US" sz="1200" dirty="0">
                <a:solidFill>
                  <a:srgbClr val="F4F6FA"/>
                </a:solidFill>
                <a:latin typeface="Calibri" pitchFamily="34" charset="0"/>
                <a:ea typeface="Calibri" pitchFamily="34" charset="-122"/>
                <a:cs typeface="Calibri" pitchFamily="34" charset="-120"/>
              </a:rPr>
              <a:t>LLMs can expedite drafting of initial requirements from informal OSS inputs.</a:t>
            </a:r>
            <a:endParaRPr lang="en-US" sz="1200" dirty="0"/>
          </a:p>
          <a:p>
            <a:pPr marL="228600" indent="-228600">
              <a:spcAft>
                <a:spcPts val="1300"/>
              </a:spcAft>
              <a:buSzPct val="100000"/>
              <a:buChar char="•"/>
            </a:pPr>
            <a:r>
              <a:rPr lang="en-US" sz="1200" dirty="0">
                <a:solidFill>
                  <a:srgbClr val="F4F6FA"/>
                </a:solidFill>
                <a:latin typeface="Calibri" pitchFamily="34" charset="0"/>
                <a:ea typeface="Calibri" pitchFamily="34" charset="-122"/>
                <a:cs typeface="Calibri" pitchFamily="34" charset="-120"/>
              </a:rPr>
              <a:t>Output quality hinges on prompt selection and source-title clarity; effects are model-dependent.</a:t>
            </a:r>
            <a:endParaRPr lang="en-US" sz="1200" dirty="0"/>
          </a:p>
          <a:p>
            <a:pPr marL="228600" indent="-228600">
              <a:spcAft>
                <a:spcPts val="1300"/>
              </a:spcAft>
              <a:buSzPct val="100000"/>
              <a:buChar char="•"/>
            </a:pPr>
            <a:r>
              <a:rPr lang="en-US" sz="1200" dirty="0">
                <a:solidFill>
                  <a:srgbClr val="F4F6FA"/>
                </a:solidFill>
                <a:latin typeface="Calibri" pitchFamily="34" charset="0"/>
                <a:ea typeface="Calibri" pitchFamily="34" charset="-122"/>
                <a:cs typeface="Calibri" pitchFamily="34" charset="-120"/>
              </a:rPr>
              <a:t>LLMs function best as assistants — human oversight remains indispensable for refinement.</a:t>
            </a:r>
            <a:endParaRPr lang="en-US" sz="1200" dirty="0"/>
          </a:p>
        </p:txBody>
      </p:sp>
      <p:sp>
        <p:nvSpPr>
          <p:cNvPr id="17" name="Text 15"/>
          <p:cNvSpPr txBox="1"/>
          <p:nvPr/>
        </p:nvSpPr>
        <p:spPr>
          <a:xfrm>
            <a:off x="502920" y="6547104"/>
            <a:ext cx="7772400" cy="256032"/>
          </a:xfrm>
          <a:prstGeom prst="rect">
            <a:avLst/>
          </a:prstGeom>
          <a:noFill/>
          <a:ln/>
        </p:spPr>
        <p:txBody>
          <a:bodyPr wrap="square" lIns="0" tIns="0" rIns="0" bIns="0" rtlCol="0" anchor="ctr"/>
          <a:lstStyle/>
          <a:p>
            <a:pPr algn="l" indent="0" marL="0">
              <a:buNone/>
            </a:pPr>
            <a:r>
              <a:rPr lang="en-US" sz="900" dirty="0">
                <a:solidFill>
                  <a:srgbClr val="748199"/>
                </a:solidFill>
                <a:latin typeface="Calibri" pitchFamily="34" charset="0"/>
                <a:ea typeface="Calibri" pitchFamily="34" charset="-122"/>
                <a:cs typeface="Calibri" pitchFamily="34" charset="-120"/>
              </a:rPr>
              <a:t>Requirements Engineering (2026) 31:7  •  Paiva, Canedo &amp; Rocha Filho</a:t>
            </a:r>
            <a:endParaRPr lang="en-US" sz="900" dirty="0"/>
          </a:p>
        </p:txBody>
      </p:sp>
      <p:sp>
        <p:nvSpPr>
          <p:cNvPr id="18" name="Text 16"/>
          <p:cNvSpPr txBox="1"/>
          <p:nvPr/>
        </p:nvSpPr>
        <p:spPr>
          <a:xfrm>
            <a:off x="10972800" y="6547104"/>
            <a:ext cx="731520" cy="256032"/>
          </a:xfrm>
          <a:prstGeom prst="rect">
            <a:avLst/>
          </a:prstGeom>
          <a:noFill/>
          <a:ln/>
        </p:spPr>
        <p:txBody>
          <a:bodyPr wrap="square" lIns="0" tIns="0" rIns="0" bIns="0" rtlCol="0" anchor="ctr"/>
          <a:lstStyle/>
          <a:p>
            <a:pPr algn="r" indent="0" marL="0">
              <a:buNone/>
            </a:pPr>
            <a:r>
              <a:rPr lang="en-US" sz="900" dirty="0">
                <a:solidFill>
                  <a:srgbClr val="748199"/>
                </a:solidFill>
                <a:latin typeface="Calibri" pitchFamily="34" charset="0"/>
                <a:ea typeface="Calibri" pitchFamily="34" charset="-122"/>
                <a:cs typeface="Calibri" pitchFamily="34" charset="-120"/>
              </a:rPr>
              <a:t>19 / 20</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D1321"/>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D1321"/>
          </a:solidFill>
          <a:ln/>
        </p:spPr>
      </p:sp>
      <p:sp>
        <p:nvSpPr>
          <p:cNvPr id="3" name="Shape 1"/>
          <p:cNvSpPr/>
          <p:nvPr/>
        </p:nvSpPr>
        <p:spPr>
          <a:xfrm>
            <a:off x="822960" y="822960"/>
            <a:ext cx="10543032" cy="5212080"/>
          </a:xfrm>
          <a:prstGeom prst="rect">
            <a:avLst/>
          </a:prstGeom>
          <a:ln w="12700">
            <a:solidFill>
              <a:srgbClr val="2B3B58"/>
            </a:solidFill>
            <a:prstDash val="solid"/>
          </a:ln>
        </p:spPr>
      </p:sp>
      <p:sp>
        <p:nvSpPr>
          <p:cNvPr id="4" name="Text 2"/>
          <p:cNvSpPr txBox="1"/>
          <p:nvPr/>
        </p:nvSpPr>
        <p:spPr>
          <a:xfrm>
            <a:off x="1188720" y="2651760"/>
            <a:ext cx="9784080" cy="914400"/>
          </a:xfrm>
          <a:prstGeom prst="rect">
            <a:avLst/>
          </a:prstGeom>
          <a:noFill/>
          <a:ln/>
        </p:spPr>
        <p:txBody>
          <a:bodyPr wrap="square" lIns="0" tIns="0" rIns="0" bIns="0" rtlCol="0" anchor="ctr"/>
          <a:lstStyle/>
          <a:p>
            <a:pPr algn="ctr" indent="0" marL="0">
              <a:buNone/>
            </a:pPr>
            <a:r>
              <a:rPr lang="en-US" sz="4000" b="1" dirty="0">
                <a:solidFill>
                  <a:srgbClr val="F4F6FA"/>
                </a:solidFill>
                <a:latin typeface="Cambria" pitchFamily="34" charset="0"/>
                <a:ea typeface="Cambria" pitchFamily="34" charset="-122"/>
                <a:cs typeface="Cambria" pitchFamily="34" charset="-120"/>
              </a:rPr>
              <a:t>Questions &amp; Discussion</a:t>
            </a:r>
            <a:endParaRPr lang="en-US" sz="4000" dirty="0"/>
          </a:p>
        </p:txBody>
      </p:sp>
      <p:sp>
        <p:nvSpPr>
          <p:cNvPr id="5" name="Shape 3"/>
          <p:cNvSpPr/>
          <p:nvPr/>
        </p:nvSpPr>
        <p:spPr>
          <a:xfrm>
            <a:off x="5184648" y="3611880"/>
            <a:ext cx="1828800" cy="0"/>
          </a:xfrm>
          <a:prstGeom prst="line">
            <a:avLst/>
          </a:prstGeom>
          <a:noFill/>
          <a:ln w="19050">
            <a:solidFill>
              <a:srgbClr val="C9A227"/>
            </a:solidFill>
            <a:prstDash val="solid"/>
          </a:ln>
        </p:spPr>
      </p:sp>
      <p:sp>
        <p:nvSpPr>
          <p:cNvPr id="6" name="Text 4"/>
          <p:cNvSpPr txBox="1"/>
          <p:nvPr/>
        </p:nvSpPr>
        <p:spPr>
          <a:xfrm>
            <a:off x="1188720" y="3840480"/>
            <a:ext cx="9784080" cy="457200"/>
          </a:xfrm>
          <a:prstGeom prst="rect">
            <a:avLst/>
          </a:prstGeom>
          <a:noFill/>
          <a:ln/>
        </p:spPr>
        <p:txBody>
          <a:bodyPr wrap="square" lIns="0" tIns="0" rIns="0" bIns="0" rtlCol="0" anchor="ctr"/>
          <a:lstStyle/>
          <a:p>
            <a:pPr algn="ctr" indent="0" marL="0">
              <a:buNone/>
            </a:pPr>
            <a:r>
              <a:rPr lang="en-US" sz="1400" i="1" dirty="0">
                <a:solidFill>
                  <a:srgbClr val="9FB0C7"/>
                </a:solidFill>
                <a:latin typeface="Calibri" pitchFamily="34" charset="0"/>
                <a:ea typeface="Calibri" pitchFamily="34" charset="-122"/>
                <a:cs typeface="Calibri" pitchFamily="34" charset="-120"/>
              </a:rPr>
              <a:t>From Issue Titles to Requirements: an Empirical Study of LLMs and Prompt Engineering Strategies</a:t>
            </a:r>
            <a:endParaRPr lang="en-US" sz="1400" dirty="0"/>
          </a:p>
        </p:txBody>
      </p:sp>
      <p:sp>
        <p:nvSpPr>
          <p:cNvPr id="7" name="Text 5"/>
          <p:cNvSpPr txBox="1"/>
          <p:nvPr/>
        </p:nvSpPr>
        <p:spPr>
          <a:xfrm>
            <a:off x="1188720" y="4343400"/>
            <a:ext cx="9784080" cy="365760"/>
          </a:xfrm>
          <a:prstGeom prst="rect">
            <a:avLst/>
          </a:prstGeom>
          <a:noFill/>
          <a:ln/>
        </p:spPr>
        <p:txBody>
          <a:bodyPr wrap="square" lIns="0" tIns="0" rIns="0" bIns="0" rtlCol="0" anchor="ctr"/>
          <a:lstStyle/>
          <a:p>
            <a:pPr algn="ctr" indent="0" marL="0">
              <a:buNone/>
            </a:pPr>
            <a:r>
              <a:rPr lang="en-US" sz="1300" dirty="0">
                <a:solidFill>
                  <a:srgbClr val="9FB0C7"/>
                </a:solidFill>
                <a:latin typeface="Calibri" pitchFamily="34" charset="0"/>
                <a:ea typeface="Calibri" pitchFamily="34" charset="-122"/>
                <a:cs typeface="Calibri" pitchFamily="34" charset="-120"/>
              </a:rPr>
              <a:t>Guilherme Paiva · Edna Dias Canedo · Geraldo Pereira Rocha Filho</a:t>
            </a:r>
            <a:endParaRPr lang="en-US" sz="1300" dirty="0"/>
          </a:p>
        </p:txBody>
      </p:sp>
      <p:sp>
        <p:nvSpPr>
          <p:cNvPr id="8" name="Text 6"/>
          <p:cNvSpPr txBox="1"/>
          <p:nvPr/>
        </p:nvSpPr>
        <p:spPr>
          <a:xfrm>
            <a:off x="1188720" y="4709160"/>
            <a:ext cx="9784080" cy="320040"/>
          </a:xfrm>
          <a:prstGeom prst="rect">
            <a:avLst/>
          </a:prstGeom>
          <a:noFill/>
          <a:ln/>
        </p:spPr>
        <p:txBody>
          <a:bodyPr wrap="square" lIns="0" tIns="0" rIns="0" bIns="0" rtlCol="0" anchor="ctr"/>
          <a:lstStyle/>
          <a:p>
            <a:pPr algn="ctr" indent="0" marL="0">
              <a:buNone/>
            </a:pPr>
            <a:r>
              <a:rPr lang="en-US" sz="1150" dirty="0">
                <a:solidFill>
                  <a:srgbClr val="748199"/>
                </a:solidFill>
                <a:latin typeface="Calibri" pitchFamily="34" charset="0"/>
                <a:ea typeface="Calibri" pitchFamily="34" charset="-122"/>
                <a:cs typeface="Calibri" pitchFamily="34" charset="-120"/>
              </a:rPr>
              <a:t>DOI: 10.1007/s00766-026-00462-z</a:t>
            </a:r>
            <a:endParaRPr lang="en-US" sz="1150" dirty="0"/>
          </a:p>
        </p:txBody>
      </p:sp>
      <p:sp>
        <p:nvSpPr>
          <p:cNvPr id="9" name="Text 7"/>
          <p:cNvSpPr txBox="1"/>
          <p:nvPr/>
        </p:nvSpPr>
        <p:spPr>
          <a:xfrm>
            <a:off x="502920" y="6547104"/>
            <a:ext cx="7772400" cy="256032"/>
          </a:xfrm>
          <a:prstGeom prst="rect">
            <a:avLst/>
          </a:prstGeom>
          <a:noFill/>
          <a:ln/>
        </p:spPr>
        <p:txBody>
          <a:bodyPr wrap="square" lIns="0" tIns="0" rIns="0" bIns="0" rtlCol="0" anchor="ctr"/>
          <a:lstStyle/>
          <a:p>
            <a:pPr algn="l" indent="0" marL="0">
              <a:buNone/>
            </a:pPr>
            <a:r>
              <a:rPr lang="en-US" sz="900" dirty="0">
                <a:solidFill>
                  <a:srgbClr val="748199"/>
                </a:solidFill>
                <a:latin typeface="Calibri" pitchFamily="34" charset="0"/>
                <a:ea typeface="Calibri" pitchFamily="34" charset="-122"/>
                <a:cs typeface="Calibri" pitchFamily="34" charset="-120"/>
              </a:rPr>
              <a:t>Requirements Engineering (2026) 31:7  •  Paiva, Canedo &amp; Rocha Filho</a:t>
            </a:r>
            <a:endParaRPr lang="en-US" sz="900" dirty="0"/>
          </a:p>
        </p:txBody>
      </p:sp>
      <p:sp>
        <p:nvSpPr>
          <p:cNvPr id="10" name="Text 8"/>
          <p:cNvSpPr txBox="1"/>
          <p:nvPr/>
        </p:nvSpPr>
        <p:spPr>
          <a:xfrm>
            <a:off x="10972800" y="6547104"/>
            <a:ext cx="731520" cy="256032"/>
          </a:xfrm>
          <a:prstGeom prst="rect">
            <a:avLst/>
          </a:prstGeom>
          <a:noFill/>
          <a:ln/>
        </p:spPr>
        <p:txBody>
          <a:bodyPr wrap="square" lIns="0" tIns="0" rIns="0" bIns="0" rtlCol="0" anchor="ctr"/>
          <a:lstStyle/>
          <a:p>
            <a:pPr algn="r" indent="0" marL="0">
              <a:buNone/>
            </a:pPr>
            <a:r>
              <a:rPr lang="en-US" sz="900" dirty="0">
                <a:solidFill>
                  <a:srgbClr val="748199"/>
                </a:solidFill>
                <a:latin typeface="Calibri" pitchFamily="34" charset="0"/>
                <a:ea typeface="Calibri" pitchFamily="34" charset="-122"/>
                <a:cs typeface="Calibri" pitchFamily="34" charset="-120"/>
              </a:rPr>
              <a:t>20 / 20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2026-09-21T19:25:55Z</dcterms:created>
  <dcterms:modified xsi:type="dcterms:W3CDTF">2026-09-21T19:25:55Z</dcterms:modified>
</cp:coreProperties>
</file>